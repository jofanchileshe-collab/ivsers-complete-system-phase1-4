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dirty="0"/>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8/20/2025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petemwenya@yahoo.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EF3D9-B1C4-3AA2-163D-6A89D2D1AC13}"/>
              </a:ext>
            </a:extLst>
          </p:cNvPr>
          <p:cNvSpPr>
            <a:spLocks noGrp="1"/>
          </p:cNvSpPr>
          <p:nvPr>
            <p:ph type="ctrTitle"/>
          </p:nvPr>
        </p:nvSpPr>
        <p:spPr/>
        <p:txBody>
          <a:bodyPr/>
          <a:lstStyle/>
          <a:p>
            <a:r>
              <a:rPr lang="en-US" dirty="0"/>
              <a:t>ETHICAL THEORIES </a:t>
            </a:r>
          </a:p>
        </p:txBody>
      </p:sp>
      <p:sp>
        <p:nvSpPr>
          <p:cNvPr id="3" name="Subtitle 2">
            <a:extLst>
              <a:ext uri="{FF2B5EF4-FFF2-40B4-BE49-F238E27FC236}">
                <a16:creationId xmlns:a16="http://schemas.microsoft.com/office/drawing/2014/main" id="{55ED10CC-042E-C8BF-B6EC-A5F6743DE1E1}"/>
              </a:ext>
            </a:extLst>
          </p:cNvPr>
          <p:cNvSpPr>
            <a:spLocks noGrp="1"/>
          </p:cNvSpPr>
          <p:nvPr>
            <p:ph type="subTitle" idx="1"/>
          </p:nvPr>
        </p:nvSpPr>
        <p:spPr/>
        <p:txBody>
          <a:bodyPr>
            <a:normAutofit lnSpcReduction="10000"/>
          </a:bodyPr>
          <a:lstStyle/>
          <a:p>
            <a:r>
              <a:rPr lang="en-US" dirty="0"/>
              <a:t>PREPARED BY MR. MWENYA PETER</a:t>
            </a:r>
          </a:p>
          <a:p>
            <a:r>
              <a:rPr lang="en-US" dirty="0"/>
              <a:t>Cellphone: (0970869683) </a:t>
            </a:r>
          </a:p>
          <a:p>
            <a:r>
              <a:rPr lang="en-US" dirty="0"/>
              <a:t>Email: </a:t>
            </a:r>
            <a:r>
              <a:rPr lang="en-US" dirty="0">
                <a:hlinkClick r:id="rId2"/>
              </a:rPr>
              <a:t>petemwenya@yahoo.com</a:t>
            </a:r>
            <a:r>
              <a:rPr lang="en-US" dirty="0"/>
              <a:t>  </a:t>
            </a:r>
          </a:p>
          <a:p>
            <a:endParaRPr lang="en-US" dirty="0"/>
          </a:p>
        </p:txBody>
      </p:sp>
    </p:spTree>
    <p:extLst>
      <p:ext uri="{BB962C8B-B14F-4D97-AF65-F5344CB8AC3E}">
        <p14:creationId xmlns:p14="http://schemas.microsoft.com/office/powerpoint/2010/main" val="3861661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639E-071E-3E03-8173-DC90B358B649}"/>
              </a:ext>
            </a:extLst>
          </p:cNvPr>
          <p:cNvSpPr>
            <a:spLocks noGrp="1"/>
          </p:cNvSpPr>
          <p:nvPr>
            <p:ph type="title"/>
          </p:nvPr>
        </p:nvSpPr>
        <p:spPr/>
        <p:txBody>
          <a:bodyPr>
            <a:normAutofit fontScale="90000"/>
          </a:bodyPr>
          <a:lstStyle/>
          <a:p>
            <a:r>
              <a:rPr lang="en-US" dirty="0">
                <a:sym typeface="+mn-ea"/>
              </a:rPr>
              <a:t>UNIT :10 MEDICAL ETHICS AND PROFESSIONAL PRACTICE</a:t>
            </a:r>
            <a:r>
              <a:rPr lang="en-US" dirty="0"/>
              <a:t> </a:t>
            </a:r>
          </a:p>
        </p:txBody>
      </p:sp>
      <p:sp>
        <p:nvSpPr>
          <p:cNvPr id="3" name="Content Placeholder 2">
            <a:extLst>
              <a:ext uri="{FF2B5EF4-FFF2-40B4-BE49-F238E27FC236}">
                <a16:creationId xmlns:a16="http://schemas.microsoft.com/office/drawing/2014/main" id="{A8325DA6-5D90-6D73-523C-5C4BC39EEB98}"/>
              </a:ext>
            </a:extLst>
          </p:cNvPr>
          <p:cNvSpPr>
            <a:spLocks noGrp="1"/>
          </p:cNvSpPr>
          <p:nvPr>
            <p:ph idx="1"/>
          </p:nvPr>
        </p:nvSpPr>
        <p:spPr/>
        <p:txBody>
          <a:bodyPr>
            <a:normAutofit fontScale="92500"/>
          </a:bodyPr>
          <a:lstStyle/>
          <a:p>
            <a:pPr marL="0" indent="0" algn="just">
              <a:buNone/>
            </a:pPr>
            <a:r>
              <a:rPr lang="en-US" sz="3200" b="1" dirty="0">
                <a:sym typeface="+mn-ea"/>
              </a:rPr>
              <a:t>Philosophical basis and principles of medical </a:t>
            </a:r>
            <a:endParaRPr lang="en-US" sz="3200" b="1" dirty="0"/>
          </a:p>
          <a:p>
            <a:pPr marL="457200" indent="-457200" algn="just">
              <a:buAutoNum type="alphaLcPeriod"/>
            </a:pPr>
            <a:r>
              <a:rPr lang="en-US" sz="3200" dirty="0">
                <a:sym typeface="+mn-ea"/>
              </a:rPr>
              <a:t>Ethical theories, deontology and utilitarianism</a:t>
            </a:r>
            <a:endParaRPr lang="en-US" sz="3200" dirty="0"/>
          </a:p>
          <a:p>
            <a:pPr marL="457200" indent="-457200" algn="just">
              <a:buAutoNum type="alphaLcPeriod"/>
            </a:pPr>
            <a:r>
              <a:rPr lang="en-US" sz="3200" dirty="0">
                <a:sym typeface="+mn-ea"/>
              </a:rPr>
              <a:t>Medical research and ethics</a:t>
            </a:r>
            <a:endParaRPr lang="en-US" sz="3200" dirty="0"/>
          </a:p>
          <a:p>
            <a:pPr marL="457200" indent="-457200" algn="just">
              <a:buAutoNum type="alphaLcPeriod"/>
            </a:pPr>
            <a:r>
              <a:rPr lang="en-US" sz="3200" dirty="0">
                <a:sym typeface="+mn-ea"/>
              </a:rPr>
              <a:t>Policy, legislation and regulation for Nurses : The practice</a:t>
            </a:r>
            <a:endParaRPr lang="en-US" sz="3200" dirty="0"/>
          </a:p>
          <a:p>
            <a:pPr marL="457200" indent="-457200" algn="just">
              <a:buAutoNum type="alphaLcPeriod"/>
            </a:pPr>
            <a:r>
              <a:rPr lang="en-US" sz="3200" dirty="0">
                <a:sym typeface="+mn-ea"/>
              </a:rPr>
              <a:t>Clinical incompetence</a:t>
            </a:r>
            <a:endParaRPr lang="en-US" sz="3200" dirty="0"/>
          </a:p>
          <a:p>
            <a:endParaRPr lang="en-US" dirty="0"/>
          </a:p>
        </p:txBody>
      </p:sp>
    </p:spTree>
    <p:extLst>
      <p:ext uri="{BB962C8B-B14F-4D97-AF65-F5344CB8AC3E}">
        <p14:creationId xmlns:p14="http://schemas.microsoft.com/office/powerpoint/2010/main" val="3161979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575AF-F922-BE87-3EFA-7F853A945E96}"/>
              </a:ext>
            </a:extLst>
          </p:cNvPr>
          <p:cNvSpPr>
            <a:spLocks noGrp="1"/>
          </p:cNvSpPr>
          <p:nvPr>
            <p:ph type="title"/>
          </p:nvPr>
        </p:nvSpPr>
        <p:spPr/>
        <p:txBody>
          <a:bodyPr>
            <a:normAutofit fontScale="90000"/>
          </a:bodyPr>
          <a:lstStyle/>
          <a:p>
            <a:r>
              <a:rPr lang="en-US" dirty="0">
                <a:sym typeface="+mn-ea"/>
              </a:rPr>
              <a:t>MEDICAL ETHICS AND PROFESSIONAL PRACTICE</a:t>
            </a:r>
            <a:endParaRPr lang="en-US" dirty="0"/>
          </a:p>
        </p:txBody>
      </p:sp>
      <p:sp>
        <p:nvSpPr>
          <p:cNvPr id="3" name="Content Placeholder 2">
            <a:extLst>
              <a:ext uri="{FF2B5EF4-FFF2-40B4-BE49-F238E27FC236}">
                <a16:creationId xmlns:a16="http://schemas.microsoft.com/office/drawing/2014/main" id="{A761D7F6-0AAE-4FAE-B8E6-5C022B03225B}"/>
              </a:ext>
            </a:extLst>
          </p:cNvPr>
          <p:cNvSpPr>
            <a:spLocks noGrp="1"/>
          </p:cNvSpPr>
          <p:nvPr>
            <p:ph idx="1"/>
          </p:nvPr>
        </p:nvSpPr>
        <p:spPr/>
        <p:txBody>
          <a:bodyPr/>
          <a:lstStyle/>
          <a:p>
            <a:pPr marL="457200" indent="-457200">
              <a:buAutoNum type="alphaLcPeriod"/>
            </a:pPr>
            <a:r>
              <a:rPr lang="en-US" sz="2800" dirty="0">
                <a:sym typeface="+mn-ea"/>
              </a:rPr>
              <a:t>Interprofessional relationships</a:t>
            </a:r>
            <a:endParaRPr lang="en-US" sz="2800" dirty="0"/>
          </a:p>
          <a:p>
            <a:pPr marL="457200" indent="-457200">
              <a:buAutoNum type="alphaLcPeriod"/>
            </a:pPr>
            <a:r>
              <a:rPr lang="en-US" sz="2800" dirty="0">
                <a:sym typeface="+mn-ea"/>
              </a:rPr>
              <a:t>Relationship with other health workers</a:t>
            </a:r>
            <a:endParaRPr lang="en-US" sz="2800" dirty="0"/>
          </a:p>
          <a:p>
            <a:pPr marL="457200" indent="-457200">
              <a:buAutoNum type="alphaLcPeriod"/>
            </a:pPr>
            <a:r>
              <a:rPr lang="en-US" sz="2800" dirty="0">
                <a:sym typeface="+mn-ea"/>
              </a:rPr>
              <a:t> Relationship with unqualified practitioners and traditional healers</a:t>
            </a:r>
            <a:endParaRPr lang="en-US" sz="2800" dirty="0"/>
          </a:p>
          <a:p>
            <a:pPr marL="457200" indent="-457200">
              <a:buAutoNum type="alphaLcPeriod"/>
            </a:pPr>
            <a:r>
              <a:rPr lang="en-US" sz="2800" dirty="0">
                <a:sym typeface="+mn-ea"/>
              </a:rPr>
              <a:t>The ethical dimensions: Responsibility to the Community</a:t>
            </a:r>
            <a:endParaRPr lang="en-US" sz="2800" dirty="0"/>
          </a:p>
          <a:p>
            <a:endParaRPr lang="en-US" dirty="0"/>
          </a:p>
        </p:txBody>
      </p:sp>
    </p:spTree>
    <p:extLst>
      <p:ext uri="{BB962C8B-B14F-4D97-AF65-F5344CB8AC3E}">
        <p14:creationId xmlns:p14="http://schemas.microsoft.com/office/powerpoint/2010/main" val="526760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00F0F-844E-F71B-9DAE-0E138E2CF1ED}"/>
              </a:ext>
            </a:extLst>
          </p:cNvPr>
          <p:cNvSpPr>
            <a:spLocks noGrp="1"/>
          </p:cNvSpPr>
          <p:nvPr>
            <p:ph type="title"/>
          </p:nvPr>
        </p:nvSpPr>
        <p:spPr/>
        <p:txBody>
          <a:bodyPr>
            <a:normAutofit fontScale="90000"/>
          </a:bodyPr>
          <a:lstStyle/>
          <a:p>
            <a:r>
              <a:rPr lang="en-US" dirty="0"/>
              <a:t>PHILOSOPHICAL BASIS OF MEDICAL ETHICS</a:t>
            </a:r>
          </a:p>
        </p:txBody>
      </p:sp>
      <p:sp>
        <p:nvSpPr>
          <p:cNvPr id="3" name="Content Placeholder 2">
            <a:extLst>
              <a:ext uri="{FF2B5EF4-FFF2-40B4-BE49-F238E27FC236}">
                <a16:creationId xmlns:a16="http://schemas.microsoft.com/office/drawing/2014/main" id="{594DECBD-9DC1-0384-8169-F7C41D233E5A}"/>
              </a:ext>
            </a:extLst>
          </p:cNvPr>
          <p:cNvSpPr>
            <a:spLocks noGrp="1"/>
          </p:cNvSpPr>
          <p:nvPr>
            <p:ph idx="1"/>
          </p:nvPr>
        </p:nvSpPr>
        <p:spPr>
          <a:xfrm>
            <a:off x="979714" y="2556932"/>
            <a:ext cx="10590245" cy="3318936"/>
          </a:xfrm>
        </p:spPr>
        <p:txBody>
          <a:bodyPr>
            <a:normAutofit lnSpcReduction="10000"/>
          </a:bodyPr>
          <a:lstStyle/>
          <a:p>
            <a:pPr marL="0" indent="0">
              <a:buNone/>
            </a:pPr>
            <a:r>
              <a:rPr lang="en-US" dirty="0">
                <a:sym typeface="+mn-ea"/>
              </a:rPr>
              <a:t>Philosophical Basis and Principles of Medical </a:t>
            </a:r>
          </a:p>
          <a:p>
            <a:pPr marL="342900" indent="-342900">
              <a:buFont typeface="Wingdings" panose="05000000000000000000" charset="0"/>
              <a:buChar char="q"/>
            </a:pPr>
            <a:r>
              <a:rPr lang="en-US" dirty="0"/>
              <a:t>What are the philosophical foundations of medical ethics? The term ethics is derived from Greek.  noun meaning ‘character’ or ‘disposition’. </a:t>
            </a:r>
          </a:p>
          <a:p>
            <a:pPr marL="342900" indent="-342900">
              <a:buFont typeface="Wingdings" panose="05000000000000000000" charset="0"/>
              <a:buChar char="q"/>
            </a:pPr>
            <a:r>
              <a:rPr lang="en-US" dirty="0"/>
              <a:t>It is used in </a:t>
            </a:r>
            <a:r>
              <a:rPr lang="en-US" b="1" u="sng" dirty="0"/>
              <a:t>Aristotle</a:t>
            </a:r>
            <a:r>
              <a:rPr lang="en-US" dirty="0"/>
              <a:t> to denote those aspects of one's character that, through appropriate moral training, develop into virtues</a:t>
            </a:r>
          </a:p>
          <a:p>
            <a:pPr marL="342900" indent="-342900">
              <a:buFont typeface="Wingdings" panose="05000000000000000000" charset="0"/>
              <a:buChar char="q"/>
            </a:pPr>
            <a:r>
              <a:rPr lang="en-US" dirty="0"/>
              <a:t>., a philosophical study on character.  Ethics is concerned with what is good for individuals and society. It involves developing, systematizing, defending, and recommending concepts of right and wrong </a:t>
            </a:r>
            <a:r>
              <a:rPr lang="en-US" dirty="0" err="1"/>
              <a:t>behaviour</a:t>
            </a:r>
            <a:endParaRPr lang="en-US" dirty="0"/>
          </a:p>
          <a:p>
            <a:endParaRPr lang="en-US" dirty="0"/>
          </a:p>
        </p:txBody>
      </p:sp>
    </p:spTree>
    <p:extLst>
      <p:ext uri="{BB962C8B-B14F-4D97-AF65-F5344CB8AC3E}">
        <p14:creationId xmlns:p14="http://schemas.microsoft.com/office/powerpoint/2010/main" val="90245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F1F4A-CEC6-A561-98ED-DAEB9CEF2AAB}"/>
              </a:ext>
            </a:extLst>
          </p:cNvPr>
          <p:cNvSpPr>
            <a:spLocks noGrp="1"/>
          </p:cNvSpPr>
          <p:nvPr>
            <p:ph type="title"/>
          </p:nvPr>
        </p:nvSpPr>
        <p:spPr/>
        <p:txBody>
          <a:bodyPr>
            <a:normAutofit fontScale="90000"/>
          </a:bodyPr>
          <a:lstStyle/>
          <a:p>
            <a:r>
              <a:rPr lang="en-US" dirty="0"/>
              <a:t>PHILOSOPHICAL BASIS OF MEDICAL ETHICS CONTINUES………..</a:t>
            </a:r>
          </a:p>
        </p:txBody>
      </p:sp>
      <p:sp>
        <p:nvSpPr>
          <p:cNvPr id="3" name="Content Placeholder 2">
            <a:extLst>
              <a:ext uri="{FF2B5EF4-FFF2-40B4-BE49-F238E27FC236}">
                <a16:creationId xmlns:a16="http://schemas.microsoft.com/office/drawing/2014/main" id="{9F63C441-2A95-56FB-EBD0-E4A7F4197A39}"/>
              </a:ext>
            </a:extLst>
          </p:cNvPr>
          <p:cNvSpPr>
            <a:spLocks noGrp="1"/>
          </p:cNvSpPr>
          <p:nvPr>
            <p:ph idx="1"/>
          </p:nvPr>
        </p:nvSpPr>
        <p:spPr>
          <a:xfrm>
            <a:off x="895739" y="2556932"/>
            <a:ext cx="10702212" cy="3318936"/>
          </a:xfrm>
        </p:spPr>
        <p:txBody>
          <a:bodyPr>
            <a:normAutofit/>
          </a:bodyPr>
          <a:lstStyle/>
          <a:p>
            <a:pPr marL="285750" indent="-285750">
              <a:buFont typeface="Wingdings" panose="05000000000000000000" charset="0"/>
              <a:buChar char="q"/>
            </a:pPr>
            <a:r>
              <a:rPr lang="en-US" dirty="0"/>
              <a:t>Thomas Percival introduced the term “medical ethics” in 1832. Percival wrote mainly about decorum (</a:t>
            </a:r>
            <a:r>
              <a:rPr lang="en-US" b="1" i="1" dirty="0"/>
              <a:t>Decorum is </a:t>
            </a:r>
            <a:r>
              <a:rPr lang="en-US" b="1" i="1" dirty="0" err="1"/>
              <a:t>behaviour</a:t>
            </a:r>
            <a:r>
              <a:rPr lang="en-US" b="1" i="1" dirty="0"/>
              <a:t> that people consider to be correct, polite, and respectable), </a:t>
            </a:r>
            <a:r>
              <a:rPr lang="en-US" dirty="0"/>
              <a:t>but also examined the conduct of physicians in society.  </a:t>
            </a:r>
          </a:p>
          <a:p>
            <a:pPr marL="342900" indent="-342900">
              <a:buFont typeface="Wingdings" panose="05000000000000000000" charset="0"/>
              <a:buChar char="q"/>
            </a:pPr>
            <a:r>
              <a:rPr lang="en-US" dirty="0"/>
              <a:t>In 1847, the American Medical Association adopted its first code of ethics, largely based on Percival’s work. Western medical ethics as a field of studies emerged and began to </a:t>
            </a:r>
            <a:r>
              <a:rPr lang="en-US" dirty="0" err="1"/>
              <a:t>crystallise</a:t>
            </a:r>
            <a:r>
              <a:rPr lang="en-US" dirty="0"/>
              <a:t> as part of the revival of applied ethics during the second half of the 20th Century</a:t>
            </a:r>
          </a:p>
          <a:p>
            <a:endParaRPr lang="en-US" dirty="0"/>
          </a:p>
        </p:txBody>
      </p:sp>
    </p:spTree>
    <p:extLst>
      <p:ext uri="{BB962C8B-B14F-4D97-AF65-F5344CB8AC3E}">
        <p14:creationId xmlns:p14="http://schemas.microsoft.com/office/powerpoint/2010/main" val="3222412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5C2F4-DD0D-9238-03B9-79DAF02C316D}"/>
              </a:ext>
            </a:extLst>
          </p:cNvPr>
          <p:cNvSpPr>
            <a:spLocks noGrp="1"/>
          </p:cNvSpPr>
          <p:nvPr>
            <p:ph type="title"/>
          </p:nvPr>
        </p:nvSpPr>
        <p:spPr/>
        <p:txBody>
          <a:bodyPr/>
          <a:lstStyle/>
          <a:p>
            <a:r>
              <a:rPr lang="en-US" dirty="0"/>
              <a:t>CONTINUATION……….</a:t>
            </a:r>
          </a:p>
        </p:txBody>
      </p:sp>
      <p:sp>
        <p:nvSpPr>
          <p:cNvPr id="3" name="Content Placeholder 2">
            <a:extLst>
              <a:ext uri="{FF2B5EF4-FFF2-40B4-BE49-F238E27FC236}">
                <a16:creationId xmlns:a16="http://schemas.microsoft.com/office/drawing/2014/main" id="{C67F43E4-C610-9ADF-D934-47CC1D393308}"/>
              </a:ext>
            </a:extLst>
          </p:cNvPr>
          <p:cNvSpPr>
            <a:spLocks noGrp="1"/>
          </p:cNvSpPr>
          <p:nvPr>
            <p:ph idx="1"/>
          </p:nvPr>
        </p:nvSpPr>
        <p:spPr/>
        <p:txBody>
          <a:bodyPr/>
          <a:lstStyle/>
          <a:p>
            <a:r>
              <a:rPr lang="en-US" dirty="0"/>
              <a:t>This period of time witnessed scientific discoveries and technological innovations, on the one hand, and growing patients’ objections to medical paternalism, on the other. These developments brought about the need to rethink and rephrase medical obligations and patients’ rights. Ancient, liberal, and socialist philosophies were the main engines for crafting the new field</a:t>
            </a:r>
          </a:p>
          <a:p>
            <a:endParaRPr lang="en-US" dirty="0"/>
          </a:p>
        </p:txBody>
      </p:sp>
    </p:spTree>
    <p:extLst>
      <p:ext uri="{BB962C8B-B14F-4D97-AF65-F5344CB8AC3E}">
        <p14:creationId xmlns:p14="http://schemas.microsoft.com/office/powerpoint/2010/main" val="1573084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6927E-6B41-6C7C-45CC-858E2E7A7F9B}"/>
              </a:ext>
            </a:extLst>
          </p:cNvPr>
          <p:cNvSpPr>
            <a:spLocks noGrp="1"/>
          </p:cNvSpPr>
          <p:nvPr>
            <p:ph type="title"/>
          </p:nvPr>
        </p:nvSpPr>
        <p:spPr/>
        <p:txBody>
          <a:bodyPr/>
          <a:lstStyle/>
          <a:p>
            <a:r>
              <a:rPr lang="en-US" dirty="0"/>
              <a:t>PRINCIPALS OF MEDICAL ETHICS</a:t>
            </a:r>
          </a:p>
        </p:txBody>
      </p:sp>
      <p:sp>
        <p:nvSpPr>
          <p:cNvPr id="3" name="Content Placeholder 2">
            <a:extLst>
              <a:ext uri="{FF2B5EF4-FFF2-40B4-BE49-F238E27FC236}">
                <a16:creationId xmlns:a16="http://schemas.microsoft.com/office/drawing/2014/main" id="{8C6357B1-38F0-816D-2A05-9FB11FBC2A88}"/>
              </a:ext>
            </a:extLst>
          </p:cNvPr>
          <p:cNvSpPr>
            <a:spLocks noGrp="1"/>
          </p:cNvSpPr>
          <p:nvPr>
            <p:ph idx="1"/>
          </p:nvPr>
        </p:nvSpPr>
        <p:spPr>
          <a:xfrm>
            <a:off x="923730" y="2556932"/>
            <a:ext cx="10422293" cy="3318936"/>
          </a:xfrm>
        </p:spPr>
        <p:txBody>
          <a:bodyPr/>
          <a:lstStyle/>
          <a:p>
            <a:pPr marL="0" indent="0">
              <a:buFont typeface="Wingdings" panose="05000000000000000000" charset="0"/>
              <a:buNone/>
            </a:pPr>
            <a:r>
              <a:rPr lang="en-US" b="1" dirty="0"/>
              <a:t>FOUR PRINCIAPLS OF MEDICAL ETHICS</a:t>
            </a:r>
            <a:r>
              <a:rPr lang="en-US" dirty="0"/>
              <a:t> </a:t>
            </a:r>
          </a:p>
          <a:p>
            <a:pPr marL="342900" indent="-342900">
              <a:buFont typeface="Wingdings" panose="05000000000000000000" charset="0"/>
              <a:buChar char="Ø"/>
            </a:pPr>
            <a:r>
              <a:rPr lang="en-US" dirty="0"/>
              <a:t>Beneficence (doing good)</a:t>
            </a:r>
          </a:p>
          <a:p>
            <a:pPr marL="342900" indent="-342900">
              <a:buFont typeface="Wingdings" panose="05000000000000000000" charset="0"/>
              <a:buChar char="Ø"/>
            </a:pPr>
            <a:r>
              <a:rPr lang="en-US" dirty="0"/>
              <a:t>Non-maleficence (to do no harm)</a:t>
            </a:r>
          </a:p>
          <a:p>
            <a:pPr marL="342900" indent="-342900">
              <a:buFont typeface="Wingdings" panose="05000000000000000000" charset="0"/>
              <a:buChar char="Ø"/>
            </a:pPr>
            <a:r>
              <a:rPr lang="en-US" dirty="0"/>
              <a:t>Autonomy (giving the patient the freedom to choose freely, where they are able)</a:t>
            </a:r>
          </a:p>
          <a:p>
            <a:pPr marL="342900" indent="-342900">
              <a:buFont typeface="Wingdings" panose="05000000000000000000" charset="0"/>
              <a:buChar char="Ø"/>
            </a:pPr>
            <a:r>
              <a:rPr lang="en-US" dirty="0"/>
              <a:t>Justice (ensuring fairness)</a:t>
            </a:r>
          </a:p>
          <a:p>
            <a:endParaRPr lang="en-US" dirty="0"/>
          </a:p>
        </p:txBody>
      </p:sp>
    </p:spTree>
    <p:extLst>
      <p:ext uri="{BB962C8B-B14F-4D97-AF65-F5344CB8AC3E}">
        <p14:creationId xmlns:p14="http://schemas.microsoft.com/office/powerpoint/2010/main" val="3919503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938CB-77C0-E1EC-A96E-4D89DE5A62E0}"/>
              </a:ext>
            </a:extLst>
          </p:cNvPr>
          <p:cNvSpPr>
            <a:spLocks noGrp="1"/>
          </p:cNvSpPr>
          <p:nvPr>
            <p:ph type="title"/>
          </p:nvPr>
        </p:nvSpPr>
        <p:spPr/>
        <p:txBody>
          <a:bodyPr/>
          <a:lstStyle/>
          <a:p>
            <a:r>
              <a:rPr lang="en-US" b="1" u="sng" dirty="0">
                <a:sym typeface="+mn-ea"/>
              </a:rPr>
              <a:t>1. Beneficence</a:t>
            </a:r>
            <a:endParaRPr lang="en-US" dirty="0"/>
          </a:p>
        </p:txBody>
      </p:sp>
      <p:sp>
        <p:nvSpPr>
          <p:cNvPr id="3" name="Content Placeholder 2">
            <a:extLst>
              <a:ext uri="{FF2B5EF4-FFF2-40B4-BE49-F238E27FC236}">
                <a16:creationId xmlns:a16="http://schemas.microsoft.com/office/drawing/2014/main" id="{BAC53510-9FA2-1A8E-5AEC-56C0AB6EA067}"/>
              </a:ext>
            </a:extLst>
          </p:cNvPr>
          <p:cNvSpPr>
            <a:spLocks noGrp="1"/>
          </p:cNvSpPr>
          <p:nvPr>
            <p:ph idx="1"/>
          </p:nvPr>
        </p:nvSpPr>
        <p:spPr>
          <a:xfrm>
            <a:off x="849086" y="2556932"/>
            <a:ext cx="10702212" cy="3694578"/>
          </a:xfrm>
        </p:spPr>
        <p:txBody>
          <a:bodyPr>
            <a:normAutofit/>
          </a:bodyPr>
          <a:lstStyle/>
          <a:p>
            <a:pPr marL="0" indent="0">
              <a:buNone/>
            </a:pPr>
            <a:r>
              <a:rPr lang="en-US" dirty="0">
                <a:sym typeface="+mn-ea"/>
              </a:rPr>
              <a:t>Is a value in which the provider takes actions or recommends courses that are in the patients based interest</a:t>
            </a:r>
          </a:p>
          <a:p>
            <a:pPr>
              <a:buFont typeface="Wingdings" panose="05000000000000000000" charset="0"/>
              <a:buChar char="ü"/>
            </a:pPr>
            <a:r>
              <a:rPr lang="en-US" dirty="0"/>
              <a:t> it is not coercing or manipulating the patient into making a decision against their values, even though it may objectively be the best decision for their health</a:t>
            </a:r>
          </a:p>
          <a:p>
            <a:pPr>
              <a:buFont typeface="Wingdings" panose="05000000000000000000" charset="0"/>
              <a:buChar char="ü"/>
            </a:pPr>
            <a:r>
              <a:rPr lang="en-US" dirty="0"/>
              <a:t> it is not euthanasia ( in most states)</a:t>
            </a:r>
          </a:p>
          <a:p>
            <a:pPr>
              <a:buFont typeface="Wingdings" panose="05000000000000000000" charset="0"/>
              <a:buChar char="ü"/>
            </a:pPr>
            <a:r>
              <a:rPr lang="en-US" dirty="0"/>
              <a:t> keep the individual patients in mind- Beneficence is not the same in all situations </a:t>
            </a:r>
          </a:p>
          <a:p>
            <a:pPr>
              <a:buFont typeface="Wingdings" panose="05000000000000000000" charset="0"/>
              <a:buChar char="ü"/>
            </a:pPr>
            <a:r>
              <a:rPr lang="en-US" dirty="0"/>
              <a:t>when patient autonomy is compromised ( </a:t>
            </a:r>
            <a:r>
              <a:rPr lang="en-US" dirty="0" err="1"/>
              <a:t>e.g</a:t>
            </a:r>
            <a:r>
              <a:rPr lang="en-US" dirty="0"/>
              <a:t>, </a:t>
            </a:r>
            <a:r>
              <a:rPr lang="en-US" dirty="0" err="1"/>
              <a:t>incapcity</a:t>
            </a:r>
            <a:r>
              <a:rPr lang="en-US" dirty="0"/>
              <a:t>) Beneficence must be the guiding ethics</a:t>
            </a:r>
          </a:p>
          <a:p>
            <a:endParaRPr lang="en-US" dirty="0"/>
          </a:p>
        </p:txBody>
      </p:sp>
    </p:spTree>
    <p:extLst>
      <p:ext uri="{BB962C8B-B14F-4D97-AF65-F5344CB8AC3E}">
        <p14:creationId xmlns:p14="http://schemas.microsoft.com/office/powerpoint/2010/main" val="84410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6C6B5-612F-27C7-DBF0-7C70E6D4949E}"/>
              </a:ext>
            </a:extLst>
          </p:cNvPr>
          <p:cNvSpPr>
            <a:spLocks noGrp="1"/>
          </p:cNvSpPr>
          <p:nvPr>
            <p:ph type="title"/>
          </p:nvPr>
        </p:nvSpPr>
        <p:spPr/>
        <p:txBody>
          <a:bodyPr/>
          <a:lstStyle/>
          <a:p>
            <a:r>
              <a:rPr lang="en-US" b="1" dirty="0"/>
              <a:t>2. AUTONOMY:</a:t>
            </a:r>
            <a:r>
              <a:rPr lang="en-US" dirty="0"/>
              <a:t> </a:t>
            </a:r>
          </a:p>
        </p:txBody>
      </p:sp>
      <p:sp>
        <p:nvSpPr>
          <p:cNvPr id="3" name="Content Placeholder 2">
            <a:extLst>
              <a:ext uri="{FF2B5EF4-FFF2-40B4-BE49-F238E27FC236}">
                <a16:creationId xmlns:a16="http://schemas.microsoft.com/office/drawing/2014/main" id="{0A1D28AC-DA04-86B7-0A3F-122195222DF1}"/>
              </a:ext>
            </a:extLst>
          </p:cNvPr>
          <p:cNvSpPr>
            <a:spLocks noGrp="1"/>
          </p:cNvSpPr>
          <p:nvPr>
            <p:ph idx="1"/>
          </p:nvPr>
        </p:nvSpPr>
        <p:spPr/>
        <p:txBody>
          <a:bodyPr>
            <a:normAutofit fontScale="85000" lnSpcReduction="20000"/>
          </a:bodyPr>
          <a:lstStyle/>
          <a:p>
            <a:pPr marL="0" indent="0">
              <a:buNone/>
            </a:pPr>
            <a:r>
              <a:rPr lang="en-US" dirty="0"/>
              <a:t>In Western ethics and Political Philosophy </a:t>
            </a:r>
            <a:r>
              <a:rPr lang="en-US" b="1" dirty="0"/>
              <a:t>AUTONOMY </a:t>
            </a:r>
            <a:r>
              <a:rPr lang="en-US" dirty="0"/>
              <a:t>is the state or condition of self-governance, or leading </a:t>
            </a:r>
            <a:r>
              <a:rPr lang="en-US" dirty="0" err="1"/>
              <a:t>ones's</a:t>
            </a:r>
            <a:r>
              <a:rPr lang="en-US" dirty="0"/>
              <a:t> life according to reasons, values, or desires that are authentically ones own. </a:t>
            </a:r>
          </a:p>
          <a:p>
            <a:pPr marL="342900" indent="-342900">
              <a:buFont typeface="Wingdings" panose="05000000000000000000" charset="0"/>
              <a:buChar char="ü"/>
            </a:pPr>
            <a:r>
              <a:rPr lang="en-US" dirty="0"/>
              <a:t>An adult with the capacity to understand his medical problem can refuse any therapy or test. </a:t>
            </a:r>
          </a:p>
          <a:p>
            <a:pPr marL="342900" indent="-342900">
              <a:buFont typeface="Wingdings" panose="05000000000000000000" charset="0"/>
              <a:buChar char="ü"/>
            </a:pPr>
            <a:r>
              <a:rPr lang="en-US" dirty="0"/>
              <a:t>it does not matter if the treatment or test is simple, safe, and risk-free.  </a:t>
            </a:r>
          </a:p>
          <a:p>
            <a:pPr marL="342900" indent="-342900">
              <a:buFont typeface="Wingdings" panose="05000000000000000000" charset="0"/>
              <a:buChar char="ü"/>
            </a:pPr>
            <a:r>
              <a:rPr lang="en-US" dirty="0"/>
              <a:t>It does not matter if the person will die without the treatment or test. the patient can refuse treatment or test. </a:t>
            </a:r>
          </a:p>
          <a:p>
            <a:pPr marL="342900" indent="-342900">
              <a:buFont typeface="Wingdings" panose="05000000000000000000" charset="0"/>
              <a:buChar char="ü"/>
            </a:pPr>
            <a:r>
              <a:rPr lang="en-US" dirty="0"/>
              <a:t>Respecting Autonomy is more important than trying to do the right thing for a patient. Trying to do the right thing for the patient is called beneficence. </a:t>
            </a:r>
          </a:p>
          <a:p>
            <a:endParaRPr lang="en-US" dirty="0"/>
          </a:p>
        </p:txBody>
      </p:sp>
    </p:spTree>
    <p:extLst>
      <p:ext uri="{BB962C8B-B14F-4D97-AF65-F5344CB8AC3E}">
        <p14:creationId xmlns:p14="http://schemas.microsoft.com/office/powerpoint/2010/main" val="1641471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5BFC7-AE0D-D7D8-5907-6840941508E9}"/>
              </a:ext>
            </a:extLst>
          </p:cNvPr>
          <p:cNvSpPr>
            <a:spLocks noGrp="1"/>
          </p:cNvSpPr>
          <p:nvPr>
            <p:ph type="title"/>
          </p:nvPr>
        </p:nvSpPr>
        <p:spPr>
          <a:xfrm>
            <a:off x="1295402" y="671804"/>
            <a:ext cx="9601196" cy="1614195"/>
          </a:xfrm>
        </p:spPr>
        <p:txBody>
          <a:bodyPr>
            <a:normAutofit fontScale="90000"/>
          </a:bodyPr>
          <a:lstStyle/>
          <a:p>
            <a:br>
              <a:rPr lang="en-US" b="1" dirty="0">
                <a:sym typeface="+mn-ea"/>
              </a:rPr>
            </a:br>
            <a:r>
              <a:rPr lang="en-US" b="1" dirty="0">
                <a:sym typeface="+mn-ea"/>
              </a:rPr>
              <a:t>3. Non-maleficence </a:t>
            </a:r>
            <a:br>
              <a:rPr lang="en-US" b="1" dirty="0">
                <a:sym typeface="+mn-ea"/>
              </a:rPr>
            </a:br>
            <a:r>
              <a:rPr lang="en-US" b="1" dirty="0">
                <a:sym typeface="+mn-ea"/>
              </a:rPr>
              <a:t>(to do no harm)</a:t>
            </a:r>
            <a:br>
              <a:rPr lang="en-US" dirty="0">
                <a:sym typeface="+mn-ea"/>
              </a:rPr>
            </a:br>
            <a:endParaRPr lang="en-US" dirty="0"/>
          </a:p>
        </p:txBody>
      </p:sp>
      <p:sp>
        <p:nvSpPr>
          <p:cNvPr id="3" name="Content Placeholder 2">
            <a:extLst>
              <a:ext uri="{FF2B5EF4-FFF2-40B4-BE49-F238E27FC236}">
                <a16:creationId xmlns:a16="http://schemas.microsoft.com/office/drawing/2014/main" id="{E544D8C8-8975-3601-CECE-9A11979C7F81}"/>
              </a:ext>
            </a:extLst>
          </p:cNvPr>
          <p:cNvSpPr>
            <a:spLocks noGrp="1"/>
          </p:cNvSpPr>
          <p:nvPr>
            <p:ph idx="1"/>
          </p:nvPr>
        </p:nvSpPr>
        <p:spPr>
          <a:xfrm>
            <a:off x="1295401" y="2556932"/>
            <a:ext cx="10003970" cy="3318936"/>
          </a:xfrm>
        </p:spPr>
        <p:txBody>
          <a:bodyPr/>
          <a:lstStyle/>
          <a:p>
            <a:pPr marL="342900" indent="-342900" algn="just">
              <a:buFont typeface="Wingdings" panose="05000000000000000000" charset="0"/>
              <a:buChar char="ü"/>
            </a:pPr>
            <a:r>
              <a:rPr lang="en-US" sz="2800" dirty="0">
                <a:sym typeface="+mn-ea"/>
              </a:rPr>
              <a:t>Non-maleficence is the sister to beneficence and is often considered as an inseparable pillar of ethics. </a:t>
            </a:r>
          </a:p>
          <a:p>
            <a:pPr marL="342900" indent="-342900" algn="just">
              <a:buFont typeface="Wingdings" panose="05000000000000000000" charset="0"/>
              <a:buChar char="ü"/>
            </a:pPr>
            <a:r>
              <a:rPr lang="en-US" sz="2800" dirty="0">
                <a:sym typeface="+mn-ea"/>
              </a:rPr>
              <a:t>non-maleficence states that a medical practitioner has a duty to do no harm or allow harm to be caused to a </a:t>
            </a:r>
            <a:r>
              <a:rPr lang="en-US" sz="2800" dirty="0" err="1">
                <a:sym typeface="+mn-ea"/>
              </a:rPr>
              <a:t>ppatient</a:t>
            </a:r>
            <a:r>
              <a:rPr lang="en-US" sz="2800" dirty="0">
                <a:sym typeface="+mn-ea"/>
              </a:rPr>
              <a:t> through neglect. Any consideration of beneficence is likely, therefore, to involve an examination of non-maleficence </a:t>
            </a:r>
          </a:p>
          <a:p>
            <a:endParaRPr lang="en-US" dirty="0"/>
          </a:p>
        </p:txBody>
      </p:sp>
    </p:spTree>
    <p:extLst>
      <p:ext uri="{BB962C8B-B14F-4D97-AF65-F5344CB8AC3E}">
        <p14:creationId xmlns:p14="http://schemas.microsoft.com/office/powerpoint/2010/main" val="711872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A2AE9-281F-9474-F69D-F7188F200C7B}"/>
              </a:ext>
            </a:extLst>
          </p:cNvPr>
          <p:cNvSpPr>
            <a:spLocks noGrp="1"/>
          </p:cNvSpPr>
          <p:nvPr>
            <p:ph type="title"/>
          </p:nvPr>
        </p:nvSpPr>
        <p:spPr/>
        <p:txBody>
          <a:bodyPr>
            <a:normAutofit fontScale="90000"/>
          </a:bodyPr>
          <a:lstStyle/>
          <a:p>
            <a:r>
              <a:rPr lang="en-US" sz="4400" dirty="0"/>
              <a:t>difference </a:t>
            </a:r>
            <a:r>
              <a:rPr lang="en-US" sz="4400" dirty="0" err="1"/>
              <a:t>btween</a:t>
            </a:r>
            <a:r>
              <a:rPr lang="en-US" sz="4400" dirty="0"/>
              <a:t> non-maleficence to beneficence</a:t>
            </a:r>
            <a:endParaRPr lang="en-US" dirty="0"/>
          </a:p>
        </p:txBody>
      </p:sp>
      <p:sp>
        <p:nvSpPr>
          <p:cNvPr id="3" name="Content Placeholder 2">
            <a:extLst>
              <a:ext uri="{FF2B5EF4-FFF2-40B4-BE49-F238E27FC236}">
                <a16:creationId xmlns:a16="http://schemas.microsoft.com/office/drawing/2014/main" id="{ECC4929E-618E-F314-B20A-A2C964E07B49}"/>
              </a:ext>
            </a:extLst>
          </p:cNvPr>
          <p:cNvSpPr>
            <a:spLocks noGrp="1"/>
          </p:cNvSpPr>
          <p:nvPr>
            <p:ph idx="1"/>
          </p:nvPr>
        </p:nvSpPr>
        <p:spPr>
          <a:xfrm>
            <a:off x="746448" y="2556932"/>
            <a:ext cx="10842171" cy="3787884"/>
          </a:xfrm>
        </p:spPr>
        <p:txBody>
          <a:bodyPr>
            <a:normAutofit/>
          </a:bodyPr>
          <a:lstStyle/>
          <a:p>
            <a:r>
              <a:rPr lang="en-US" dirty="0"/>
              <a:t>Non-Maleficence differs from beneficence in two major ways</a:t>
            </a:r>
          </a:p>
          <a:p>
            <a:pPr marL="457200" indent="-457200">
              <a:buFont typeface="+mj-lt"/>
              <a:buAutoNum type="arabicParenR"/>
            </a:pPr>
            <a:r>
              <a:rPr lang="en-US" dirty="0"/>
              <a:t>first of all, it acts as a threshold for treatment. if a treatment causes more harm than good, then it should not be considered. This is in contrast to beneficence, where we consider all valid treatment options and then rank them in order of preference. </a:t>
            </a:r>
          </a:p>
          <a:p>
            <a:pPr marL="457200" indent="-457200">
              <a:buFont typeface="+mj-lt"/>
              <a:buAutoNum type="arabicParenR"/>
            </a:pPr>
            <a:r>
              <a:rPr lang="en-US" dirty="0"/>
              <a:t>We tend to use beneficence in response to a specific situation-such as determining the best treatment for a patient. In contrast, non-maleficence is a constant in clinical practice. for example, if you see a patient collapse in a corridor you have a duty to provide ( or seek) medical attention to provide injury. </a:t>
            </a:r>
          </a:p>
          <a:p>
            <a:endParaRPr lang="en-US" dirty="0"/>
          </a:p>
        </p:txBody>
      </p:sp>
    </p:spTree>
    <p:extLst>
      <p:ext uri="{BB962C8B-B14F-4D97-AF65-F5344CB8AC3E}">
        <p14:creationId xmlns:p14="http://schemas.microsoft.com/office/powerpoint/2010/main" val="3316739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FCC97-3CA4-BB0F-897B-6960E2A6CB9E}"/>
              </a:ext>
            </a:extLst>
          </p:cNvPr>
          <p:cNvSpPr>
            <a:spLocks noGrp="1"/>
          </p:cNvSpPr>
          <p:nvPr>
            <p:ph type="title"/>
          </p:nvPr>
        </p:nvSpPr>
        <p:spPr/>
        <p:txBody>
          <a:bodyPr/>
          <a:lstStyle/>
          <a:p>
            <a:r>
              <a:rPr lang="en-US" b="1" dirty="0"/>
              <a:t>4. JUSTICE</a:t>
            </a:r>
          </a:p>
        </p:txBody>
      </p:sp>
      <p:sp>
        <p:nvSpPr>
          <p:cNvPr id="3" name="Content Placeholder 2">
            <a:extLst>
              <a:ext uri="{FF2B5EF4-FFF2-40B4-BE49-F238E27FC236}">
                <a16:creationId xmlns:a16="http://schemas.microsoft.com/office/drawing/2014/main" id="{420C31D5-284D-BB35-88CE-16EB717FA8BB}"/>
              </a:ext>
            </a:extLst>
          </p:cNvPr>
          <p:cNvSpPr>
            <a:spLocks noGrp="1"/>
          </p:cNvSpPr>
          <p:nvPr>
            <p:ph idx="1"/>
          </p:nvPr>
        </p:nvSpPr>
        <p:spPr>
          <a:xfrm>
            <a:off x="895739" y="2556931"/>
            <a:ext cx="10580914" cy="3610603"/>
          </a:xfrm>
        </p:spPr>
        <p:txBody>
          <a:bodyPr>
            <a:normAutofit lnSpcReduction="10000"/>
          </a:bodyPr>
          <a:lstStyle/>
          <a:p>
            <a:r>
              <a:rPr lang="en-US" dirty="0"/>
              <a:t>Justice- Constitutes an ethical perspective in terms of which ethical decisions are made on the basis of universal principles and rules, and in an impartial and verifiable manner with a view to ensuring the fair and equitable treatment of all people. </a:t>
            </a:r>
          </a:p>
          <a:p>
            <a:pPr marL="342900" indent="-342900">
              <a:buFont typeface="Wingdings" panose="05000000000000000000" charset="0"/>
              <a:buChar char="v"/>
            </a:pPr>
            <a:r>
              <a:rPr lang="en-US" dirty="0"/>
              <a:t>Justice is an action in accordance with the </a:t>
            </a:r>
            <a:r>
              <a:rPr lang="en-US" dirty="0" err="1"/>
              <a:t>requirments</a:t>
            </a:r>
            <a:r>
              <a:rPr lang="en-US" dirty="0"/>
              <a:t> of some law. whether these rules are grounded in human consensus or societal </a:t>
            </a:r>
            <a:r>
              <a:rPr lang="en-US" dirty="0" err="1"/>
              <a:t>nroms</a:t>
            </a:r>
            <a:r>
              <a:rPr lang="en-US" dirty="0"/>
              <a:t>, they are supposed to ensure that all members of society receive fair treatment</a:t>
            </a:r>
          </a:p>
          <a:p>
            <a:pPr marL="342900" indent="-342900">
              <a:buFont typeface="Wingdings" panose="05000000000000000000" charset="0"/>
              <a:buChar char="v"/>
            </a:pPr>
            <a:r>
              <a:rPr lang="en-US" b="1" dirty="0"/>
              <a:t>Example of Justice in ethics</a:t>
            </a:r>
            <a:r>
              <a:rPr lang="en-US" dirty="0"/>
              <a:t>: patients diagnosed with cancer are entitled to a range of treatments including radio- and chemotherapy. These treatments are expensive and treat a small, but significant proportion of patients.  </a:t>
            </a:r>
          </a:p>
          <a:p>
            <a:endParaRPr lang="en-US" dirty="0"/>
          </a:p>
        </p:txBody>
      </p:sp>
    </p:spTree>
    <p:extLst>
      <p:ext uri="{BB962C8B-B14F-4D97-AF65-F5344CB8AC3E}">
        <p14:creationId xmlns:p14="http://schemas.microsoft.com/office/powerpoint/2010/main" val="4228448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6AFEA-BC95-BF5F-1514-8FB7977732E2}"/>
              </a:ext>
            </a:extLst>
          </p:cNvPr>
          <p:cNvSpPr>
            <a:spLocks noGrp="1"/>
          </p:cNvSpPr>
          <p:nvPr>
            <p:ph type="title"/>
          </p:nvPr>
        </p:nvSpPr>
        <p:spPr/>
        <p:txBody>
          <a:bodyPr>
            <a:normAutofit fontScale="90000"/>
          </a:bodyPr>
          <a:lstStyle/>
          <a:p>
            <a:r>
              <a:rPr lang="en-US" dirty="0">
                <a:sym typeface="+mn-ea"/>
              </a:rPr>
              <a:t>ETHICAL THEORIES: </a:t>
            </a:r>
            <a:br>
              <a:rPr lang="en-US" dirty="0">
                <a:sym typeface="+mn-ea"/>
              </a:rPr>
            </a:br>
            <a:r>
              <a:rPr lang="en-US" dirty="0">
                <a:sym typeface="+mn-ea"/>
              </a:rPr>
              <a:t>1. </a:t>
            </a:r>
            <a:r>
              <a:rPr lang="en-US" b="1" u="sng" dirty="0">
                <a:sym typeface="+mn-ea"/>
              </a:rPr>
              <a:t>DEONTOLOGY </a:t>
            </a:r>
            <a:endParaRPr lang="en-US" b="1" u="sng" dirty="0"/>
          </a:p>
        </p:txBody>
      </p:sp>
      <p:sp>
        <p:nvSpPr>
          <p:cNvPr id="3" name="Content Placeholder 2">
            <a:extLst>
              <a:ext uri="{FF2B5EF4-FFF2-40B4-BE49-F238E27FC236}">
                <a16:creationId xmlns:a16="http://schemas.microsoft.com/office/drawing/2014/main" id="{D36E3040-6E3E-FFCD-721D-9468B085848F}"/>
              </a:ext>
            </a:extLst>
          </p:cNvPr>
          <p:cNvSpPr>
            <a:spLocks noGrp="1"/>
          </p:cNvSpPr>
          <p:nvPr>
            <p:ph idx="1"/>
          </p:nvPr>
        </p:nvSpPr>
        <p:spPr>
          <a:xfrm>
            <a:off x="849086" y="2556932"/>
            <a:ext cx="10440955" cy="3318936"/>
          </a:xfrm>
        </p:spPr>
        <p:txBody>
          <a:bodyPr>
            <a:normAutofit lnSpcReduction="10000"/>
          </a:bodyPr>
          <a:lstStyle/>
          <a:p>
            <a:pPr marL="0" indent="0" algn="just">
              <a:buNone/>
            </a:pPr>
            <a:r>
              <a:rPr lang="en-US" sz="2400" b="1" dirty="0"/>
              <a:t>DEONTOLOGY  ( </a:t>
            </a:r>
            <a:r>
              <a:rPr lang="en-US" dirty="0"/>
              <a:t>IMMANUEL KANT)  </a:t>
            </a:r>
            <a:endParaRPr lang="en-US" sz="2400" b="1" dirty="0"/>
          </a:p>
          <a:p>
            <a:pPr algn="just">
              <a:buFont typeface="Wingdings" panose="05000000000000000000" charset="0"/>
              <a:buChar char="o"/>
            </a:pPr>
            <a:r>
              <a:rPr lang="en-US" sz="2400" b="1" dirty="0"/>
              <a:t>The</a:t>
            </a:r>
            <a:r>
              <a:rPr lang="en-US" sz="2400" dirty="0"/>
              <a:t> term deontology comes from the Greek word </a:t>
            </a:r>
            <a:r>
              <a:rPr lang="en-US" sz="2400" dirty="0" err="1"/>
              <a:t>deon</a:t>
            </a:r>
            <a:r>
              <a:rPr lang="en-US" sz="2400" dirty="0"/>
              <a:t>, meaning duty. The theory of deontology states we are morally obligated to act in accordance with a certain set of principles and rules regardless of outcome</a:t>
            </a:r>
          </a:p>
          <a:p>
            <a:pPr marL="342900" indent="-342900" algn="just">
              <a:buFont typeface="Wingdings" panose="05000000000000000000" charset="0"/>
              <a:buChar char="o"/>
            </a:pPr>
            <a:r>
              <a:rPr lang="en-US" sz="2400" dirty="0"/>
              <a:t>Deontology is also known as “duty-based ethics”. This ideology states that the correct course of action is dependent on what your duties and obligations are. It means that the morality of an action is based on whether you followed the rules, rather than what the consequence of following them was.</a:t>
            </a:r>
          </a:p>
          <a:p>
            <a:endParaRPr lang="en-US" dirty="0"/>
          </a:p>
        </p:txBody>
      </p:sp>
    </p:spTree>
    <p:extLst>
      <p:ext uri="{BB962C8B-B14F-4D97-AF65-F5344CB8AC3E}">
        <p14:creationId xmlns:p14="http://schemas.microsoft.com/office/powerpoint/2010/main" val="3193399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0F0B-F5BB-09EA-CA5B-2014CAB20E3A}"/>
              </a:ext>
            </a:extLst>
          </p:cNvPr>
          <p:cNvSpPr>
            <a:spLocks noGrp="1"/>
          </p:cNvSpPr>
          <p:nvPr>
            <p:ph type="title"/>
          </p:nvPr>
        </p:nvSpPr>
        <p:spPr/>
        <p:txBody>
          <a:bodyPr>
            <a:normAutofit fontScale="90000"/>
          </a:bodyPr>
          <a:lstStyle/>
          <a:p>
            <a:r>
              <a:rPr lang="en-US" sz="4400" b="1" u="sng" dirty="0"/>
              <a:t>DEONTOLOGY …………</a:t>
            </a:r>
            <a:br>
              <a:rPr lang="en-US" sz="4400" b="1" u="sng" dirty="0"/>
            </a:br>
            <a:endParaRPr lang="en-US" dirty="0"/>
          </a:p>
        </p:txBody>
      </p:sp>
      <p:sp>
        <p:nvSpPr>
          <p:cNvPr id="3" name="Content Placeholder 2">
            <a:extLst>
              <a:ext uri="{FF2B5EF4-FFF2-40B4-BE49-F238E27FC236}">
                <a16:creationId xmlns:a16="http://schemas.microsoft.com/office/drawing/2014/main" id="{DDFD9CC7-354E-271A-483E-3AD89434F593}"/>
              </a:ext>
            </a:extLst>
          </p:cNvPr>
          <p:cNvSpPr>
            <a:spLocks noGrp="1"/>
          </p:cNvSpPr>
          <p:nvPr>
            <p:ph idx="1"/>
          </p:nvPr>
        </p:nvSpPr>
        <p:spPr/>
        <p:txBody>
          <a:bodyPr/>
          <a:lstStyle/>
          <a:p>
            <a:pPr algn="just"/>
            <a:r>
              <a:rPr lang="en-US" sz="2800" b="1" dirty="0"/>
              <a:t>Example:</a:t>
            </a:r>
            <a:r>
              <a:rPr lang="en-US" sz="2800" dirty="0"/>
              <a:t> If your terminally ill patient asks if they’ll be ok after a surgery they’re unlikely to survive, a deontological approach would suggest you don’t lie to comfort them. That’s because according to this concept, lying isn’t morally acceptable because it’s our obligation not to lie – no matter the consequences.</a:t>
            </a:r>
          </a:p>
          <a:p>
            <a:endParaRPr lang="en-US" dirty="0"/>
          </a:p>
        </p:txBody>
      </p:sp>
    </p:spTree>
    <p:extLst>
      <p:ext uri="{BB962C8B-B14F-4D97-AF65-F5344CB8AC3E}">
        <p14:creationId xmlns:p14="http://schemas.microsoft.com/office/powerpoint/2010/main" val="1917323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8F71E-D48D-DD3E-DDF3-9F50FF083FAB}"/>
              </a:ext>
            </a:extLst>
          </p:cNvPr>
          <p:cNvSpPr>
            <a:spLocks noGrp="1"/>
          </p:cNvSpPr>
          <p:nvPr>
            <p:ph type="title"/>
          </p:nvPr>
        </p:nvSpPr>
        <p:spPr/>
        <p:txBody>
          <a:bodyPr/>
          <a:lstStyle/>
          <a:p>
            <a:r>
              <a:rPr lang="en-US" dirty="0"/>
              <a:t>KANT AND THE THEORY OF DUTY</a:t>
            </a:r>
          </a:p>
        </p:txBody>
      </p:sp>
      <p:sp>
        <p:nvSpPr>
          <p:cNvPr id="3" name="Content Placeholder 2">
            <a:extLst>
              <a:ext uri="{FF2B5EF4-FFF2-40B4-BE49-F238E27FC236}">
                <a16:creationId xmlns:a16="http://schemas.microsoft.com/office/drawing/2014/main" id="{06D946AF-DEFB-90B6-7343-206E56B2AD47}"/>
              </a:ext>
            </a:extLst>
          </p:cNvPr>
          <p:cNvSpPr>
            <a:spLocks noGrp="1"/>
          </p:cNvSpPr>
          <p:nvPr>
            <p:ph idx="1"/>
          </p:nvPr>
        </p:nvSpPr>
        <p:spPr>
          <a:xfrm>
            <a:off x="830424" y="2556932"/>
            <a:ext cx="10748866" cy="3573280"/>
          </a:xfrm>
        </p:spPr>
        <p:txBody>
          <a:bodyPr>
            <a:normAutofit fontScale="92500" lnSpcReduction="10000"/>
          </a:bodyPr>
          <a:lstStyle/>
          <a:p>
            <a:pPr marL="0" indent="0">
              <a:buNone/>
            </a:pPr>
            <a:r>
              <a:rPr lang="en-US" b="1" dirty="0"/>
              <a:t>Some terminology to consider: Some terminology to consider:</a:t>
            </a:r>
          </a:p>
          <a:p>
            <a:pPr marL="457200" indent="-457200">
              <a:buFont typeface="+mj-lt"/>
              <a:buAutoNum type="arabicParenR"/>
            </a:pPr>
            <a:r>
              <a:rPr lang="en-US" b="1" dirty="0"/>
              <a:t>Moral agent:</a:t>
            </a:r>
            <a:r>
              <a:rPr lang="en-US" dirty="0"/>
              <a:t> An agent is a person who performs an action; a moral agent is a person with the capacity to act morally.</a:t>
            </a:r>
          </a:p>
          <a:p>
            <a:pPr marL="457200" indent="-457200">
              <a:buFont typeface="+mj-lt"/>
              <a:buAutoNum type="arabicParenR"/>
            </a:pPr>
            <a:r>
              <a:rPr lang="en-US" b="1" dirty="0"/>
              <a:t>Maxim:</a:t>
            </a:r>
            <a:r>
              <a:rPr lang="en-US" dirty="0"/>
              <a:t> rule or principle</a:t>
            </a:r>
          </a:p>
          <a:p>
            <a:pPr marL="457200" indent="-457200">
              <a:buFont typeface="+mj-lt"/>
              <a:buAutoNum type="arabicParenR"/>
            </a:pPr>
            <a:r>
              <a:rPr lang="en-US" b="1" dirty="0"/>
              <a:t>Will:</a:t>
            </a:r>
            <a:r>
              <a:rPr lang="en-US" dirty="0"/>
              <a:t> the faculty of deciding, choosing, or acting</a:t>
            </a:r>
          </a:p>
          <a:p>
            <a:pPr marL="342900" indent="-342900">
              <a:buFont typeface="Wingdings" panose="05000000000000000000" charset="0"/>
              <a:buChar char="Ø"/>
            </a:pPr>
            <a:r>
              <a:rPr lang="en-US" dirty="0"/>
              <a:t>Deontological theories hold that some acts are always wrong, even if the act leads to an admirable outcome.  </a:t>
            </a:r>
          </a:p>
          <a:p>
            <a:pPr marL="342900" indent="-342900">
              <a:buFont typeface="Wingdings" panose="05000000000000000000" charset="0"/>
              <a:buChar char="Ø"/>
            </a:pPr>
            <a:r>
              <a:rPr lang="en-US" dirty="0"/>
              <a:t>Actions in deontology are always judged independently of their outcome. An act can be morally bad but may unintentionally lead to a favorable outcome</a:t>
            </a:r>
            <a:endParaRPr lang="en-US" b="1" dirty="0"/>
          </a:p>
        </p:txBody>
      </p:sp>
    </p:spTree>
    <p:extLst>
      <p:ext uri="{BB962C8B-B14F-4D97-AF65-F5344CB8AC3E}">
        <p14:creationId xmlns:p14="http://schemas.microsoft.com/office/powerpoint/2010/main" val="186159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4BB09-6508-6106-FFAB-48023890FB38}"/>
              </a:ext>
            </a:extLst>
          </p:cNvPr>
          <p:cNvSpPr>
            <a:spLocks noGrp="1"/>
          </p:cNvSpPr>
          <p:nvPr>
            <p:ph type="title"/>
          </p:nvPr>
        </p:nvSpPr>
        <p:spPr/>
        <p:txBody>
          <a:bodyPr/>
          <a:lstStyle/>
          <a:p>
            <a:r>
              <a:rPr lang="en-US" dirty="0"/>
              <a:t>Contin………….</a:t>
            </a:r>
          </a:p>
        </p:txBody>
      </p:sp>
      <p:sp>
        <p:nvSpPr>
          <p:cNvPr id="3" name="Content Placeholder 2">
            <a:extLst>
              <a:ext uri="{FF2B5EF4-FFF2-40B4-BE49-F238E27FC236}">
                <a16:creationId xmlns:a16="http://schemas.microsoft.com/office/drawing/2014/main" id="{166CB23E-E1A1-F2DD-562F-FA41F08CE465}"/>
              </a:ext>
            </a:extLst>
          </p:cNvPr>
          <p:cNvSpPr>
            <a:spLocks noGrp="1"/>
          </p:cNvSpPr>
          <p:nvPr>
            <p:ph idx="1"/>
          </p:nvPr>
        </p:nvSpPr>
        <p:spPr>
          <a:xfrm>
            <a:off x="933061" y="2481943"/>
            <a:ext cx="10627568" cy="3393925"/>
          </a:xfrm>
        </p:spPr>
        <p:txBody>
          <a:bodyPr>
            <a:normAutofit fontScale="92500" lnSpcReduction="10000"/>
          </a:bodyPr>
          <a:lstStyle/>
          <a:p>
            <a:pPr>
              <a:buFont typeface="Wingdings" panose="05000000000000000000" charset="0"/>
              <a:buChar char="q"/>
            </a:pPr>
            <a:r>
              <a:rPr lang="en-US" dirty="0"/>
              <a:t>Kant’s moral theory is based on his view of the human being as having the unique capacity for rationality. No other animal possesses such a propensity for reasoned thought and action, and it is exactly this ability that requires human beings to act in accordance with and for the sake of moral law or duty.  </a:t>
            </a:r>
          </a:p>
          <a:p>
            <a:pPr>
              <a:buFont typeface="Wingdings" panose="05000000000000000000" charset="0"/>
              <a:buChar char="q"/>
            </a:pPr>
            <a:r>
              <a:rPr lang="en-US" dirty="0"/>
              <a:t>Kant believes human inclinations, emotions and consequences should play no role in moral action; therefore, the motivation behind an action must be based on obligation and well thought out before the action takes place.  </a:t>
            </a:r>
          </a:p>
          <a:p>
            <a:pPr>
              <a:buFont typeface="Wingdings" panose="05000000000000000000" charset="0"/>
              <a:buChar char="q"/>
            </a:pPr>
            <a:r>
              <a:rPr lang="en-US" dirty="0"/>
              <a:t>Morality should, in theory, provide people with a framework of rational rules that guide and prevent certain actions and are independent of personal intentions and desires.</a:t>
            </a:r>
          </a:p>
          <a:p>
            <a:endParaRPr lang="en-US" dirty="0"/>
          </a:p>
        </p:txBody>
      </p:sp>
    </p:spTree>
    <p:extLst>
      <p:ext uri="{BB962C8B-B14F-4D97-AF65-F5344CB8AC3E}">
        <p14:creationId xmlns:p14="http://schemas.microsoft.com/office/powerpoint/2010/main" val="4252459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A4838-CBEA-9024-6864-57A2A9CCF225}"/>
              </a:ext>
            </a:extLst>
          </p:cNvPr>
          <p:cNvSpPr>
            <a:spLocks noGrp="1"/>
          </p:cNvSpPr>
          <p:nvPr>
            <p:ph type="title"/>
          </p:nvPr>
        </p:nvSpPr>
        <p:spPr/>
        <p:txBody>
          <a:bodyPr/>
          <a:lstStyle/>
          <a:p>
            <a:r>
              <a:rPr lang="en-US" dirty="0"/>
              <a:t>UTILITARIANISM</a:t>
            </a:r>
          </a:p>
        </p:txBody>
      </p:sp>
      <p:sp>
        <p:nvSpPr>
          <p:cNvPr id="3" name="Content Placeholder 2">
            <a:extLst>
              <a:ext uri="{FF2B5EF4-FFF2-40B4-BE49-F238E27FC236}">
                <a16:creationId xmlns:a16="http://schemas.microsoft.com/office/drawing/2014/main" id="{D5039C18-D6F9-F589-0EB9-A716A5DF47EC}"/>
              </a:ext>
            </a:extLst>
          </p:cNvPr>
          <p:cNvSpPr>
            <a:spLocks noGrp="1"/>
          </p:cNvSpPr>
          <p:nvPr>
            <p:ph idx="1"/>
          </p:nvPr>
        </p:nvSpPr>
        <p:spPr>
          <a:xfrm>
            <a:off x="783771" y="2556932"/>
            <a:ext cx="10748866" cy="3318936"/>
          </a:xfrm>
        </p:spPr>
        <p:txBody>
          <a:bodyPr/>
          <a:lstStyle/>
          <a:p>
            <a:pPr marL="0" indent="0">
              <a:buNone/>
            </a:pPr>
            <a:r>
              <a:rPr lang="en-US" b="1" dirty="0"/>
              <a:t>What Is Utilitarianism?</a:t>
            </a:r>
          </a:p>
          <a:p>
            <a:pPr marL="342900" indent="-342900">
              <a:buFont typeface="Wingdings" panose="05000000000000000000" charset="0"/>
              <a:buChar char="q"/>
            </a:pPr>
            <a:r>
              <a:rPr lang="en-US" dirty="0"/>
              <a:t>Utilitarianism is a theory of morality that advocates actions that foster happiness or pleasure and oppose actions that cause unhappiness or harm. When directed toward making social, economic, or political decisions, a utilitarian philosophy would aim for the betterment of society as a whole.</a:t>
            </a:r>
          </a:p>
          <a:p>
            <a:pPr marL="342900" indent="-342900">
              <a:buFont typeface="Wingdings" panose="05000000000000000000" charset="0"/>
              <a:buChar char="q"/>
            </a:pPr>
            <a:r>
              <a:rPr lang="en-US" dirty="0"/>
              <a:t>Utilitarianism would say that an action is right if it results in the happiness of the greatest number of people in a society or a group.  </a:t>
            </a:r>
          </a:p>
          <a:p>
            <a:endParaRPr lang="en-US" dirty="0"/>
          </a:p>
        </p:txBody>
      </p:sp>
    </p:spTree>
    <p:extLst>
      <p:ext uri="{BB962C8B-B14F-4D97-AF65-F5344CB8AC3E}">
        <p14:creationId xmlns:p14="http://schemas.microsoft.com/office/powerpoint/2010/main" val="2544800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7D20C-8850-EC8A-7F41-404EEBBF73E9}"/>
              </a:ext>
            </a:extLst>
          </p:cNvPr>
          <p:cNvSpPr>
            <a:spLocks noGrp="1"/>
          </p:cNvSpPr>
          <p:nvPr>
            <p:ph type="title"/>
          </p:nvPr>
        </p:nvSpPr>
        <p:spPr/>
        <p:txBody>
          <a:bodyPr/>
          <a:lstStyle/>
          <a:p>
            <a:r>
              <a:rPr lang="en-US" dirty="0">
                <a:sym typeface="+mn-ea"/>
              </a:rPr>
              <a:t>Understanding Utilitarianism</a:t>
            </a:r>
            <a:endParaRPr lang="en-US" dirty="0"/>
          </a:p>
        </p:txBody>
      </p:sp>
      <p:sp>
        <p:nvSpPr>
          <p:cNvPr id="3" name="Content Placeholder 2">
            <a:extLst>
              <a:ext uri="{FF2B5EF4-FFF2-40B4-BE49-F238E27FC236}">
                <a16:creationId xmlns:a16="http://schemas.microsoft.com/office/drawing/2014/main" id="{B46CCFBE-90EA-BA52-C526-34D59734B45E}"/>
              </a:ext>
            </a:extLst>
          </p:cNvPr>
          <p:cNvSpPr>
            <a:spLocks noGrp="1"/>
          </p:cNvSpPr>
          <p:nvPr>
            <p:ph idx="1"/>
          </p:nvPr>
        </p:nvSpPr>
        <p:spPr>
          <a:xfrm>
            <a:off x="867746" y="2556932"/>
            <a:ext cx="10590245" cy="3545288"/>
          </a:xfrm>
        </p:spPr>
        <p:txBody>
          <a:bodyPr>
            <a:normAutofit fontScale="92500" lnSpcReduction="10000"/>
          </a:bodyPr>
          <a:lstStyle/>
          <a:p>
            <a:pPr marL="285750" indent="-285750">
              <a:buFont typeface="Wingdings" panose="05000000000000000000" charset="0"/>
              <a:buChar char="q"/>
            </a:pPr>
            <a:r>
              <a:rPr lang="en-US" b="1" dirty="0"/>
              <a:t>Understanding Utilitarianism</a:t>
            </a:r>
          </a:p>
          <a:p>
            <a:pPr>
              <a:buFont typeface="Wingdings" panose="05000000000000000000" charset="0"/>
              <a:buChar char="Ø"/>
            </a:pPr>
            <a:r>
              <a:rPr lang="en-US" dirty="0"/>
              <a:t>Utilitarianism is a tradition of ethical philosophy that is associated with </a:t>
            </a:r>
            <a:r>
              <a:rPr lang="en-US" b="1" u="sng" dirty="0"/>
              <a:t>Jeremy Bentham </a:t>
            </a:r>
            <a:r>
              <a:rPr lang="en-US" dirty="0"/>
              <a:t>and </a:t>
            </a:r>
            <a:r>
              <a:rPr lang="en-US" b="1" u="sng" dirty="0"/>
              <a:t>John Stuart Mill</a:t>
            </a:r>
            <a:r>
              <a:rPr lang="en-US" dirty="0"/>
              <a:t>, two late 18th- and 19th-century British philosophers, economists, and political thinkers. </a:t>
            </a:r>
          </a:p>
          <a:p>
            <a:pPr>
              <a:buFont typeface="Wingdings" panose="05000000000000000000" charset="0"/>
              <a:buChar char="Ø"/>
            </a:pPr>
            <a:r>
              <a:rPr lang="en-US" dirty="0"/>
              <a:t>Utilitarianism holds that an action is right if it tends to promote happiness and wrong if it tends to produce sadness, or the reverse of happiness—not just the happiness of the actor but that of everyone affected by it.</a:t>
            </a:r>
          </a:p>
          <a:p>
            <a:r>
              <a:rPr lang="en-US" dirty="0"/>
              <a:t>At work, you display utilitarianism when you take actions to ensure that the office is a positive environment for your co-workers to be in, and then make it so for yourself.</a:t>
            </a:r>
          </a:p>
          <a:p>
            <a:endParaRPr lang="en-US" dirty="0"/>
          </a:p>
        </p:txBody>
      </p:sp>
    </p:spTree>
    <p:extLst>
      <p:ext uri="{BB962C8B-B14F-4D97-AF65-F5344CB8AC3E}">
        <p14:creationId xmlns:p14="http://schemas.microsoft.com/office/powerpoint/2010/main" val="308960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82F01-EE69-733F-7CE7-31B089A609B0}"/>
              </a:ext>
            </a:extLst>
          </p:cNvPr>
          <p:cNvSpPr>
            <a:spLocks noGrp="1"/>
          </p:cNvSpPr>
          <p:nvPr>
            <p:ph type="title"/>
          </p:nvPr>
        </p:nvSpPr>
        <p:spPr/>
        <p:txBody>
          <a:bodyPr/>
          <a:lstStyle/>
          <a:p>
            <a:r>
              <a:rPr lang="en-US" dirty="0">
                <a:sym typeface="+mn-ea"/>
              </a:rPr>
              <a:t>Utilitarian Ethics/ types</a:t>
            </a:r>
            <a:endParaRPr lang="en-US" dirty="0"/>
          </a:p>
        </p:txBody>
      </p:sp>
      <p:sp>
        <p:nvSpPr>
          <p:cNvPr id="3" name="Content Placeholder 2">
            <a:extLst>
              <a:ext uri="{FF2B5EF4-FFF2-40B4-BE49-F238E27FC236}">
                <a16:creationId xmlns:a16="http://schemas.microsoft.com/office/drawing/2014/main" id="{8DFF26A4-43C0-7180-D645-61CA4709B263}"/>
              </a:ext>
            </a:extLst>
          </p:cNvPr>
          <p:cNvSpPr>
            <a:spLocks noGrp="1"/>
          </p:cNvSpPr>
          <p:nvPr>
            <p:ph idx="1"/>
          </p:nvPr>
        </p:nvSpPr>
        <p:spPr>
          <a:xfrm>
            <a:off x="811763" y="2556932"/>
            <a:ext cx="10692882" cy="3318936"/>
          </a:xfrm>
        </p:spPr>
        <p:txBody>
          <a:bodyPr>
            <a:normAutofit fontScale="92500" lnSpcReduction="20000"/>
          </a:bodyPr>
          <a:lstStyle/>
          <a:p>
            <a:pPr marL="171450" indent="-171450">
              <a:buFont typeface="Wingdings" panose="05000000000000000000" charset="0"/>
              <a:buChar char="q"/>
            </a:pPr>
            <a:r>
              <a:rPr lang="en-US" sz="2400" b="1" dirty="0"/>
              <a:t>"Rule" Utilitarian Ethics</a:t>
            </a:r>
          </a:p>
          <a:p>
            <a:r>
              <a:rPr lang="en-US" sz="2400" dirty="0"/>
              <a:t>An example of rule utilitarianism in business is tiered pricing for a product or service for different types of customers. In the airline industry, for example, many planes offer first-, business-, and economy-class seats. </a:t>
            </a:r>
          </a:p>
          <a:p>
            <a:r>
              <a:rPr lang="en-US" sz="2400" dirty="0"/>
              <a:t>Customers who fly in first or business class pay a much higher rate than those in economy seats, but they also get more amenities—simultaneously, people who cannot afford upper-class seats benefit from the economy rates. This practice produces the highest good for the greatest number of people.</a:t>
            </a:r>
          </a:p>
          <a:p>
            <a:r>
              <a:rPr lang="en-US" sz="2400" dirty="0"/>
              <a:t>And the airline benefits, too. The more expensive upper-class seats help to ease the financial burden that the airline created by making room for economy-class seats.</a:t>
            </a:r>
          </a:p>
          <a:p>
            <a:endParaRPr lang="en-US" dirty="0"/>
          </a:p>
        </p:txBody>
      </p:sp>
    </p:spTree>
    <p:extLst>
      <p:ext uri="{BB962C8B-B14F-4D97-AF65-F5344CB8AC3E}">
        <p14:creationId xmlns:p14="http://schemas.microsoft.com/office/powerpoint/2010/main" val="3938144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140AA-EDFF-E254-F6FF-BC1FF9717C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8DD0314-0DDE-683B-5BBF-FEA6B01FFE2C}"/>
              </a:ext>
            </a:extLst>
          </p:cNvPr>
          <p:cNvSpPr>
            <a:spLocks noGrp="1"/>
          </p:cNvSpPr>
          <p:nvPr>
            <p:ph idx="1"/>
          </p:nvPr>
        </p:nvSpPr>
        <p:spPr>
          <a:xfrm>
            <a:off x="970384" y="2556932"/>
            <a:ext cx="10403632" cy="3318936"/>
          </a:xfrm>
        </p:spPr>
        <p:txBody>
          <a:bodyPr/>
          <a:lstStyle/>
          <a:p>
            <a:pPr marL="171450" indent="-171450" algn="just">
              <a:buFont typeface="Wingdings" panose="05000000000000000000" charset="0"/>
              <a:buChar char="q"/>
            </a:pPr>
            <a:r>
              <a:rPr lang="en-US" sz="2800" b="1" dirty="0"/>
              <a:t>"Act" Utilitarian Ethics</a:t>
            </a:r>
          </a:p>
          <a:p>
            <a:pPr algn="just"/>
            <a:r>
              <a:rPr lang="en-US" sz="2800" dirty="0"/>
              <a:t>An example of act utilitarianism could be when pharmaceutical companies release drugs that have been governmentally approved, but with known minor side effects because the drug is able to help more people than are bothered by the side effects. Act utilitarianism often demonstrates the concept that “the end justifies the means”—or it's worth it</a:t>
            </a:r>
          </a:p>
          <a:p>
            <a:endParaRPr lang="en-US" dirty="0"/>
          </a:p>
        </p:txBody>
      </p:sp>
    </p:spTree>
    <p:extLst>
      <p:ext uri="{BB962C8B-B14F-4D97-AF65-F5344CB8AC3E}">
        <p14:creationId xmlns:p14="http://schemas.microsoft.com/office/powerpoint/2010/main" val="2227854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EE733-9091-3C94-5A27-9D9487902709}"/>
              </a:ext>
            </a:extLst>
          </p:cNvPr>
          <p:cNvSpPr>
            <a:spLocks noGrp="1"/>
          </p:cNvSpPr>
          <p:nvPr>
            <p:ph type="title"/>
          </p:nvPr>
        </p:nvSpPr>
        <p:spPr/>
        <p:txBody>
          <a:bodyPr/>
          <a:lstStyle/>
          <a:p>
            <a:r>
              <a:rPr lang="en-US" dirty="0">
                <a:sym typeface="+mn-ea"/>
              </a:rPr>
              <a:t>The Limitations of Utilitarianism</a:t>
            </a:r>
            <a:endParaRPr lang="en-US" dirty="0"/>
          </a:p>
        </p:txBody>
      </p:sp>
      <p:sp>
        <p:nvSpPr>
          <p:cNvPr id="3" name="Content Placeholder 2">
            <a:extLst>
              <a:ext uri="{FF2B5EF4-FFF2-40B4-BE49-F238E27FC236}">
                <a16:creationId xmlns:a16="http://schemas.microsoft.com/office/drawing/2014/main" id="{AC5E5105-A761-FCFF-3671-425D023E75AA}"/>
              </a:ext>
            </a:extLst>
          </p:cNvPr>
          <p:cNvSpPr>
            <a:spLocks noGrp="1"/>
          </p:cNvSpPr>
          <p:nvPr>
            <p:ph idx="1"/>
          </p:nvPr>
        </p:nvSpPr>
        <p:spPr>
          <a:xfrm>
            <a:off x="933062" y="2556932"/>
            <a:ext cx="10562252" cy="3318936"/>
          </a:xfrm>
        </p:spPr>
        <p:txBody>
          <a:bodyPr>
            <a:normAutofit fontScale="92500"/>
          </a:bodyPr>
          <a:lstStyle/>
          <a:p>
            <a:pPr marL="171450" indent="-171450">
              <a:buFont typeface="Wingdings" panose="05000000000000000000" charset="0"/>
              <a:buChar char="o"/>
            </a:pPr>
            <a:r>
              <a:rPr lang="en-US" b="1" dirty="0"/>
              <a:t>The Limitations of Utilitarianism</a:t>
            </a:r>
          </a:p>
          <a:p>
            <a:pPr marL="171450" indent="-171450">
              <a:buFont typeface="Wingdings" panose="05000000000000000000" charset="0"/>
              <a:buChar char="Ø"/>
            </a:pPr>
            <a:r>
              <a:rPr lang="en-US" dirty="0"/>
              <a:t>In the workplace, though, utilitarian ethics are difficult to achieve. These ethics also can be challenging to maintain in our business culture, where a capitalistic economy often teaches people to focus on themselves at the expense of others. Similarly, monopolistic competition teaches one business to flourish at the expense of others.</a:t>
            </a:r>
          </a:p>
          <a:p>
            <a:pPr marL="171450" indent="-171450">
              <a:buFont typeface="Wingdings" panose="05000000000000000000" charset="0"/>
              <a:buChar char="Ø"/>
            </a:pPr>
            <a:r>
              <a:rPr lang="en-US" dirty="0"/>
              <a:t>A limitation of utilitarianism is that it tends to create a black-and-white construct of morality. In utilitarian ethics, there are no shades of gray—either something is wrong or it is right.</a:t>
            </a:r>
          </a:p>
          <a:p>
            <a:endParaRPr lang="en-US" dirty="0"/>
          </a:p>
        </p:txBody>
      </p:sp>
    </p:spTree>
    <p:extLst>
      <p:ext uri="{BB962C8B-B14F-4D97-AF65-F5344CB8AC3E}">
        <p14:creationId xmlns:p14="http://schemas.microsoft.com/office/powerpoint/2010/main" val="2199495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375C1-E0AD-A34D-247B-A0B63C4DBE75}"/>
              </a:ext>
            </a:extLst>
          </p:cNvPr>
          <p:cNvSpPr>
            <a:spLocks noGrp="1"/>
          </p:cNvSpPr>
          <p:nvPr>
            <p:ph type="title"/>
          </p:nvPr>
        </p:nvSpPr>
        <p:spPr/>
        <p:txBody>
          <a:bodyPr/>
          <a:lstStyle/>
          <a:p>
            <a:r>
              <a:rPr lang="en-US" dirty="0">
                <a:sym typeface="+mn-ea"/>
              </a:rPr>
              <a:t>The Limitations of Utilitarianism</a:t>
            </a:r>
            <a:endParaRPr lang="en-US" dirty="0"/>
          </a:p>
        </p:txBody>
      </p:sp>
      <p:sp>
        <p:nvSpPr>
          <p:cNvPr id="3" name="Content Placeholder 2">
            <a:extLst>
              <a:ext uri="{FF2B5EF4-FFF2-40B4-BE49-F238E27FC236}">
                <a16:creationId xmlns:a16="http://schemas.microsoft.com/office/drawing/2014/main" id="{A34627D2-1088-AEA6-5D76-3B88C23746A6}"/>
              </a:ext>
            </a:extLst>
          </p:cNvPr>
          <p:cNvSpPr>
            <a:spLocks noGrp="1"/>
          </p:cNvSpPr>
          <p:nvPr>
            <p:ph idx="1"/>
          </p:nvPr>
        </p:nvSpPr>
        <p:spPr>
          <a:xfrm>
            <a:off x="849086" y="2556932"/>
            <a:ext cx="10534261" cy="3318936"/>
          </a:xfrm>
        </p:spPr>
        <p:txBody>
          <a:bodyPr>
            <a:normAutofit/>
          </a:bodyPr>
          <a:lstStyle/>
          <a:p>
            <a:pPr marL="171450" indent="-171450">
              <a:buFont typeface="Wingdings" panose="05000000000000000000" charset="0"/>
              <a:buChar char="Ø"/>
            </a:pPr>
            <a:r>
              <a:rPr lang="en-US" dirty="0"/>
              <a:t>Utilitarianism also cannot predict with certainty whether the consequences of our actions will be good or bad—the results of our actions happen in the future.</a:t>
            </a:r>
          </a:p>
          <a:p>
            <a:pPr marL="171450" indent="-171450">
              <a:buFont typeface="Wingdings" panose="05000000000000000000" charset="0"/>
              <a:buChar char="Ø"/>
            </a:pPr>
            <a:r>
              <a:rPr lang="en-US" dirty="0"/>
              <a:t>Utilitarianism also has trouble accounting for values like justice and individual rights. For example, say a hospital has four people whose lives depend upon receiving organ transplants: a heart, lungs, a kidney, and a liver. If a healthy person wanders into the hospital, his organs could be harvested to save four lives at the expense of his one life. This would arguably produce the greatest good for the greatest number. But few would consider it an acceptable course of action, let alone an ethical one.</a:t>
            </a:r>
          </a:p>
          <a:p>
            <a:endParaRPr lang="en-US" dirty="0"/>
          </a:p>
        </p:txBody>
      </p:sp>
    </p:spTree>
    <p:extLst>
      <p:ext uri="{BB962C8B-B14F-4D97-AF65-F5344CB8AC3E}">
        <p14:creationId xmlns:p14="http://schemas.microsoft.com/office/powerpoint/2010/main" val="1462792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1F92A-474F-3D37-D243-E38B276F6027}"/>
              </a:ext>
            </a:extLst>
          </p:cNvPr>
          <p:cNvSpPr>
            <a:spLocks noGrp="1"/>
          </p:cNvSpPr>
          <p:nvPr>
            <p:ph type="title"/>
          </p:nvPr>
        </p:nvSpPr>
        <p:spPr/>
        <p:txBody>
          <a:bodyPr/>
          <a:lstStyle/>
          <a:p>
            <a:r>
              <a:rPr lang="en-US" b="0" i="0" dirty="0">
                <a:solidFill>
                  <a:srgbClr val="343F48"/>
                </a:solidFill>
                <a:effectLst/>
                <a:latin typeface="1883Sans"/>
              </a:rPr>
              <a:t>CONSEQUENTIALISM</a:t>
            </a:r>
            <a:endParaRPr lang="en-US" dirty="0"/>
          </a:p>
        </p:txBody>
      </p:sp>
      <p:sp>
        <p:nvSpPr>
          <p:cNvPr id="3" name="Content Placeholder 2">
            <a:extLst>
              <a:ext uri="{FF2B5EF4-FFF2-40B4-BE49-F238E27FC236}">
                <a16:creationId xmlns:a16="http://schemas.microsoft.com/office/drawing/2014/main" id="{A955A9C5-F105-D5EF-3729-060D0ED4FF09}"/>
              </a:ext>
            </a:extLst>
          </p:cNvPr>
          <p:cNvSpPr>
            <a:spLocks noGrp="1"/>
          </p:cNvSpPr>
          <p:nvPr>
            <p:ph idx="1"/>
          </p:nvPr>
        </p:nvSpPr>
        <p:spPr>
          <a:xfrm>
            <a:off x="1073020" y="2556932"/>
            <a:ext cx="10375641" cy="3318936"/>
          </a:xfrm>
        </p:spPr>
        <p:txBody>
          <a:bodyPr>
            <a:normAutofit/>
          </a:bodyPr>
          <a:lstStyle/>
          <a:p>
            <a:pPr>
              <a:buFont typeface="Wingdings" panose="05000000000000000000" pitchFamily="2" charset="2"/>
              <a:buChar char="ü"/>
            </a:pPr>
            <a:r>
              <a:rPr lang="en-US" sz="3200" b="0" i="0" dirty="0">
                <a:solidFill>
                  <a:srgbClr val="343F48"/>
                </a:solidFill>
                <a:effectLst/>
                <a:latin typeface="1883Sans"/>
              </a:rPr>
              <a:t>Consequentialism is an ethical theory that judges whether or not something is right by what its consequences are. </a:t>
            </a:r>
          </a:p>
          <a:p>
            <a:pPr>
              <a:buFont typeface="Wingdings" panose="05000000000000000000" pitchFamily="2" charset="2"/>
              <a:buChar char="ü"/>
            </a:pPr>
            <a:r>
              <a:rPr lang="en-US" sz="3200" b="0" i="0" dirty="0">
                <a:solidFill>
                  <a:srgbClr val="343F48"/>
                </a:solidFill>
                <a:effectLst/>
                <a:latin typeface="1883Sans"/>
              </a:rPr>
              <a:t>For instance, most people would agree that lying is wrong. But if telling a lie would help save a person’s life, consequentialism says it’s the right thing to do</a:t>
            </a:r>
            <a:endParaRPr lang="en-US" sz="3200" dirty="0"/>
          </a:p>
        </p:txBody>
      </p:sp>
    </p:spTree>
    <p:extLst>
      <p:ext uri="{BB962C8B-B14F-4D97-AF65-F5344CB8AC3E}">
        <p14:creationId xmlns:p14="http://schemas.microsoft.com/office/powerpoint/2010/main" val="54710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2646C-1323-8830-6CE4-68546EBFAB04}"/>
              </a:ext>
            </a:extLst>
          </p:cNvPr>
          <p:cNvSpPr>
            <a:spLocks noGrp="1"/>
          </p:cNvSpPr>
          <p:nvPr>
            <p:ph type="title"/>
          </p:nvPr>
        </p:nvSpPr>
        <p:spPr/>
        <p:txBody>
          <a:bodyPr/>
          <a:lstStyle/>
          <a:p>
            <a:r>
              <a:rPr lang="en-US" dirty="0"/>
              <a:t>CONSEQUENTIALISM</a:t>
            </a:r>
          </a:p>
        </p:txBody>
      </p:sp>
      <p:sp>
        <p:nvSpPr>
          <p:cNvPr id="3" name="Content Placeholder 2">
            <a:extLst>
              <a:ext uri="{FF2B5EF4-FFF2-40B4-BE49-F238E27FC236}">
                <a16:creationId xmlns:a16="http://schemas.microsoft.com/office/drawing/2014/main" id="{3E044C78-FC93-87FB-FE4B-7311AEE9C7EA}"/>
              </a:ext>
            </a:extLst>
          </p:cNvPr>
          <p:cNvSpPr>
            <a:spLocks noGrp="1"/>
          </p:cNvSpPr>
          <p:nvPr>
            <p:ph idx="1"/>
          </p:nvPr>
        </p:nvSpPr>
        <p:spPr>
          <a:xfrm>
            <a:off x="923730" y="2556932"/>
            <a:ext cx="10543591" cy="3318936"/>
          </a:xfrm>
        </p:spPr>
        <p:txBody>
          <a:bodyPr>
            <a:normAutofit lnSpcReduction="10000"/>
          </a:bodyPr>
          <a:lstStyle/>
          <a:p>
            <a:r>
              <a:rPr lang="en-US" sz="3200" b="0" i="0" dirty="0">
                <a:solidFill>
                  <a:srgbClr val="343F48"/>
                </a:solidFill>
                <a:effectLst/>
                <a:latin typeface="1883Sans"/>
              </a:rPr>
              <a:t>Two examples of consequentialism are </a:t>
            </a:r>
            <a:r>
              <a:rPr lang="en-US" sz="3200" b="1" i="0" u="sng" dirty="0">
                <a:solidFill>
                  <a:srgbClr val="343F48"/>
                </a:solidFill>
                <a:effectLst/>
                <a:latin typeface="1883Sans"/>
              </a:rPr>
              <a:t>utilitarianism</a:t>
            </a:r>
            <a:r>
              <a:rPr lang="en-US" sz="3200" b="0" i="0" dirty="0">
                <a:solidFill>
                  <a:srgbClr val="343F48"/>
                </a:solidFill>
                <a:effectLst/>
                <a:latin typeface="1883Sans"/>
              </a:rPr>
              <a:t> and </a:t>
            </a:r>
            <a:r>
              <a:rPr lang="en-US" sz="3200" b="1" i="0" u="sng" dirty="0">
                <a:solidFill>
                  <a:srgbClr val="343F48"/>
                </a:solidFill>
                <a:effectLst/>
                <a:latin typeface="1883Sans"/>
              </a:rPr>
              <a:t>hedonism.</a:t>
            </a:r>
          </a:p>
          <a:p>
            <a:r>
              <a:rPr lang="en-US" sz="3200" b="0" i="0" dirty="0">
                <a:solidFill>
                  <a:srgbClr val="343F48"/>
                </a:solidFill>
                <a:effectLst/>
                <a:latin typeface="1883Sans"/>
              </a:rPr>
              <a:t>Utilitarianism judges consequences by a “greatest good for the greatest number” standard. </a:t>
            </a:r>
          </a:p>
          <a:p>
            <a:r>
              <a:rPr lang="en-US" sz="3200" b="0" i="0" dirty="0">
                <a:solidFill>
                  <a:srgbClr val="343F48"/>
                </a:solidFill>
                <a:effectLst/>
                <a:latin typeface="1883Sans"/>
              </a:rPr>
              <a:t>Hedonism, on the other hand, says something is “good” if the consequence produces pleasure or avoids pain.</a:t>
            </a:r>
            <a:endParaRPr lang="en-US" sz="3200" dirty="0"/>
          </a:p>
        </p:txBody>
      </p:sp>
    </p:spTree>
    <p:extLst>
      <p:ext uri="{BB962C8B-B14F-4D97-AF65-F5344CB8AC3E}">
        <p14:creationId xmlns:p14="http://schemas.microsoft.com/office/powerpoint/2010/main" val="1216068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C1A6C-4C83-0BA5-31E5-7C7246A628F8}"/>
              </a:ext>
            </a:extLst>
          </p:cNvPr>
          <p:cNvSpPr>
            <a:spLocks noGrp="1"/>
          </p:cNvSpPr>
          <p:nvPr>
            <p:ph type="title"/>
          </p:nvPr>
        </p:nvSpPr>
        <p:spPr>
          <a:xfrm>
            <a:off x="1295402" y="982132"/>
            <a:ext cx="9985308" cy="1303867"/>
          </a:xfrm>
        </p:spPr>
        <p:txBody>
          <a:bodyPr/>
          <a:lstStyle/>
          <a:p>
            <a:r>
              <a:rPr lang="en-US" dirty="0"/>
              <a:t>CRITICISM OF CONSEQUENTIALISM</a:t>
            </a:r>
          </a:p>
        </p:txBody>
      </p:sp>
      <p:sp>
        <p:nvSpPr>
          <p:cNvPr id="3" name="Content Placeholder 2">
            <a:extLst>
              <a:ext uri="{FF2B5EF4-FFF2-40B4-BE49-F238E27FC236}">
                <a16:creationId xmlns:a16="http://schemas.microsoft.com/office/drawing/2014/main" id="{2820C816-BBB1-A2A6-3B8D-85ADCD4CD664}"/>
              </a:ext>
            </a:extLst>
          </p:cNvPr>
          <p:cNvSpPr>
            <a:spLocks noGrp="1"/>
          </p:cNvSpPr>
          <p:nvPr>
            <p:ph idx="1"/>
          </p:nvPr>
        </p:nvSpPr>
        <p:spPr>
          <a:xfrm>
            <a:off x="839755" y="2556932"/>
            <a:ext cx="10786188" cy="3318936"/>
          </a:xfrm>
        </p:spPr>
        <p:txBody>
          <a:bodyPr>
            <a:normAutofit/>
          </a:bodyPr>
          <a:lstStyle/>
          <a:p>
            <a:pPr algn="just"/>
            <a:r>
              <a:rPr lang="en-US" sz="2800" b="0" i="0" dirty="0">
                <a:solidFill>
                  <a:srgbClr val="343F48"/>
                </a:solidFill>
                <a:effectLst/>
                <a:latin typeface="1883Sans"/>
              </a:rPr>
              <a:t>Consequentialism is sometimes criticized because it can be difficult, or even impossible, to know what the result of an action will be ahead of time. </a:t>
            </a:r>
          </a:p>
          <a:p>
            <a:pPr algn="just"/>
            <a:r>
              <a:rPr lang="en-US" sz="2800" b="0" i="0" dirty="0">
                <a:solidFill>
                  <a:srgbClr val="343F48"/>
                </a:solidFill>
                <a:effectLst/>
                <a:latin typeface="1883Sans"/>
              </a:rPr>
              <a:t>Indeed, no one can know the future with certainty. Also, in certain situations, consequentialism can lead to decisions that are objectionable, even though the consequences are arguably good</a:t>
            </a:r>
            <a:endParaRPr lang="en-US" sz="2800" dirty="0"/>
          </a:p>
        </p:txBody>
      </p:sp>
    </p:spTree>
    <p:extLst>
      <p:ext uri="{BB962C8B-B14F-4D97-AF65-F5344CB8AC3E}">
        <p14:creationId xmlns:p14="http://schemas.microsoft.com/office/powerpoint/2010/main" val="157848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602D2-A779-8038-A98D-ACC78851D2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F989ED-63CD-B1CC-A442-792EFA7780D8}"/>
              </a:ext>
            </a:extLst>
          </p:cNvPr>
          <p:cNvSpPr>
            <a:spLocks noGrp="1"/>
          </p:cNvSpPr>
          <p:nvPr>
            <p:ph idx="1"/>
          </p:nvPr>
        </p:nvSpPr>
        <p:spPr>
          <a:xfrm>
            <a:off x="793102" y="2556932"/>
            <a:ext cx="10748865" cy="3318936"/>
          </a:xfrm>
        </p:spPr>
        <p:txBody>
          <a:bodyPr>
            <a:normAutofit/>
          </a:bodyPr>
          <a:lstStyle/>
          <a:p>
            <a:pPr algn="just"/>
            <a:r>
              <a:rPr lang="en-US" sz="2800" b="0" i="0" dirty="0">
                <a:solidFill>
                  <a:srgbClr val="343F48"/>
                </a:solidFill>
                <a:effectLst/>
                <a:latin typeface="1883Sans"/>
              </a:rPr>
              <a:t>For example, let’s suppose economists could prove that the world economy would be stronger, and that most people would be happier, healthier, and wealthier, if we just enslaved 2% of the population. </a:t>
            </a:r>
          </a:p>
          <a:p>
            <a:pPr algn="just"/>
            <a:r>
              <a:rPr lang="en-US" sz="2800" b="0" i="0" dirty="0">
                <a:solidFill>
                  <a:srgbClr val="343F48"/>
                </a:solidFill>
                <a:effectLst/>
                <a:latin typeface="1883Sans"/>
              </a:rPr>
              <a:t>Although the majority of people would benefit from this idea, most would never agree to it. However, when judging the idea solely on its results, as classic consequentialism does, then “the end justifies the means.”</a:t>
            </a:r>
            <a:endParaRPr lang="en-US" sz="2800" dirty="0"/>
          </a:p>
        </p:txBody>
      </p:sp>
    </p:spTree>
    <p:extLst>
      <p:ext uri="{BB962C8B-B14F-4D97-AF65-F5344CB8AC3E}">
        <p14:creationId xmlns:p14="http://schemas.microsoft.com/office/powerpoint/2010/main" val="62986165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224</TotalTime>
  <Words>2170</Words>
  <Application>Microsoft Office PowerPoint</Application>
  <PresentationFormat>Widescreen</PresentationFormat>
  <Paragraphs>106</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1883Sans</vt:lpstr>
      <vt:lpstr>Arial</vt:lpstr>
      <vt:lpstr>Garamond</vt:lpstr>
      <vt:lpstr>Wingdings</vt:lpstr>
      <vt:lpstr>Organic</vt:lpstr>
      <vt:lpstr>ETHICAL THEORIES </vt:lpstr>
      <vt:lpstr>UNIT :10 MEDICAL ETHICS AND PROFESSIONAL PRACTICE </vt:lpstr>
      <vt:lpstr>MEDICAL ETHICS AND PROFESSIONAL PRACTICE</vt:lpstr>
      <vt:lpstr>PHILOSOPHICAL BASIS OF MEDICAL ETHICS</vt:lpstr>
      <vt:lpstr>PHILOSOPHICAL BASIS OF MEDICAL ETHICS CONTINUES………..</vt:lpstr>
      <vt:lpstr>CONTINUATION……….</vt:lpstr>
      <vt:lpstr>PRINCIPALS OF MEDICAL ETHICS</vt:lpstr>
      <vt:lpstr>1. Beneficence</vt:lpstr>
      <vt:lpstr>2. AUTONOMY: </vt:lpstr>
      <vt:lpstr> 3. Non-maleficence  (to do no harm) </vt:lpstr>
      <vt:lpstr>difference btween non-maleficence to beneficence</vt:lpstr>
      <vt:lpstr>4. JUSTICE</vt:lpstr>
      <vt:lpstr>ETHICAL THEORIES:  1. DEONTOLOGY </vt:lpstr>
      <vt:lpstr>DEONTOLOGY ………… </vt:lpstr>
      <vt:lpstr>KANT AND THE THEORY OF DUTY</vt:lpstr>
      <vt:lpstr>Contin………….</vt:lpstr>
      <vt:lpstr>UTILITARIANISM</vt:lpstr>
      <vt:lpstr>Understanding Utilitarianism</vt:lpstr>
      <vt:lpstr>Utilitarian Ethics/ types</vt:lpstr>
      <vt:lpstr>PowerPoint Presentation</vt:lpstr>
      <vt:lpstr>The Limitations of Utilitarianism</vt:lpstr>
      <vt:lpstr>The Limitations of Utilitarianism</vt:lpstr>
      <vt:lpstr>CONSEQUENTIALISM</vt:lpstr>
      <vt:lpstr>CONSEQUENTIALISM</vt:lpstr>
      <vt:lpstr>CRITICISM OF CONSEQUENTIALISM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THEORIES </dc:title>
  <dc:creator>HP NoteBook 15s</dc:creator>
  <cp:lastModifiedBy>HP NoteBook 15s</cp:lastModifiedBy>
  <cp:revision>7</cp:revision>
  <dcterms:created xsi:type="dcterms:W3CDTF">2025-07-20T13:46:33Z</dcterms:created>
  <dcterms:modified xsi:type="dcterms:W3CDTF">2025-08-20T09:22:29Z</dcterms:modified>
</cp:coreProperties>
</file>