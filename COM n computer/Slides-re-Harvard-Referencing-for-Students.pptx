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56" r:id="rId5"/>
    <p:sldId id="303" r:id="rId6"/>
    <p:sldId id="269" r:id="rId7"/>
    <p:sldId id="272" r:id="rId8"/>
    <p:sldId id="273" r:id="rId9"/>
    <p:sldId id="285" r:id="rId10"/>
    <p:sldId id="275" r:id="rId11"/>
    <p:sldId id="276" r:id="rId12"/>
    <p:sldId id="277" r:id="rId13"/>
    <p:sldId id="278" r:id="rId14"/>
    <p:sldId id="263" r:id="rId15"/>
    <p:sldId id="270" r:id="rId16"/>
    <p:sldId id="271" r:id="rId17"/>
    <p:sldId id="279" r:id="rId18"/>
    <p:sldId id="280" r:id="rId19"/>
    <p:sldId id="301" r:id="rId20"/>
    <p:sldId id="281" r:id="rId21"/>
    <p:sldId id="282" r:id="rId22"/>
    <p:sldId id="299" r:id="rId23"/>
    <p:sldId id="302" r:id="rId24"/>
    <p:sldId id="304" r:id="rId25"/>
    <p:sldId id="305" r:id="rId26"/>
  </p:sldIdLst>
  <p:sldSz cx="9144000" cy="6858000" type="screen4x3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2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FF4DC-0B4F-4206-BD22-36BBDDDEDD1B}" type="datetimeFigureOut">
              <a:rPr lang="en-GB" smtClean="0"/>
              <a:t>29/02/2024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3C3CD-F2D0-4A9E-98C2-2F9A5702B7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927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5F436-1B41-4FC8-8F50-4BD61DF5F590}" type="datetimeFigureOut">
              <a:rPr lang="en-GB" smtClean="0"/>
              <a:pPr/>
              <a:t>29/02/2024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7925" y="1235075"/>
            <a:ext cx="444182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01E22-E37A-43F5-890E-B90D5A5F1BB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763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92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9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5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8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47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79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3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2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0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251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72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570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710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72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0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1C9F8-22BC-9E41-A87D-B3DD660088C1}" type="datetimeFigureOut">
              <a:rPr lang="en-US" smtClean="0"/>
              <a:pPr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9E289FA-EC2C-D641-983A-C3FEED6B5D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4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www.nhs.uk/Conditions/social-care-and-support-guide/Pages/how-can-i-get-social-care-support.aspx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oh.gov.uk/disabledguide/index.ht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hyperlink" Target="https://learningapps.org/watch?v=pr0g8sa0517" TargetMode="External"/><Relationship Id="rId2" Type="http://schemas.openxmlformats.org/officeDocument/2006/relationships/hyperlink" Target="http://learningapps.org/watch?v=pw2kyhob517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hyperlink" Target="http://learningapps.org/watch?v=pr0g8sa0517" TargetMode="External"/><Relationship Id="rId4" Type="http://schemas.openxmlformats.org/officeDocument/2006/relationships/hyperlink" Target="https://learningapps.org/watch?v=pw2kyhob517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45029"/>
            <a:ext cx="7772400" cy="2841171"/>
          </a:xfrm>
        </p:spPr>
        <p:txBody>
          <a:bodyPr>
            <a:normAutofit/>
          </a:bodyPr>
          <a:lstStyle/>
          <a:p>
            <a:r>
              <a:rPr lang="en-US" sz="6000" smtClean="0"/>
              <a:t>Harvard Referencing</a:t>
            </a:r>
            <a:endParaRPr lang="en-US" sz="6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556" y="4123945"/>
            <a:ext cx="2282877" cy="15148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656" y="3637058"/>
            <a:ext cx="2530288" cy="191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1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1913" y="2133600"/>
            <a:ext cx="7360920" cy="3777622"/>
          </a:xfrm>
        </p:spPr>
        <p:txBody>
          <a:bodyPr>
            <a:normAutofit/>
          </a:bodyPr>
          <a:lstStyle/>
          <a:p>
            <a:r>
              <a:rPr lang="en-GB" sz="2800" dirty="0" smtClean="0"/>
              <a:t>How would you rate your referencing skills? </a:t>
            </a:r>
          </a:p>
          <a:p>
            <a:endParaRPr lang="en-GB" sz="2800" dirty="0"/>
          </a:p>
          <a:p>
            <a:r>
              <a:rPr lang="en-GB" sz="2800" dirty="0" smtClean="0"/>
              <a:t>1 = Very bad</a:t>
            </a:r>
          </a:p>
          <a:p>
            <a:r>
              <a:rPr lang="en-GB" sz="2800" dirty="0" smtClean="0"/>
              <a:t>10 = Excellent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3812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 smtClean="0">
                <a:solidFill>
                  <a:srgbClr val="0070C0"/>
                </a:solidFill>
              </a:rPr>
              <a:t>Learning Objectives</a:t>
            </a:r>
            <a:endParaRPr lang="en-GB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2225" y="1581912"/>
            <a:ext cx="6742176" cy="4329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smtClean="0"/>
              <a:t>By the end of this session, you will be able to:</a:t>
            </a:r>
          </a:p>
          <a:p>
            <a:r>
              <a:rPr lang="en-GB" dirty="0" smtClean="0"/>
              <a:t>Describe the purpose of referencing</a:t>
            </a:r>
          </a:p>
          <a:p>
            <a:r>
              <a:rPr lang="en-GB" dirty="0" smtClean="0"/>
              <a:t>Reference </a:t>
            </a:r>
            <a:r>
              <a:rPr lang="en-GB" dirty="0"/>
              <a:t>books and websites within your </a:t>
            </a:r>
            <a:r>
              <a:rPr lang="en-GB" dirty="0" smtClean="0"/>
              <a:t>assignment</a:t>
            </a:r>
            <a:endParaRPr lang="en-GB" dirty="0"/>
          </a:p>
          <a:p>
            <a:r>
              <a:rPr lang="en-GB" dirty="0"/>
              <a:t>Create a </a:t>
            </a:r>
            <a:r>
              <a:rPr lang="en-GB" dirty="0" smtClean="0"/>
              <a:t>bibliography</a:t>
            </a:r>
          </a:p>
          <a:p>
            <a:r>
              <a:rPr lang="en-GB" dirty="0" smtClean="0"/>
              <a:t>Reflect on referencing abilities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Skills</a:t>
            </a:r>
          </a:p>
          <a:p>
            <a:pPr lvl="1"/>
            <a:r>
              <a:rPr lang="en-GB" dirty="0" smtClean="0"/>
              <a:t>Listening</a:t>
            </a:r>
          </a:p>
          <a:p>
            <a:pPr lvl="1"/>
            <a:r>
              <a:rPr lang="en-GB" dirty="0" smtClean="0"/>
              <a:t>Communication</a:t>
            </a:r>
          </a:p>
          <a:p>
            <a:pPr lvl="1"/>
            <a:r>
              <a:rPr lang="en-GB" dirty="0" smtClean="0"/>
              <a:t>Teamwork</a:t>
            </a:r>
          </a:p>
          <a:p>
            <a:pPr lvl="1"/>
            <a:endParaRPr lang="en-GB" dirty="0"/>
          </a:p>
          <a:p>
            <a:pPr>
              <a:buNone/>
            </a:pPr>
            <a:endParaRPr lang="en-GB" sz="3600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37" y="3725794"/>
            <a:ext cx="2507704" cy="188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09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539" y="0"/>
            <a:ext cx="8229600" cy="1143000"/>
          </a:xfrm>
        </p:spPr>
        <p:txBody>
          <a:bodyPr/>
          <a:lstStyle/>
          <a:p>
            <a:r>
              <a:rPr lang="en-GB" b="1" u="sng" dirty="0" smtClean="0"/>
              <a:t>What is Harvard Referencing?</a:t>
            </a:r>
            <a:endParaRPr lang="en-GB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2183" y="1143000"/>
            <a:ext cx="7195955" cy="2262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solidFill>
                  <a:srgbClr val="002060"/>
                </a:solidFill>
              </a:rPr>
              <a:t>The Harvard referencing system is a way of allowing your </a:t>
            </a:r>
            <a:r>
              <a:rPr lang="en-GB" sz="2800" dirty="0" smtClean="0">
                <a:solidFill>
                  <a:srgbClr val="002060"/>
                </a:solidFill>
              </a:rPr>
              <a:t>tutor </a:t>
            </a:r>
            <a:r>
              <a:rPr lang="en-GB" sz="2800" dirty="0">
                <a:solidFill>
                  <a:srgbClr val="002060"/>
                </a:solidFill>
              </a:rPr>
              <a:t>to see what sources of information you have used to put together your piece of work. </a:t>
            </a:r>
          </a:p>
          <a:p>
            <a:endParaRPr lang="en-GB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627631" y="4084475"/>
            <a:ext cx="6903721" cy="13482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3000" dirty="0" smtClean="0">
                <a:solidFill>
                  <a:srgbClr val="002060"/>
                </a:solidFill>
              </a:rPr>
              <a:t>A reference is giving credit to the author who wrote the ideas that you have used.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622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6231" y="134679"/>
            <a:ext cx="6718601" cy="1143000"/>
          </a:xfrm>
        </p:spPr>
        <p:txBody>
          <a:bodyPr/>
          <a:lstStyle/>
          <a:p>
            <a:r>
              <a:rPr lang="en-GB" b="1" u="sng" dirty="0" smtClean="0"/>
              <a:t>Why Reference?</a:t>
            </a:r>
            <a:endParaRPr lang="en-GB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207" y="1277679"/>
            <a:ext cx="6826649" cy="4783779"/>
          </a:xfrm>
        </p:spPr>
        <p:txBody>
          <a:bodyPr/>
          <a:lstStyle/>
          <a:p>
            <a:r>
              <a:rPr lang="en-GB" dirty="0" smtClean="0">
                <a:solidFill>
                  <a:srgbClr val="002060"/>
                </a:solidFill>
              </a:rPr>
              <a:t>Show you have done some reading/ research</a:t>
            </a:r>
            <a:endParaRPr lang="en-GB" dirty="0">
              <a:solidFill>
                <a:srgbClr val="002060"/>
              </a:solidFill>
            </a:endParaRPr>
          </a:p>
          <a:p>
            <a:r>
              <a:rPr lang="en-GB" dirty="0">
                <a:solidFill>
                  <a:srgbClr val="7030A0"/>
                </a:solidFill>
              </a:rPr>
              <a:t>Give work some authority/ credibility.</a:t>
            </a:r>
          </a:p>
          <a:p>
            <a:r>
              <a:rPr lang="en-GB" dirty="0">
                <a:solidFill>
                  <a:srgbClr val="002060"/>
                </a:solidFill>
              </a:rPr>
              <a:t>Show which resources were used – then you can go back to them if you need to</a:t>
            </a:r>
            <a:r>
              <a:rPr lang="en-GB" dirty="0" smtClean="0">
                <a:solidFill>
                  <a:srgbClr val="002060"/>
                </a:solidFill>
              </a:rPr>
              <a:t>.</a:t>
            </a:r>
          </a:p>
          <a:p>
            <a:r>
              <a:rPr lang="en-GB" dirty="0" smtClean="0">
                <a:solidFill>
                  <a:srgbClr val="7030A0"/>
                </a:solidFill>
              </a:rPr>
              <a:t>Practice for </a:t>
            </a:r>
            <a:r>
              <a:rPr lang="en-GB" dirty="0">
                <a:solidFill>
                  <a:srgbClr val="7030A0"/>
                </a:solidFill>
              </a:rPr>
              <a:t>Further </a:t>
            </a:r>
            <a:r>
              <a:rPr lang="en-GB" dirty="0" smtClean="0">
                <a:solidFill>
                  <a:srgbClr val="7030A0"/>
                </a:solidFill>
              </a:rPr>
              <a:t>/ Higher education.</a:t>
            </a:r>
            <a:endParaRPr lang="en-GB" dirty="0">
              <a:solidFill>
                <a:srgbClr val="7030A0"/>
              </a:solidFill>
            </a:endParaRPr>
          </a:p>
          <a:p>
            <a:r>
              <a:rPr lang="en-GB" dirty="0">
                <a:solidFill>
                  <a:srgbClr val="002060"/>
                </a:solidFill>
              </a:rPr>
              <a:t>Avoid plagiarism!</a:t>
            </a:r>
            <a:endParaRPr lang="en-US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70" y="3407000"/>
            <a:ext cx="2973158" cy="29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9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5536" y="624110"/>
            <a:ext cx="5388864" cy="1280890"/>
          </a:xfrm>
        </p:spPr>
        <p:txBody>
          <a:bodyPr/>
          <a:lstStyle/>
          <a:p>
            <a:r>
              <a:rPr lang="en-GB" b="1" u="sng" dirty="0" smtClean="0"/>
              <a:t>References</a:t>
            </a:r>
            <a:endParaRPr lang="en-GB" b="1" u="sng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155371" y="1287624"/>
            <a:ext cx="1306286" cy="1138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4564" y="2584580"/>
            <a:ext cx="34336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i="1" dirty="0" smtClean="0"/>
              <a:t>Inside</a:t>
            </a:r>
            <a:r>
              <a:rPr lang="en-GB" sz="2800" dirty="0" smtClean="0"/>
              <a:t> the essay as you are writing.</a:t>
            </a:r>
          </a:p>
          <a:p>
            <a:pPr algn="ctr"/>
            <a:r>
              <a:rPr lang="en-GB" sz="2800" b="1" dirty="0" smtClean="0"/>
              <a:t>In-text citations</a:t>
            </a:r>
            <a:endParaRPr lang="en-GB" sz="2800" b="1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505061" y="1417638"/>
            <a:ext cx="1091682" cy="1166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32311" y="2590075"/>
            <a:ext cx="34336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smtClean="0"/>
              <a:t>At the end of your essay under a list called a </a:t>
            </a:r>
            <a:r>
              <a:rPr lang="en-GB" sz="2800" b="1" dirty="0" smtClean="0"/>
              <a:t>Bibliography </a:t>
            </a:r>
            <a:r>
              <a:rPr lang="en-GB" sz="2800" dirty="0" smtClean="0"/>
              <a:t>or </a:t>
            </a:r>
            <a:r>
              <a:rPr lang="en-GB" sz="2800" b="1" dirty="0"/>
              <a:t>R</a:t>
            </a:r>
            <a:r>
              <a:rPr lang="en-GB" sz="2800" b="1" dirty="0" smtClean="0"/>
              <a:t>eference list</a:t>
            </a:r>
            <a:r>
              <a:rPr lang="en-GB" sz="2800" dirty="0" smtClean="0"/>
              <a:t>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88026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168" y="82387"/>
            <a:ext cx="7342632" cy="1606413"/>
          </a:xfrm>
        </p:spPr>
        <p:txBody>
          <a:bodyPr>
            <a:normAutofit fontScale="90000"/>
          </a:bodyPr>
          <a:lstStyle/>
          <a:p>
            <a:r>
              <a:rPr lang="en-GB" b="1" u="sng" dirty="0" smtClean="0">
                <a:solidFill>
                  <a:srgbClr val="002060"/>
                </a:solidFill>
              </a:rPr>
              <a:t>Referencing within your assignment</a:t>
            </a:r>
            <a:br>
              <a:rPr lang="en-GB" b="1" u="sng" dirty="0" smtClean="0">
                <a:solidFill>
                  <a:srgbClr val="002060"/>
                </a:solidFill>
              </a:rPr>
            </a:br>
            <a:r>
              <a:rPr lang="en-GB" b="1" u="sng" dirty="0" smtClean="0">
                <a:solidFill>
                  <a:srgbClr val="002060"/>
                </a:solidFill>
              </a:rPr>
              <a:t>(In-text citations)</a:t>
            </a:r>
            <a:endParaRPr lang="en-GB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191" y="1928347"/>
            <a:ext cx="6926673" cy="4250751"/>
          </a:xfrm>
        </p:spPr>
        <p:txBody>
          <a:bodyPr>
            <a:normAutofit/>
          </a:bodyPr>
          <a:lstStyle/>
          <a:p>
            <a:r>
              <a:rPr lang="en-GB" sz="2000" dirty="0" smtClean="0"/>
              <a:t>It is good practice to use references (</a:t>
            </a:r>
            <a:r>
              <a:rPr lang="en-GB" sz="2000" i="1" dirty="0" smtClean="0"/>
              <a:t>brief </a:t>
            </a:r>
            <a:r>
              <a:rPr lang="en-GB" sz="2000" dirty="0" smtClean="0"/>
              <a:t>quotes) in your work</a:t>
            </a:r>
          </a:p>
          <a:p>
            <a:pPr marL="0" indent="0">
              <a:buNone/>
            </a:pPr>
            <a:endParaRPr lang="en-GB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GB" sz="2000" dirty="0" smtClean="0"/>
              <a:t> When you take a direct quote from someone.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000" dirty="0" smtClean="0"/>
              <a:t>When you are putting it in your own words.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652" y="4078224"/>
            <a:ext cx="2132788" cy="182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4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776" y="106687"/>
            <a:ext cx="7050024" cy="1143000"/>
          </a:xfrm>
        </p:spPr>
        <p:txBody>
          <a:bodyPr>
            <a:normAutofit/>
          </a:bodyPr>
          <a:lstStyle/>
          <a:p>
            <a:r>
              <a:rPr lang="en-GB" b="1" u="sng" dirty="0" smtClean="0">
                <a:solidFill>
                  <a:srgbClr val="002060"/>
                </a:solidFill>
              </a:rPr>
              <a:t>In-text citations:</a:t>
            </a:r>
            <a:endParaRPr lang="en-GB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2184" y="1255790"/>
            <a:ext cx="7502932" cy="452596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GB" sz="2800" b="1" dirty="0"/>
              <a:t>Direct </a:t>
            </a:r>
            <a:r>
              <a:rPr lang="en-GB" sz="2800" b="1" dirty="0" smtClean="0"/>
              <a:t>quotations:</a:t>
            </a:r>
            <a:endParaRPr lang="en-GB" sz="2800" dirty="0"/>
          </a:p>
          <a:p>
            <a:pPr>
              <a:lnSpc>
                <a:spcPct val="80000"/>
              </a:lnSpc>
              <a:spcAft>
                <a:spcPct val="20000"/>
              </a:spcAft>
              <a:buNone/>
            </a:pPr>
            <a:r>
              <a:rPr lang="en-GB" sz="2800" dirty="0"/>
              <a:t>Jones (2012, p.245) stated that “many of the facts in this case are incorrect.” </a:t>
            </a:r>
          </a:p>
          <a:p>
            <a:pPr>
              <a:lnSpc>
                <a:spcPct val="80000"/>
              </a:lnSpc>
              <a:buNone/>
            </a:pPr>
            <a:r>
              <a:rPr lang="en-US" sz="2800" dirty="0"/>
              <a:t>or – “Many of the facts in this case are incorrect” (Jones, 2012, p.245).</a:t>
            </a:r>
          </a:p>
          <a:p>
            <a:pPr>
              <a:lnSpc>
                <a:spcPct val="80000"/>
              </a:lnSpc>
              <a:spcAft>
                <a:spcPct val="20000"/>
              </a:spcAft>
              <a:buNone/>
            </a:pPr>
            <a:endParaRPr lang="en-GB" sz="2800" b="1" dirty="0"/>
          </a:p>
          <a:p>
            <a:pPr>
              <a:lnSpc>
                <a:spcPct val="80000"/>
              </a:lnSpc>
              <a:buNone/>
            </a:pPr>
            <a:r>
              <a:rPr lang="en-GB" sz="2800" b="1" dirty="0"/>
              <a:t>Indirect </a:t>
            </a:r>
            <a:r>
              <a:rPr lang="en-GB" sz="2800" b="1" dirty="0" smtClean="0"/>
              <a:t>references (paraphrases):</a:t>
            </a:r>
            <a:endParaRPr lang="en-GB" sz="2800" dirty="0"/>
          </a:p>
          <a:p>
            <a:pPr>
              <a:lnSpc>
                <a:spcPct val="80000"/>
              </a:lnSpc>
              <a:buNone/>
            </a:pPr>
            <a:r>
              <a:rPr lang="en-GB" sz="2800" dirty="0"/>
              <a:t>It is important to consider the accuracy of all facts in each case as outlined by Jones (</a:t>
            </a:r>
            <a:r>
              <a:rPr lang="en-GB" sz="2800" dirty="0" smtClean="0"/>
              <a:t>2012, p.245). </a:t>
            </a:r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3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072" y="116017"/>
            <a:ext cx="6967728" cy="1059640"/>
          </a:xfrm>
        </p:spPr>
        <p:txBody>
          <a:bodyPr>
            <a:normAutofit/>
          </a:bodyPr>
          <a:lstStyle/>
          <a:p>
            <a:r>
              <a:rPr lang="en-GB" b="1" u="sng" dirty="0" smtClean="0">
                <a:solidFill>
                  <a:srgbClr val="002060"/>
                </a:solidFill>
              </a:rPr>
              <a:t>In-text citations</a:t>
            </a:r>
            <a:endParaRPr lang="en-GB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152" y="1208314"/>
            <a:ext cx="734935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GB" sz="2800" dirty="0" smtClean="0"/>
              <a:t>Put quotes in to your essay to help you make your points.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800" dirty="0"/>
              <a:t>Use quotes to back up your arguments.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800" dirty="0" smtClean="0"/>
              <a:t>Try and take quotes from books AND websites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23" y="3734125"/>
            <a:ext cx="3929204" cy="27799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490" y="3883104"/>
            <a:ext cx="2603574" cy="209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06687"/>
            <a:ext cx="6927980" cy="1143000"/>
          </a:xfrm>
        </p:spPr>
        <p:txBody>
          <a:bodyPr/>
          <a:lstStyle/>
          <a:p>
            <a:r>
              <a:rPr lang="en-GB" b="1" u="sng" dirty="0" smtClean="0">
                <a:solidFill>
                  <a:srgbClr val="002060"/>
                </a:solidFill>
              </a:rPr>
              <a:t>Bibliography/ Reference List</a:t>
            </a:r>
            <a:endParaRPr lang="en-GB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385596"/>
            <a:ext cx="7086600" cy="4525963"/>
          </a:xfrm>
        </p:spPr>
        <p:txBody>
          <a:bodyPr/>
          <a:lstStyle/>
          <a:p>
            <a:r>
              <a:rPr lang="en-GB" sz="2800" dirty="0"/>
              <a:t>References must be </a:t>
            </a:r>
            <a:r>
              <a:rPr lang="en-GB" sz="2800" dirty="0" smtClean="0"/>
              <a:t>listed </a:t>
            </a:r>
            <a:r>
              <a:rPr lang="en-GB" sz="2800" dirty="0"/>
              <a:t>in detail at the end of your work on a separate sheet  - </a:t>
            </a:r>
            <a:r>
              <a:rPr lang="en-GB" sz="2800" dirty="0" smtClean="0"/>
              <a:t>Bibliography or ‘reference list’</a:t>
            </a:r>
          </a:p>
          <a:p>
            <a:r>
              <a:rPr lang="en-GB" sz="2800" dirty="0" smtClean="0"/>
              <a:t>An alphabetical list by author.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358" y="3639312"/>
            <a:ext cx="3692402" cy="227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3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319" y="119168"/>
            <a:ext cx="7123957" cy="1162492"/>
          </a:xfrm>
        </p:spPr>
        <p:txBody>
          <a:bodyPr>
            <a:normAutofit/>
          </a:bodyPr>
          <a:lstStyle/>
          <a:p>
            <a:r>
              <a:rPr lang="en-GB" b="1" u="sng" dirty="0" smtClean="0">
                <a:solidFill>
                  <a:srgbClr val="002060"/>
                </a:solidFill>
              </a:rPr>
              <a:t>Books (Bibliography)</a:t>
            </a:r>
            <a:endParaRPr lang="en-GB" b="1" u="sng" dirty="0">
              <a:solidFill>
                <a:srgbClr val="002060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5" t="11151" r="6941" b="8001"/>
          <a:stretch/>
        </p:blipFill>
        <p:spPr>
          <a:xfrm>
            <a:off x="3066043" y="1710661"/>
            <a:ext cx="2803771" cy="4082894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1873770" y="1948721"/>
            <a:ext cx="1349115" cy="209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869814" y="2728210"/>
            <a:ext cx="905740" cy="254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2128603" y="5051685"/>
            <a:ext cx="1094282" cy="374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75554" y="2486294"/>
            <a:ext cx="2172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Title</a:t>
            </a:r>
            <a:endParaRPr lang="en-GB" sz="2800" dirty="0"/>
          </a:p>
        </p:txBody>
      </p:sp>
      <p:sp>
        <p:nvSpPr>
          <p:cNvPr id="22" name="TextBox 21"/>
          <p:cNvSpPr txBox="1"/>
          <p:nvPr/>
        </p:nvSpPr>
        <p:spPr>
          <a:xfrm>
            <a:off x="689549" y="1948721"/>
            <a:ext cx="1470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Edition</a:t>
            </a:r>
            <a:endParaRPr lang="en-GB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1234440" y="4445301"/>
            <a:ext cx="1607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Author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1271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548"/>
            <a:ext cx="8229600" cy="1143000"/>
          </a:xfrm>
        </p:spPr>
        <p:txBody>
          <a:bodyPr/>
          <a:lstStyle/>
          <a:p>
            <a:r>
              <a:rPr lang="en-GB" b="1" u="sng" dirty="0" smtClean="0">
                <a:solidFill>
                  <a:srgbClr val="002060"/>
                </a:solidFill>
              </a:rPr>
              <a:t>Books (Bibliography)</a:t>
            </a:r>
            <a:endParaRPr lang="en-GB" b="1" u="sng" dirty="0">
              <a:solidFill>
                <a:srgbClr val="00206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9154" y="1970101"/>
            <a:ext cx="2578308" cy="38248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068" y="1970101"/>
            <a:ext cx="2546389" cy="3824844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914400" y="1708879"/>
            <a:ext cx="509666" cy="704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6265889" y="1791324"/>
            <a:ext cx="974360" cy="504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6640643" y="3477718"/>
            <a:ext cx="989350" cy="179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835" y="1154243"/>
            <a:ext cx="1800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Publisher</a:t>
            </a:r>
            <a:endParaRPr lang="en-GB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7210268" y="1415853"/>
            <a:ext cx="1798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Year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7210268" y="3192905"/>
            <a:ext cx="193373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     </a:t>
            </a:r>
            <a:r>
              <a:rPr lang="en-GB" sz="2400" dirty="0" smtClean="0"/>
              <a:t>Place of publication (town/city)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3313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 smtClean="0">
                <a:solidFill>
                  <a:srgbClr val="002060"/>
                </a:solidFill>
              </a:rPr>
              <a:t>Books and </a:t>
            </a:r>
            <a:r>
              <a:rPr lang="en-GB" b="1" u="sng" dirty="0" err="1" smtClean="0">
                <a:solidFill>
                  <a:srgbClr val="002060"/>
                </a:solidFill>
              </a:rPr>
              <a:t>ebooks</a:t>
            </a:r>
            <a:r>
              <a:rPr lang="en-GB" b="1" u="sng" dirty="0" smtClean="0">
                <a:solidFill>
                  <a:srgbClr val="002060"/>
                </a:solidFill>
              </a:rPr>
              <a:t> (Bibliography)</a:t>
            </a:r>
            <a:endParaRPr lang="en-GB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3625" y="2133600"/>
            <a:ext cx="6970776" cy="3777622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GB" sz="2400" dirty="0" smtClean="0"/>
              <a:t>Author’s surname, </a:t>
            </a:r>
            <a:r>
              <a:rPr lang="en-GB" sz="2400" dirty="0"/>
              <a:t>Initial. (</a:t>
            </a:r>
            <a:r>
              <a:rPr lang="en-GB" sz="2400" dirty="0" smtClean="0"/>
              <a:t>Year </a:t>
            </a:r>
            <a:r>
              <a:rPr lang="en-GB" sz="2400" dirty="0"/>
              <a:t>of </a:t>
            </a:r>
            <a:r>
              <a:rPr lang="en-GB" sz="2400" dirty="0" smtClean="0"/>
              <a:t>Publication)</a:t>
            </a:r>
          </a:p>
          <a:p>
            <a:pPr>
              <a:lnSpc>
                <a:spcPct val="80000"/>
              </a:lnSpc>
              <a:buNone/>
            </a:pPr>
            <a:r>
              <a:rPr lang="en-GB" sz="2400" i="1" dirty="0" smtClean="0"/>
              <a:t>Title in italics</a:t>
            </a:r>
            <a:r>
              <a:rPr lang="en-GB" sz="2400" dirty="0" smtClean="0"/>
              <a:t>. edition</a:t>
            </a:r>
            <a:r>
              <a:rPr lang="en-GB" sz="2400" dirty="0"/>
              <a:t>. Place of </a:t>
            </a:r>
            <a:r>
              <a:rPr lang="en-GB" sz="2400" dirty="0" smtClean="0"/>
              <a:t>publication:</a:t>
            </a:r>
          </a:p>
          <a:p>
            <a:pPr>
              <a:lnSpc>
                <a:spcPct val="80000"/>
              </a:lnSpc>
              <a:buNone/>
            </a:pPr>
            <a:r>
              <a:rPr lang="en-GB" sz="2400" dirty="0" smtClean="0"/>
              <a:t>Publisher</a:t>
            </a:r>
            <a:r>
              <a:rPr lang="en-GB" sz="2400" dirty="0"/>
              <a:t>.</a:t>
            </a:r>
          </a:p>
          <a:p>
            <a:pPr>
              <a:lnSpc>
                <a:spcPct val="80000"/>
              </a:lnSpc>
              <a:buNone/>
            </a:pPr>
            <a:endParaRPr lang="en-GB" sz="2400" dirty="0"/>
          </a:p>
          <a:p>
            <a:pPr>
              <a:lnSpc>
                <a:spcPct val="80000"/>
              </a:lnSpc>
              <a:buNone/>
            </a:pPr>
            <a:r>
              <a:rPr lang="en-GB" sz="2400" u="sng" dirty="0"/>
              <a:t>e.g.</a:t>
            </a:r>
          </a:p>
          <a:p>
            <a:pPr>
              <a:lnSpc>
                <a:spcPct val="80000"/>
              </a:lnSpc>
              <a:buNone/>
            </a:pPr>
            <a:r>
              <a:rPr lang="en-US" sz="2400" dirty="0"/>
              <a:t>Ham, C. (2009) </a:t>
            </a:r>
            <a:r>
              <a:rPr lang="en-US" sz="2400" i="1" dirty="0"/>
              <a:t>Health Policy in Britain</a:t>
            </a:r>
            <a:r>
              <a:rPr lang="en-US" sz="2400" dirty="0"/>
              <a:t>. 6th </a:t>
            </a:r>
            <a:r>
              <a:rPr lang="en-US" sz="2400" dirty="0" err="1" smtClean="0"/>
              <a:t>edn</a:t>
            </a:r>
            <a:r>
              <a:rPr lang="en-US" sz="2400" dirty="0" smtClean="0"/>
              <a:t>.</a:t>
            </a:r>
          </a:p>
          <a:p>
            <a:pPr>
              <a:lnSpc>
                <a:spcPct val="80000"/>
              </a:lnSpc>
              <a:buNone/>
            </a:pPr>
            <a:r>
              <a:rPr lang="en-US" sz="2400" dirty="0" smtClean="0"/>
              <a:t>Basingstoke</a:t>
            </a:r>
            <a:r>
              <a:rPr lang="en-US" sz="2400" dirty="0"/>
              <a:t>: Palgrave.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17" y="4855464"/>
            <a:ext cx="1942239" cy="172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7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40" y="0"/>
            <a:ext cx="6929846" cy="1143000"/>
          </a:xfrm>
        </p:spPr>
        <p:txBody>
          <a:bodyPr/>
          <a:lstStyle/>
          <a:p>
            <a:r>
              <a:rPr lang="en-GB" b="1" u="sng" dirty="0">
                <a:solidFill>
                  <a:srgbClr val="002060"/>
                </a:solidFill>
              </a:rPr>
              <a:t>Four or more authors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3624" y="1236307"/>
            <a:ext cx="7057862" cy="4525963"/>
          </a:xfrm>
        </p:spPr>
        <p:txBody>
          <a:bodyPr>
            <a:normAutofit/>
          </a:bodyPr>
          <a:lstStyle/>
          <a:p>
            <a:r>
              <a:rPr lang="en-GB" sz="2400" dirty="0"/>
              <a:t>‘</a:t>
            </a:r>
            <a:r>
              <a:rPr lang="en-GB" sz="2400" i="1" dirty="0"/>
              <a:t>et al</a:t>
            </a:r>
            <a:r>
              <a:rPr lang="en-GB" sz="2400" dirty="0"/>
              <a:t>’ means ‘and others’. </a:t>
            </a:r>
            <a:endParaRPr lang="en-GB" sz="2400" dirty="0" smtClean="0"/>
          </a:p>
          <a:p>
            <a:pPr marL="0" indent="0">
              <a:buNone/>
            </a:pPr>
            <a:r>
              <a:rPr lang="en-GB" sz="2400" dirty="0" smtClean="0"/>
              <a:t>Chaffey </a:t>
            </a:r>
            <a:r>
              <a:rPr lang="en-GB" sz="2400" i="1" dirty="0"/>
              <a:t>et </a:t>
            </a:r>
            <a:r>
              <a:rPr lang="en-GB" sz="2400" i="1" dirty="0" smtClean="0"/>
              <a:t>al</a:t>
            </a:r>
            <a:r>
              <a:rPr lang="en-GB" sz="2400" dirty="0" smtClean="0"/>
              <a:t>. </a:t>
            </a:r>
            <a:r>
              <a:rPr lang="en-GB" sz="2400" dirty="0"/>
              <a:t>(2011, p. 85) state that……</a:t>
            </a:r>
          </a:p>
          <a:p>
            <a:endParaRPr lang="en-GB" sz="2400" dirty="0"/>
          </a:p>
          <a:p>
            <a:r>
              <a:rPr lang="en-GB" sz="2400" dirty="0"/>
              <a:t>You must put </a:t>
            </a:r>
            <a:r>
              <a:rPr lang="en-GB" sz="2400" b="1" dirty="0"/>
              <a:t>all </a:t>
            </a:r>
            <a:r>
              <a:rPr lang="en-GB" sz="2400" dirty="0"/>
              <a:t>authors in your bibliography.</a:t>
            </a:r>
          </a:p>
          <a:p>
            <a:pPr marL="0" indent="0">
              <a:buNone/>
            </a:pPr>
            <a:r>
              <a:rPr lang="en-GB" sz="2400" dirty="0"/>
              <a:t>Chaffey, D., Mayer, R., Johnstone, K. and Ellis-Chadwick, F. (2011) </a:t>
            </a:r>
            <a:r>
              <a:rPr lang="en-GB" sz="2400" i="1" dirty="0"/>
              <a:t>Marketing. </a:t>
            </a:r>
            <a:r>
              <a:rPr lang="en-GB" sz="2400" dirty="0"/>
              <a:t>London: Penguin.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227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952" y="89908"/>
            <a:ext cx="7142459" cy="1143000"/>
          </a:xfrm>
        </p:spPr>
        <p:txBody>
          <a:bodyPr/>
          <a:lstStyle/>
          <a:p>
            <a:r>
              <a:rPr lang="en-GB" b="1" u="sng" dirty="0">
                <a:solidFill>
                  <a:srgbClr val="002060"/>
                </a:solidFill>
              </a:rPr>
              <a:t>Referencing Websites</a:t>
            </a:r>
          </a:p>
        </p:txBody>
      </p:sp>
      <p:pic>
        <p:nvPicPr>
          <p:cNvPr id="4" name="Picture 3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327" y="1494639"/>
            <a:ext cx="5401657" cy="473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6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1" r="-4811" b="30784"/>
          <a:stretch/>
        </p:blipFill>
        <p:spPr>
          <a:xfrm>
            <a:off x="2265218" y="547892"/>
            <a:ext cx="6733309" cy="28737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92" t="8191" r="1141" b="56623"/>
          <a:stretch/>
        </p:blipFill>
        <p:spPr>
          <a:xfrm>
            <a:off x="2265218" y="3403224"/>
            <a:ext cx="6382328" cy="14210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2569" y="1162409"/>
            <a:ext cx="2242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Author of webpage</a:t>
            </a:r>
            <a:endParaRPr lang="en-GB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250657" y="-9238"/>
            <a:ext cx="3006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Electronic address</a:t>
            </a:r>
            <a:endParaRPr lang="en-GB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25765" y="3967649"/>
            <a:ext cx="1874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Year of publication</a:t>
            </a:r>
            <a:endParaRPr lang="en-GB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782618" y="5181600"/>
            <a:ext cx="3925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Date you accessed the source</a:t>
            </a:r>
            <a:endParaRPr lang="en-GB" sz="24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899087" y="414951"/>
            <a:ext cx="221673" cy="249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1632527" y="1170537"/>
            <a:ext cx="2041555" cy="526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914237" y="4336610"/>
            <a:ext cx="1969700" cy="238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559" y="2550740"/>
            <a:ext cx="1545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/>
              <a:t>Title of webpage</a:t>
            </a:r>
            <a:endParaRPr lang="en-GB" sz="2000" dirty="0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1683945" y="2375221"/>
            <a:ext cx="1955548" cy="567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063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 smtClean="0">
                <a:solidFill>
                  <a:srgbClr val="002060"/>
                </a:solidFill>
              </a:rPr>
              <a:t>Website (Bibliography)</a:t>
            </a:r>
            <a:endParaRPr lang="en-GB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545336"/>
            <a:ext cx="6591985" cy="436588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400" dirty="0" smtClean="0"/>
              <a:t>Author </a:t>
            </a:r>
            <a:r>
              <a:rPr lang="en-GB" sz="2400" dirty="0"/>
              <a:t>(</a:t>
            </a:r>
            <a:r>
              <a:rPr lang="en-GB" sz="2400" dirty="0" smtClean="0"/>
              <a:t>Year </a:t>
            </a:r>
            <a:r>
              <a:rPr lang="en-GB" sz="2400" dirty="0"/>
              <a:t>of publication) </a:t>
            </a:r>
            <a:r>
              <a:rPr lang="en-GB" sz="2400" i="1" dirty="0"/>
              <a:t>Title in italics.</a:t>
            </a:r>
            <a:r>
              <a:rPr lang="en-GB" sz="2400" dirty="0"/>
              <a:t> Available </a:t>
            </a:r>
            <a:r>
              <a:rPr lang="en-GB" sz="2400" dirty="0" smtClean="0"/>
              <a:t>at: </a:t>
            </a:r>
            <a:r>
              <a:rPr lang="en-GB" sz="2400" dirty="0"/>
              <a:t>web </a:t>
            </a:r>
            <a:r>
              <a:rPr lang="en-GB" sz="2400" dirty="0" smtClean="0"/>
              <a:t>link (Date accessed).</a:t>
            </a:r>
            <a:endParaRPr lang="en-GB" sz="2400" dirty="0"/>
          </a:p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US" sz="2400" dirty="0" smtClean="0"/>
              <a:t>Department of Health (2016) </a:t>
            </a:r>
            <a:r>
              <a:rPr lang="en-US" sz="2400" i="1" dirty="0" smtClean="0"/>
              <a:t>A practical guide for disabled people or </a:t>
            </a:r>
            <a:r>
              <a:rPr lang="en-US" sz="2400" i="1" dirty="0" err="1" smtClean="0"/>
              <a:t>carers</a:t>
            </a:r>
            <a:r>
              <a:rPr lang="en-US" sz="2400" i="1" dirty="0" smtClean="0"/>
              <a:t>. </a:t>
            </a:r>
            <a:r>
              <a:rPr lang="en-US" sz="2400" dirty="0" smtClean="0"/>
              <a:t>Available at: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hlinkClick r:id="rId2"/>
              </a:rPr>
              <a:t>http://www.doh.gov.uk/disabledguide/index.htm</a:t>
            </a:r>
            <a:r>
              <a:rPr lang="en-US" sz="2400" dirty="0" smtClean="0"/>
              <a:t> (Accessed: 26 May 2016).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4509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u="sng" dirty="0">
                <a:solidFill>
                  <a:srgbClr val="002060"/>
                </a:solidFill>
              </a:rPr>
              <a:t>Referencing a Website within your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/>
              <a:t>Use </a:t>
            </a:r>
            <a:r>
              <a:rPr lang="en-GB" sz="2400" dirty="0"/>
              <a:t>the name of the person or organisation responsible for the </a:t>
            </a:r>
            <a:r>
              <a:rPr lang="en-GB" sz="2400" dirty="0" smtClean="0"/>
              <a:t>site.</a:t>
            </a:r>
          </a:p>
          <a:p>
            <a:r>
              <a:rPr lang="en-GB" sz="2400" dirty="0" smtClean="0"/>
              <a:t>Use the </a:t>
            </a:r>
            <a:r>
              <a:rPr lang="en-GB" sz="2400" dirty="0"/>
              <a:t>date of the site's creation or most recent update</a:t>
            </a:r>
            <a:r>
              <a:rPr lang="en-GB" sz="2400" dirty="0" smtClean="0"/>
              <a:t>.</a:t>
            </a:r>
            <a:endParaRPr lang="en-GB" sz="2400" dirty="0"/>
          </a:p>
          <a:p>
            <a:r>
              <a:rPr lang="en-GB" sz="2400" dirty="0"/>
              <a:t>Example: NHS </a:t>
            </a:r>
            <a:r>
              <a:rPr lang="en-GB" sz="2400" dirty="0" smtClean="0"/>
              <a:t>states</a:t>
            </a:r>
            <a:r>
              <a:rPr lang="en-GB" sz="2400" dirty="0"/>
              <a:t>…(</a:t>
            </a:r>
            <a:r>
              <a:rPr lang="en-GB" sz="2400" dirty="0" smtClean="0"/>
              <a:t>2019) </a:t>
            </a:r>
            <a:endParaRPr lang="en-GB" sz="2400" dirty="0"/>
          </a:p>
          <a:p>
            <a:r>
              <a:rPr lang="en-GB" sz="2400" dirty="0"/>
              <a:t>Example: (BBC, </a:t>
            </a:r>
            <a:r>
              <a:rPr lang="en-GB" sz="2400" dirty="0" smtClean="0"/>
              <a:t>2019)</a:t>
            </a:r>
          </a:p>
          <a:p>
            <a:r>
              <a:rPr lang="en-US" sz="2400" dirty="0" smtClean="0"/>
              <a:t>Example: (</a:t>
            </a:r>
            <a:r>
              <a:rPr lang="en-US" sz="2400" dirty="0" err="1" smtClean="0"/>
              <a:t>DoH</a:t>
            </a:r>
            <a:r>
              <a:rPr lang="en-US" sz="2400" dirty="0" smtClean="0"/>
              <a:t>, N/D)</a:t>
            </a:r>
            <a:endParaRPr lang="en-GB" sz="2400" dirty="0" smtClean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126" y="3837482"/>
            <a:ext cx="1850690" cy="185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4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129"/>
            <a:ext cx="8229600" cy="1143000"/>
          </a:xfrm>
        </p:spPr>
        <p:txBody>
          <a:bodyPr/>
          <a:lstStyle/>
          <a:p>
            <a:r>
              <a:rPr lang="en-GB" b="1" dirty="0" smtClean="0"/>
              <a:t>Two types of referencing</a:t>
            </a:r>
            <a:endParaRPr lang="en-GB" b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0659" y="1268072"/>
            <a:ext cx="4233646" cy="2163777"/>
          </a:xfrm>
        </p:spPr>
        <p:txBody>
          <a:bodyPr>
            <a:noAutofit/>
          </a:bodyPr>
          <a:lstStyle/>
          <a:p>
            <a:r>
              <a:rPr lang="en-GB" b="1" dirty="0" smtClean="0"/>
              <a:t>In-text citations (within your work)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27" y="1174517"/>
            <a:ext cx="4897924" cy="2356982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220659" y="4268721"/>
            <a:ext cx="6940632" cy="21637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 smtClean="0"/>
              <a:t>Bibliography </a:t>
            </a:r>
          </a:p>
          <a:p>
            <a:pPr marL="0" indent="0">
              <a:buNone/>
            </a:pPr>
            <a:r>
              <a:rPr lang="en-GB" sz="2400" b="1" dirty="0" smtClean="0"/>
              <a:t>(or Reference list)</a:t>
            </a:r>
            <a:endParaRPr lang="en-GB" sz="2400" b="1" dirty="0"/>
          </a:p>
        </p:txBody>
      </p:sp>
      <p:sp>
        <p:nvSpPr>
          <p:cNvPr id="9" name="Right Arrow 8"/>
          <p:cNvSpPr/>
          <p:nvPr/>
        </p:nvSpPr>
        <p:spPr>
          <a:xfrm>
            <a:off x="3422211" y="1530329"/>
            <a:ext cx="667118" cy="204289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3241052" y="4471156"/>
            <a:ext cx="667118" cy="204289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4119326" y="3840480"/>
            <a:ext cx="4693748" cy="1815882"/>
          </a:xfrm>
          <a:prstGeom prst="rect">
            <a:avLst/>
          </a:prstGeom>
          <a:solidFill>
            <a:srgbClr val="F2F0EC"/>
          </a:solidFill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Cohen, L., Manion, L. and Morrison, K. (2011) </a:t>
            </a:r>
            <a:r>
              <a:rPr lang="en-GB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Research Methods in Education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 7</a:t>
            </a:r>
            <a:r>
              <a:rPr lang="en-GB" sz="16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edn. London: Routledge.</a:t>
            </a:r>
          </a:p>
          <a:p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Pritchard, A. (2008) </a:t>
            </a:r>
            <a:r>
              <a:rPr lang="en-GB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Ways of Learning. Learning Theories and Learning Style in the Classroom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 2</a:t>
            </a:r>
            <a:r>
              <a:rPr lang="en-GB" sz="16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edn. Oxon: </a:t>
            </a:r>
            <a:r>
              <a:rPr lang="en-GB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Routledge</a:t>
            </a:r>
            <a:r>
              <a:rPr lang="en-GB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94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8216" y="274638"/>
            <a:ext cx="6958584" cy="1918056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tx2"/>
                </a:solidFill>
              </a:rPr>
              <a:t>Quick test:</a:t>
            </a:r>
            <a:br>
              <a:rPr lang="en-GB" b="1" dirty="0">
                <a:solidFill>
                  <a:schemeClr val="tx2"/>
                </a:solidFill>
              </a:rPr>
            </a:br>
            <a:r>
              <a:rPr lang="en-GB" b="1" dirty="0">
                <a:solidFill>
                  <a:schemeClr val="tx2"/>
                </a:solidFill>
              </a:rPr>
              <a:t>Can you reference books and websites?</a:t>
            </a:r>
            <a:endParaRPr lang="en-GB" dirty="0"/>
          </a:p>
        </p:txBody>
      </p:sp>
      <p:pic>
        <p:nvPicPr>
          <p:cNvPr id="4" name="Picture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825" y="2687216"/>
            <a:ext cx="1547326" cy="17871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86827" y="4662162"/>
            <a:ext cx="1310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dirty="0">
                <a:hlinkClick r:id="rId4"/>
              </a:rPr>
              <a:t>Books</a:t>
            </a:r>
            <a:endParaRPr lang="en-GB" sz="3600" dirty="0"/>
          </a:p>
        </p:txBody>
      </p:sp>
      <p:pic>
        <p:nvPicPr>
          <p:cNvPr id="6" name="Picture 5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102" y="2687216"/>
            <a:ext cx="2202256" cy="17728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67740" y="4734994"/>
            <a:ext cx="20065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>
                <a:hlinkClick r:id="rId7"/>
              </a:rPr>
              <a:t>Websites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340722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Task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Once you have tried to reference a book and a website ask a peer to check your reference </a:t>
            </a:r>
          </a:p>
          <a:p>
            <a:endParaRPr lang="en-GB" sz="2400" dirty="0"/>
          </a:p>
          <a:p>
            <a:r>
              <a:rPr lang="en-GB" sz="2400" dirty="0" smtClean="0"/>
              <a:t>Then ask your tutor to check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53699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Reflection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3353" y="2133600"/>
            <a:ext cx="6861048" cy="3777622"/>
          </a:xfrm>
        </p:spPr>
        <p:txBody>
          <a:bodyPr>
            <a:normAutofit/>
          </a:bodyPr>
          <a:lstStyle/>
          <a:p>
            <a:r>
              <a:rPr lang="en-GB" sz="2400" dirty="0" smtClean="0"/>
              <a:t>Now how </a:t>
            </a:r>
            <a:r>
              <a:rPr lang="en-GB" sz="2400" dirty="0"/>
              <a:t>would you rate your referencing skills? </a:t>
            </a:r>
          </a:p>
          <a:p>
            <a:endParaRPr lang="en-GB" sz="2400" dirty="0"/>
          </a:p>
          <a:p>
            <a:r>
              <a:rPr lang="en-GB" sz="2400" dirty="0"/>
              <a:t>1 = Very bad</a:t>
            </a:r>
          </a:p>
          <a:p>
            <a:r>
              <a:rPr lang="en-GB" sz="2400" dirty="0"/>
              <a:t>10 = Excellent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95451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0b5d85f-9a2e-4a94-8039-868817ff50f3" xsi:nil="true"/>
    <lcf76f155ced4ddcb4097134ff3c332f xmlns="4f27e99f-991a-466d-b58e-6bf4ce9711c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02A8C96F4764C8BFB648CA9CB6174" ma:contentTypeVersion="10" ma:contentTypeDescription="Create a new document." ma:contentTypeScope="" ma:versionID="c16ce144c3e76bafedf262f346dded85">
  <xsd:schema xmlns:xsd="http://www.w3.org/2001/XMLSchema" xmlns:xs="http://www.w3.org/2001/XMLSchema" xmlns:p="http://schemas.microsoft.com/office/2006/metadata/properties" xmlns:ns2="4f27e99f-991a-466d-b58e-6bf4ce9711c8" xmlns:ns3="30b5d85f-9a2e-4a94-8039-868817ff50f3" targetNamespace="http://schemas.microsoft.com/office/2006/metadata/properties" ma:root="true" ma:fieldsID="39f936025900133b3b3d96caf2f78cce" ns2:_="" ns3:_="">
    <xsd:import namespace="4f27e99f-991a-466d-b58e-6bf4ce9711c8"/>
    <xsd:import namespace="30b5d85f-9a2e-4a94-8039-868817ff50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27e99f-991a-466d-b58e-6bf4ce9711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156fe24-2a20-4062-93bc-769619014a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b5d85f-9a2e-4a94-8039-868817ff50f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57d5d70-d53c-4bbc-be42-59353fef2a4c}" ma:internalName="TaxCatchAll" ma:showField="CatchAllData" ma:web="30b5d85f-9a2e-4a94-8039-868817ff50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7D03B5-7241-4371-9250-A90265360B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68E9D3-E44E-472D-9969-4F7387062CC6}">
  <ds:schemaRefs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elements/1.1/"/>
    <ds:schemaRef ds:uri="30b5d85f-9a2e-4a94-8039-868817ff50f3"/>
    <ds:schemaRef ds:uri="http://schemas.microsoft.com/office/infopath/2007/PartnerControls"/>
    <ds:schemaRef ds:uri="http://schemas.openxmlformats.org/package/2006/metadata/core-properties"/>
    <ds:schemaRef ds:uri="4f27e99f-991a-466d-b58e-6bf4ce9711c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1390E22-C772-455D-BCAD-14034F5B0F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27e99f-991a-466d-b58e-6bf4ce9711c8"/>
    <ds:schemaRef ds:uri="30b5d85f-9a2e-4a94-8039-868817ff50f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2088</TotalTime>
  <Words>714</Words>
  <Application>Microsoft Office PowerPoint</Application>
  <PresentationFormat>On-screen Show (4:3)</PresentationFormat>
  <Paragraphs>109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Century Gothic</vt:lpstr>
      <vt:lpstr>Wingdings</vt:lpstr>
      <vt:lpstr>Wingdings 3</vt:lpstr>
      <vt:lpstr>Wisp</vt:lpstr>
      <vt:lpstr>Harvard Referencing</vt:lpstr>
      <vt:lpstr>Referencing</vt:lpstr>
      <vt:lpstr>Learning Objectives</vt:lpstr>
      <vt:lpstr>What is Harvard Referencing?</vt:lpstr>
      <vt:lpstr>Why Reference?</vt:lpstr>
      <vt:lpstr>References</vt:lpstr>
      <vt:lpstr>Referencing within your assignment (In-text citations)</vt:lpstr>
      <vt:lpstr>In-text citations:</vt:lpstr>
      <vt:lpstr>In-text citations</vt:lpstr>
      <vt:lpstr>Bibliography/ Reference List</vt:lpstr>
      <vt:lpstr>Books (Bibliography)</vt:lpstr>
      <vt:lpstr>Books (Bibliography)</vt:lpstr>
      <vt:lpstr>Books and ebooks (Bibliography)</vt:lpstr>
      <vt:lpstr>Four or more authors</vt:lpstr>
      <vt:lpstr>Referencing Websites</vt:lpstr>
      <vt:lpstr>PowerPoint Presentation</vt:lpstr>
      <vt:lpstr>Website (Bibliography)</vt:lpstr>
      <vt:lpstr>Referencing a Website within your assignment</vt:lpstr>
      <vt:lpstr>Two types of referencing</vt:lpstr>
      <vt:lpstr>Quick test: Can you reference books and websites?</vt:lpstr>
      <vt:lpstr>Task</vt:lpstr>
      <vt:lpstr>Reflection</vt:lpstr>
    </vt:vector>
  </TitlesOfParts>
  <Company>Preston College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Wrigley</dc:creator>
  <cp:lastModifiedBy>Microsoft account</cp:lastModifiedBy>
  <cp:revision>126</cp:revision>
  <cp:lastPrinted>2022-02-21T15:38:07Z</cp:lastPrinted>
  <dcterms:created xsi:type="dcterms:W3CDTF">2014-11-28T13:01:36Z</dcterms:created>
  <dcterms:modified xsi:type="dcterms:W3CDTF">2024-02-29T08:05:26Z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0x010100D1402A8C96F4764C8BFB648CA9CB6174</vt:lpwstr>
  </property>
</Properties>
</file>