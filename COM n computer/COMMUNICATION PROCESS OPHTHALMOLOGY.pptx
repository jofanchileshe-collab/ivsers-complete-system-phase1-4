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6/5/2023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6/5/2023</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petemwenya@yahoo.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544129"/>
            <a:ext cx="6815669" cy="1842536"/>
          </a:xfrm>
        </p:spPr>
        <p:txBody>
          <a:bodyPr/>
          <a:lstStyle/>
          <a:p>
            <a:r>
              <a:rPr lang="en-US" sz="3600" b="1" dirty="0"/>
              <a:t>COMMUNICATION PROCESS </a:t>
            </a:r>
            <a:r>
              <a:rPr lang="en-US" dirty="0"/>
              <a:t/>
            </a:r>
            <a:br>
              <a:rPr lang="en-US" dirty="0"/>
            </a:br>
            <a:endParaRPr lang="en-US" dirty="0"/>
          </a:p>
        </p:txBody>
      </p:sp>
      <p:sp>
        <p:nvSpPr>
          <p:cNvPr id="3" name="Subtitle 2"/>
          <p:cNvSpPr>
            <a:spLocks noGrp="1"/>
          </p:cNvSpPr>
          <p:nvPr>
            <p:ph type="subTitle" idx="1"/>
          </p:nvPr>
        </p:nvSpPr>
        <p:spPr>
          <a:xfrm>
            <a:off x="2501660" y="3657597"/>
            <a:ext cx="7185804" cy="1552758"/>
          </a:xfrm>
        </p:spPr>
        <p:txBody>
          <a:bodyPr>
            <a:normAutofit lnSpcReduction="10000"/>
          </a:bodyPr>
          <a:lstStyle/>
          <a:p>
            <a:r>
              <a:rPr lang="en-US" sz="2200" b="1" dirty="0" smtClean="0"/>
              <a:t>PREPARED BY: MR. MWENYA PETER</a:t>
            </a:r>
          </a:p>
          <a:p>
            <a:r>
              <a:rPr lang="en-US" dirty="0" smtClean="0"/>
              <a:t>BSc OSH, PGD HP, BA PHILO, MSc BA Generic, MSc PH in progress </a:t>
            </a:r>
            <a:endParaRPr lang="en-US" dirty="0"/>
          </a:p>
          <a:p>
            <a:r>
              <a:rPr lang="en-US" dirty="0" smtClean="0"/>
              <a:t>Contact details: 0970869683. </a:t>
            </a:r>
            <a:r>
              <a:rPr lang="en-US" dirty="0" smtClean="0"/>
              <a:t> </a:t>
            </a:r>
            <a:r>
              <a:rPr lang="en-US" dirty="0" smtClean="0">
                <a:hlinkClick r:id="rId2"/>
              </a:rPr>
              <a:t>petemwenya@yahoo.com</a:t>
            </a:r>
            <a:r>
              <a:rPr lang="en-US" dirty="0" smtClean="0"/>
              <a:t> </a:t>
            </a:r>
            <a:endParaRPr lang="en-US" dirty="0" smtClean="0"/>
          </a:p>
        </p:txBody>
      </p:sp>
    </p:spTree>
    <p:extLst>
      <p:ext uri="{BB962C8B-B14F-4D97-AF65-F5344CB8AC3E}">
        <p14:creationId xmlns:p14="http://schemas.microsoft.com/office/powerpoint/2010/main" val="1766219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COMMUNICATION PROCESS </a:t>
            </a:r>
            <a:r>
              <a:rPr lang="en-US" dirty="0"/>
              <a:t/>
            </a:r>
            <a:br>
              <a:rPr lang="en-US" dirty="0"/>
            </a:br>
            <a:endParaRPr lang="en-US" dirty="0"/>
          </a:p>
        </p:txBody>
      </p:sp>
      <p:sp>
        <p:nvSpPr>
          <p:cNvPr id="3" name="Content Placeholder 2"/>
          <p:cNvSpPr>
            <a:spLocks noGrp="1"/>
          </p:cNvSpPr>
          <p:nvPr>
            <p:ph idx="1"/>
          </p:nvPr>
        </p:nvSpPr>
        <p:spPr>
          <a:xfrm>
            <a:off x="1295401" y="2346385"/>
            <a:ext cx="9601196" cy="3821502"/>
          </a:xfrm>
        </p:spPr>
        <p:txBody>
          <a:bodyPr>
            <a:noAutofit/>
          </a:bodyPr>
          <a:lstStyle/>
          <a:p>
            <a:pPr algn="just">
              <a:buFont typeface="Wingdings" panose="05000000000000000000" pitchFamily="2" charset="2"/>
              <a:buChar char="q"/>
            </a:pPr>
            <a:r>
              <a:rPr lang="en-US" sz="2800" dirty="0" smtClean="0"/>
              <a:t>Communication </a:t>
            </a:r>
            <a:r>
              <a:rPr lang="en-US" sz="2800" dirty="0"/>
              <a:t>as a process is moving, continually changing, with no beginning or end. </a:t>
            </a:r>
            <a:endParaRPr lang="en-US" sz="2800" dirty="0" smtClean="0"/>
          </a:p>
          <a:p>
            <a:pPr algn="just">
              <a:buFont typeface="Wingdings" panose="05000000000000000000" pitchFamily="2" charset="2"/>
              <a:buChar char="q"/>
            </a:pPr>
            <a:r>
              <a:rPr lang="en-US" sz="2800" dirty="0" smtClean="0"/>
              <a:t>In </a:t>
            </a:r>
            <a:r>
              <a:rPr lang="en-US" sz="2800" dirty="0"/>
              <a:t>our definition, communication is a process—something that is continually changing. Individual words, sentences, and gestures have no meaning in isolation. </a:t>
            </a:r>
            <a:endParaRPr lang="en-US" sz="2800" dirty="0" smtClean="0"/>
          </a:p>
          <a:p>
            <a:pPr algn="just">
              <a:buFont typeface="Wingdings" panose="05000000000000000000" pitchFamily="2" charset="2"/>
              <a:buChar char="q"/>
            </a:pPr>
            <a:r>
              <a:rPr lang="en-US" sz="2800" dirty="0" smtClean="0"/>
              <a:t>They </a:t>
            </a:r>
            <a:r>
              <a:rPr lang="en-US" sz="2800" dirty="0"/>
              <a:t>make sense only when viewed as parts of an on-going, dynamic process.</a:t>
            </a:r>
          </a:p>
        </p:txBody>
      </p:sp>
    </p:spTree>
    <p:extLst>
      <p:ext uri="{BB962C8B-B14F-4D97-AF65-F5344CB8AC3E}">
        <p14:creationId xmlns:p14="http://schemas.microsoft.com/office/powerpoint/2010/main" val="1408656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715992"/>
            <a:ext cx="9601196" cy="1570007"/>
          </a:xfrm>
        </p:spPr>
        <p:txBody>
          <a:bodyPr>
            <a:normAutofit fontScale="90000"/>
          </a:bodyPr>
          <a:lstStyle/>
          <a:p>
            <a:r>
              <a:rPr lang="en-US" sz="3100" b="1" dirty="0" smtClean="0"/>
              <a:t/>
            </a:r>
            <a:br>
              <a:rPr lang="en-US" sz="3100" b="1" dirty="0" smtClean="0"/>
            </a:br>
            <a:r>
              <a:rPr lang="en-US" sz="3100" b="1" dirty="0"/>
              <a:t/>
            </a:r>
            <a:br>
              <a:rPr lang="en-US" sz="3100" b="1" dirty="0"/>
            </a:br>
            <a:r>
              <a:rPr lang="en-US" sz="3100" b="1" dirty="0" smtClean="0"/>
              <a:t/>
            </a:r>
            <a:br>
              <a:rPr lang="en-US" sz="3100" b="1" dirty="0" smtClean="0"/>
            </a:br>
            <a:r>
              <a:rPr lang="en-US" sz="3600" b="1" dirty="0" smtClean="0"/>
              <a:t>COMPONENTS </a:t>
            </a:r>
            <a:r>
              <a:rPr lang="en-US" sz="3600" b="1" dirty="0"/>
              <a:t>OF THE PROCESS OF COMMUNICATION </a:t>
            </a:r>
            <a:r>
              <a:rPr lang="en-US" dirty="0"/>
              <a:t/>
            </a:r>
            <a:br>
              <a:rPr lang="en-US" dirty="0"/>
            </a:br>
            <a:endParaRPr lang="en-US" dirty="0"/>
          </a:p>
        </p:txBody>
      </p:sp>
      <p:sp>
        <p:nvSpPr>
          <p:cNvPr id="3" name="Content Placeholder 2"/>
          <p:cNvSpPr>
            <a:spLocks noGrp="1"/>
          </p:cNvSpPr>
          <p:nvPr>
            <p:ph idx="1"/>
          </p:nvPr>
        </p:nvSpPr>
        <p:spPr>
          <a:xfrm>
            <a:off x="1295401" y="2406771"/>
            <a:ext cx="9601196" cy="3804248"/>
          </a:xfrm>
        </p:spPr>
        <p:txBody>
          <a:bodyPr>
            <a:normAutofit fontScale="85000" lnSpcReduction="10000"/>
          </a:bodyPr>
          <a:lstStyle/>
          <a:p>
            <a:pPr marL="0" indent="0">
              <a:buNone/>
            </a:pPr>
            <a:r>
              <a:rPr lang="en-US" b="1" dirty="0"/>
              <a:t>There are seven elements or factors which make up the process of communication:</a:t>
            </a:r>
            <a:r>
              <a:rPr lang="en-US" dirty="0"/>
              <a:t> </a:t>
            </a:r>
          </a:p>
          <a:p>
            <a:r>
              <a:rPr lang="en-US" dirty="0"/>
              <a:t>1. Source /Sender, is the one who initiates the action of communicating </a:t>
            </a:r>
          </a:p>
          <a:p>
            <a:r>
              <a:rPr lang="en-US" dirty="0"/>
              <a:t>2. Audience /Receiver is the person(s) for whom the communication is intended </a:t>
            </a:r>
          </a:p>
          <a:p>
            <a:r>
              <a:rPr lang="en-US" dirty="0"/>
              <a:t>3. Goal/Purpose is the sender's reason for communicating, the desired result of the communication</a:t>
            </a:r>
          </a:p>
          <a:p>
            <a:r>
              <a:rPr lang="en-US" dirty="0"/>
              <a:t> 4. Message/ Content is the information </a:t>
            </a:r>
            <a:r>
              <a:rPr lang="en-US" dirty="0" smtClean="0"/>
              <a:t>conveyed.  </a:t>
            </a:r>
            <a:endParaRPr lang="en-US" dirty="0"/>
          </a:p>
          <a:p>
            <a:r>
              <a:rPr lang="en-US" dirty="0"/>
              <a:t>5. Medium /Channel is the means or method used for conveying the message </a:t>
            </a:r>
          </a:p>
          <a:p>
            <a:r>
              <a:rPr lang="en-US" dirty="0"/>
              <a:t>6. Feedback is the receiver's response to the communication as observed by the sender </a:t>
            </a:r>
          </a:p>
          <a:p>
            <a:r>
              <a:rPr lang="en-US" dirty="0"/>
              <a:t>7. Environment /Context is the background in which the communication takes place</a:t>
            </a:r>
          </a:p>
        </p:txBody>
      </p:sp>
    </p:spTree>
    <p:extLst>
      <p:ext uri="{BB962C8B-B14F-4D97-AF65-F5344CB8AC3E}">
        <p14:creationId xmlns:p14="http://schemas.microsoft.com/office/powerpoint/2010/main" val="1511156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1. SOURCE </a:t>
            </a:r>
          </a:p>
          <a:p>
            <a:pPr>
              <a:buFont typeface="Wingdings" panose="05000000000000000000" pitchFamily="2" charset="2"/>
              <a:buChar char="Ø"/>
            </a:pPr>
            <a:r>
              <a:rPr lang="en-US" dirty="0" smtClean="0"/>
              <a:t>The </a:t>
            </a:r>
            <a:r>
              <a:rPr lang="en-US" dirty="0"/>
              <a:t>source is the originator of the message. It is the person or persons who want to communicate a message to another person or a group of people. </a:t>
            </a:r>
            <a:endParaRPr lang="en-US" dirty="0" smtClean="0"/>
          </a:p>
          <a:p>
            <a:pPr>
              <a:buFont typeface="Wingdings" panose="05000000000000000000" pitchFamily="2" charset="2"/>
              <a:buChar char="Ø"/>
            </a:pPr>
            <a:r>
              <a:rPr lang="en-US" dirty="0" smtClean="0"/>
              <a:t>The </a:t>
            </a:r>
            <a:r>
              <a:rPr lang="en-US" dirty="0"/>
              <a:t>source of a message can be an individual speaker addressing a group, a child asking for candy, a couple sending out invitations to a family reunion, or a person writing a </a:t>
            </a:r>
            <a:r>
              <a:rPr lang="en-US" dirty="0" smtClean="0"/>
              <a:t>letter. </a:t>
            </a:r>
            <a:endParaRPr lang="en-US" dirty="0"/>
          </a:p>
        </p:txBody>
      </p:sp>
    </p:spTree>
    <p:extLst>
      <p:ext uri="{BB962C8B-B14F-4D97-AF65-F5344CB8AC3E}">
        <p14:creationId xmlns:p14="http://schemas.microsoft.com/office/powerpoint/2010/main" val="29448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2.ENCODING </a:t>
            </a:r>
          </a:p>
          <a:p>
            <a:pPr algn="just">
              <a:buFont typeface="Wingdings" panose="05000000000000000000" pitchFamily="2" charset="2"/>
              <a:buChar char="Ø"/>
            </a:pPr>
            <a:r>
              <a:rPr lang="en-US" sz="2800" dirty="0" smtClean="0"/>
              <a:t>Once </a:t>
            </a:r>
            <a:r>
              <a:rPr lang="en-US" sz="2800" dirty="0"/>
              <a:t>the source has decided on a message to communicate, he must encode or convert that idea, thought, or feeling into verbal and nonverbal symbols that will be most effectively understood by the receiver. </a:t>
            </a:r>
            <a:endParaRPr lang="en-US" sz="2800" dirty="0" smtClean="0"/>
          </a:p>
          <a:p>
            <a:pPr algn="just">
              <a:buFont typeface="Wingdings" panose="05000000000000000000" pitchFamily="2" charset="2"/>
              <a:buChar char="Ø"/>
            </a:pPr>
            <a:r>
              <a:rPr lang="en-US" sz="2800" dirty="0" smtClean="0"/>
              <a:t>This </a:t>
            </a:r>
            <a:r>
              <a:rPr lang="en-US" sz="2800" dirty="0"/>
              <a:t>encoding process can be extremely creative because there are unlimited ways for the source to convert the idea or feeling into words and </a:t>
            </a:r>
            <a:r>
              <a:rPr lang="en-US" sz="2800" dirty="0" err="1"/>
              <a:t>behaviours</a:t>
            </a:r>
            <a:r>
              <a:rPr lang="en-US" sz="2800" dirty="0"/>
              <a:t>. </a:t>
            </a:r>
          </a:p>
          <a:p>
            <a:endParaRPr lang="en-US" dirty="0"/>
          </a:p>
        </p:txBody>
      </p:sp>
    </p:spTree>
    <p:extLst>
      <p:ext uri="{BB962C8B-B14F-4D97-AF65-F5344CB8AC3E}">
        <p14:creationId xmlns:p14="http://schemas.microsoft.com/office/powerpoint/2010/main" val="2075625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buNone/>
            </a:pPr>
            <a:r>
              <a:rPr lang="en-US" sz="2800" b="1" dirty="0" smtClean="0"/>
              <a:t>3. MESSAGE </a:t>
            </a:r>
            <a:endParaRPr lang="en-US" sz="2800" dirty="0" smtClean="0"/>
          </a:p>
          <a:p>
            <a:pPr algn="just">
              <a:buFont typeface="Wingdings" panose="05000000000000000000" pitchFamily="2" charset="2"/>
              <a:buChar char="Ø"/>
            </a:pPr>
            <a:r>
              <a:rPr lang="en-US" sz="2800" dirty="0" smtClean="0"/>
              <a:t>The </a:t>
            </a:r>
            <a:r>
              <a:rPr lang="en-US" sz="2800" dirty="0"/>
              <a:t>message is the idea, thought, or feeling that the source wants to communicate. </a:t>
            </a:r>
            <a:endParaRPr lang="en-US" sz="2800" dirty="0" smtClean="0"/>
          </a:p>
          <a:p>
            <a:pPr algn="just">
              <a:buFont typeface="Wingdings" panose="05000000000000000000" pitchFamily="2" charset="2"/>
              <a:buChar char="Ø"/>
            </a:pPr>
            <a:r>
              <a:rPr lang="en-US" sz="2800" dirty="0" smtClean="0"/>
              <a:t>This </a:t>
            </a:r>
            <a:r>
              <a:rPr lang="en-US" sz="2800" dirty="0"/>
              <a:t>message is encoded or converted into verbal and nonverbal symbols that will most likely be understood by the receiver</a:t>
            </a:r>
          </a:p>
        </p:txBody>
      </p:sp>
    </p:spTree>
    <p:extLst>
      <p:ext uri="{BB962C8B-B14F-4D97-AF65-F5344CB8AC3E}">
        <p14:creationId xmlns:p14="http://schemas.microsoft.com/office/powerpoint/2010/main" val="501563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buNone/>
            </a:pPr>
            <a:r>
              <a:rPr lang="en-US" sz="2800" b="1" dirty="0"/>
              <a:t>4</a:t>
            </a:r>
            <a:r>
              <a:rPr lang="en-US" sz="2800" b="1" dirty="0" smtClean="0"/>
              <a:t>. RECEIVER </a:t>
            </a:r>
            <a:endParaRPr lang="en-US" sz="2800" dirty="0" smtClean="0"/>
          </a:p>
          <a:p>
            <a:pPr algn="just">
              <a:buFont typeface="Wingdings" panose="05000000000000000000" pitchFamily="2" charset="2"/>
              <a:buChar char="Ø"/>
            </a:pPr>
            <a:r>
              <a:rPr lang="en-US" sz="2800" dirty="0" smtClean="0"/>
              <a:t>The </a:t>
            </a:r>
            <a:r>
              <a:rPr lang="en-US" sz="2800" dirty="0"/>
              <a:t>receiver is the recipient of the message. </a:t>
            </a:r>
            <a:endParaRPr lang="en-US" sz="2800" dirty="0" smtClean="0"/>
          </a:p>
          <a:p>
            <a:pPr algn="just">
              <a:buFont typeface="Wingdings" panose="05000000000000000000" pitchFamily="2" charset="2"/>
              <a:buChar char="Ø"/>
            </a:pPr>
            <a:r>
              <a:rPr lang="en-US" sz="2800" dirty="0" smtClean="0"/>
              <a:t>The </a:t>
            </a:r>
            <a:r>
              <a:rPr lang="en-US" sz="2800" dirty="0"/>
              <a:t>receiver can be an individual or a group of people. </a:t>
            </a:r>
            <a:endParaRPr lang="en-US" sz="2800" dirty="0" smtClean="0"/>
          </a:p>
          <a:p>
            <a:pPr algn="just">
              <a:buFont typeface="Wingdings" panose="05000000000000000000" pitchFamily="2" charset="2"/>
              <a:buChar char="Ø"/>
            </a:pPr>
            <a:r>
              <a:rPr lang="en-US" sz="2800" dirty="0" smtClean="0"/>
              <a:t>Once </a:t>
            </a:r>
            <a:r>
              <a:rPr lang="en-US" sz="2800" dirty="0"/>
              <a:t>the receiver hears the words and receives the nonverbal cues from the sender, she must interpret or decode them if communication is to occur</a:t>
            </a:r>
          </a:p>
        </p:txBody>
      </p:sp>
    </p:spTree>
    <p:extLst>
      <p:ext uri="{BB962C8B-B14F-4D97-AF65-F5344CB8AC3E}">
        <p14:creationId xmlns:p14="http://schemas.microsoft.com/office/powerpoint/2010/main" val="524441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marL="0" indent="0">
              <a:buNone/>
            </a:pPr>
            <a:r>
              <a:rPr lang="en-US" sz="2800" b="1" dirty="0" smtClean="0"/>
              <a:t>DECODING </a:t>
            </a:r>
            <a:endParaRPr lang="en-US" sz="2800" dirty="0" smtClean="0"/>
          </a:p>
          <a:p>
            <a:pPr algn="just">
              <a:buFont typeface="Wingdings" panose="05000000000000000000" pitchFamily="2" charset="2"/>
              <a:buChar char="Ø"/>
            </a:pPr>
            <a:r>
              <a:rPr lang="en-US" sz="3000" dirty="0" smtClean="0"/>
              <a:t>Decoding </a:t>
            </a:r>
            <a:r>
              <a:rPr lang="en-US" sz="3000" dirty="0"/>
              <a:t>is the process of making sense out of the message received. </a:t>
            </a:r>
            <a:endParaRPr lang="en-US" sz="3000" dirty="0" smtClean="0"/>
          </a:p>
          <a:p>
            <a:pPr algn="just">
              <a:buFont typeface="Wingdings" panose="05000000000000000000" pitchFamily="2" charset="2"/>
              <a:buChar char="Ø"/>
            </a:pPr>
            <a:r>
              <a:rPr lang="en-US" sz="3000" dirty="0" smtClean="0"/>
              <a:t>The </a:t>
            </a:r>
            <a:r>
              <a:rPr lang="en-US" sz="3000" dirty="0"/>
              <a:t>receiver must decipher the language and </a:t>
            </a:r>
            <a:r>
              <a:rPr lang="en-US" sz="3000" dirty="0" err="1"/>
              <a:t>behaviours</a:t>
            </a:r>
            <a:r>
              <a:rPr lang="en-US" sz="3000" dirty="0"/>
              <a:t> sent by the source so they will have meaning. </a:t>
            </a:r>
            <a:endParaRPr lang="en-US" sz="3000" dirty="0" smtClean="0"/>
          </a:p>
          <a:p>
            <a:pPr algn="just">
              <a:buFont typeface="Wingdings" panose="05000000000000000000" pitchFamily="2" charset="2"/>
              <a:buChar char="Ø"/>
            </a:pPr>
            <a:r>
              <a:rPr lang="en-US" sz="3000" dirty="0" smtClean="0"/>
              <a:t>After </a:t>
            </a:r>
            <a:r>
              <a:rPr lang="en-US" sz="3000" dirty="0"/>
              <a:t>the receiver decodes the message, the receiver (now the source) can encode a return message and send it back to the other person. </a:t>
            </a:r>
          </a:p>
          <a:p>
            <a:endParaRPr lang="en-US" dirty="0"/>
          </a:p>
        </p:txBody>
      </p:sp>
    </p:spTree>
    <p:extLst>
      <p:ext uri="{BB962C8B-B14F-4D97-AF65-F5344CB8AC3E}">
        <p14:creationId xmlns:p14="http://schemas.microsoft.com/office/powerpoint/2010/main" val="3952350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3"/>
            <a:ext cx="9601196" cy="717272"/>
          </a:xfrm>
        </p:spPr>
        <p:txBody>
          <a:bodyPr>
            <a:normAutofit fontScale="90000"/>
          </a:bodyPr>
          <a:lstStyle/>
          <a:p>
            <a:endParaRPr lang="en-US" dirty="0"/>
          </a:p>
        </p:txBody>
      </p:sp>
      <p:sp>
        <p:nvSpPr>
          <p:cNvPr id="3" name="Content Placeholder 2"/>
          <p:cNvSpPr>
            <a:spLocks noGrp="1"/>
          </p:cNvSpPr>
          <p:nvPr>
            <p:ph idx="1"/>
          </p:nvPr>
        </p:nvSpPr>
        <p:spPr>
          <a:xfrm>
            <a:off x="940279" y="2285999"/>
            <a:ext cx="9956318" cy="4080295"/>
          </a:xfrm>
        </p:spPr>
        <p:txBody>
          <a:bodyPr>
            <a:noAutofit/>
          </a:bodyPr>
          <a:lstStyle/>
          <a:p>
            <a:pPr marL="0" indent="0">
              <a:buNone/>
            </a:pPr>
            <a:endParaRPr lang="en-US" sz="2000" b="1" dirty="0" smtClean="0"/>
          </a:p>
          <a:p>
            <a:pPr marL="0" indent="0">
              <a:buNone/>
            </a:pPr>
            <a:r>
              <a:rPr lang="en-US" sz="2000" b="1" dirty="0" smtClean="0"/>
              <a:t>CHANNEL </a:t>
            </a:r>
            <a:endParaRPr lang="en-US" sz="2000" dirty="0" smtClean="0"/>
          </a:p>
          <a:p>
            <a:pPr algn="just">
              <a:buFont typeface="Wingdings" panose="05000000000000000000" pitchFamily="2" charset="2"/>
              <a:buChar char="Ø"/>
            </a:pPr>
            <a:r>
              <a:rPr lang="en-US" dirty="0" smtClean="0"/>
              <a:t>A </a:t>
            </a:r>
            <a:r>
              <a:rPr lang="en-US" dirty="0"/>
              <a:t>channel is the medium by which the message is communicated. </a:t>
            </a:r>
            <a:r>
              <a:rPr lang="en-US" dirty="0" smtClean="0"/>
              <a:t>The </a:t>
            </a:r>
            <a:r>
              <a:rPr lang="en-US" dirty="0"/>
              <a:t>source can utilize the channels of sight, sound, touch, smell, and taste. For instance, if you want to communicate affection for another person, you can utilize a variety of channels or combination of channels. You can say, “I like you”  (sound). You can give a hug (touch</a:t>
            </a:r>
            <a:r>
              <a:rPr lang="en-US" dirty="0" smtClean="0"/>
              <a:t>). </a:t>
            </a:r>
          </a:p>
          <a:p>
            <a:pPr algn="just">
              <a:buFont typeface="Wingdings" panose="05000000000000000000" pitchFamily="2" charset="2"/>
              <a:buChar char="Ø"/>
            </a:pPr>
            <a:r>
              <a:rPr lang="en-US" dirty="0" smtClean="0"/>
              <a:t>You </a:t>
            </a:r>
            <a:r>
              <a:rPr lang="en-US" dirty="0"/>
              <a:t>can creatively select the channels of communication to productively communicate your message. </a:t>
            </a:r>
          </a:p>
          <a:p>
            <a:endParaRPr lang="en-US" sz="2000" dirty="0"/>
          </a:p>
        </p:txBody>
      </p:sp>
    </p:spTree>
    <p:extLst>
      <p:ext uri="{BB962C8B-B14F-4D97-AF65-F5344CB8AC3E}">
        <p14:creationId xmlns:p14="http://schemas.microsoft.com/office/powerpoint/2010/main" val="3189473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7</a:t>
            </a:r>
            <a:r>
              <a:rPr lang="en-US" b="1" dirty="0" smtClean="0"/>
              <a:t>. CONTEXT/ENVIRONMENT </a:t>
            </a:r>
            <a:endParaRPr lang="en-US" dirty="0" smtClean="0"/>
          </a:p>
          <a:p>
            <a:pPr algn="just">
              <a:buFont typeface="Wingdings" panose="05000000000000000000" pitchFamily="2" charset="2"/>
              <a:buChar char="Ø"/>
            </a:pPr>
            <a:r>
              <a:rPr lang="en-US" sz="2800" dirty="0" smtClean="0"/>
              <a:t>All </a:t>
            </a:r>
            <a:r>
              <a:rPr lang="en-US" sz="2800" dirty="0"/>
              <a:t>communication occurs within a certain context. The context is made up of the physical surroundings, the occasion in which the communication occurs, the time, the number of people present, noise level, and many other variables that can influence and affect the encoding and decoding of messages. </a:t>
            </a:r>
          </a:p>
        </p:txBody>
      </p:sp>
    </p:spTree>
    <p:extLst>
      <p:ext uri="{BB962C8B-B14F-4D97-AF65-F5344CB8AC3E}">
        <p14:creationId xmlns:p14="http://schemas.microsoft.com/office/powerpoint/2010/main" val="1347282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lgn="just">
              <a:buNone/>
            </a:pPr>
            <a:r>
              <a:rPr lang="en-US" b="1" dirty="0" smtClean="0"/>
              <a:t>8</a:t>
            </a:r>
            <a:r>
              <a:rPr lang="en-US" sz="2800" b="1" dirty="0" smtClean="0"/>
              <a:t>. FEEDBACK </a:t>
            </a:r>
            <a:endParaRPr lang="en-US" sz="2800" dirty="0" smtClean="0"/>
          </a:p>
          <a:p>
            <a:pPr algn="just">
              <a:buFont typeface="Wingdings" panose="05000000000000000000" pitchFamily="2" charset="2"/>
              <a:buChar char="Ø"/>
            </a:pPr>
            <a:r>
              <a:rPr lang="en-US" sz="2800" dirty="0" smtClean="0"/>
              <a:t>The </a:t>
            </a:r>
            <a:r>
              <a:rPr lang="en-US" sz="2800" dirty="0"/>
              <a:t>receiver also feels a reaction to the message; this reaction may be conscious or unconscious; it may cause some change in the receiver's facial expression. </a:t>
            </a:r>
            <a:endParaRPr lang="en-US" sz="2800" dirty="0" smtClean="0"/>
          </a:p>
          <a:p>
            <a:pPr algn="just">
              <a:buFont typeface="Wingdings" panose="05000000000000000000" pitchFamily="2" charset="2"/>
              <a:buChar char="Ø"/>
            </a:pPr>
            <a:r>
              <a:rPr lang="en-US" sz="2800" dirty="0" smtClean="0"/>
              <a:t>It </a:t>
            </a:r>
            <a:r>
              <a:rPr lang="en-US" sz="2800" dirty="0"/>
              <a:t>definitely leads the receiver to think. The receiver may take some action, if required. He may also reply to the message. The response and/or reply is feedback. Receiver's functions complete one cycle of the process of communication. </a:t>
            </a:r>
          </a:p>
          <a:p>
            <a:endParaRPr lang="en-US" dirty="0"/>
          </a:p>
        </p:txBody>
      </p:sp>
    </p:spTree>
    <p:extLst>
      <p:ext uri="{BB962C8B-B14F-4D97-AF65-F5344CB8AC3E}">
        <p14:creationId xmlns:p14="http://schemas.microsoft.com/office/powerpoint/2010/main" val="167788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b="1" dirty="0"/>
              <a:t>BARRIERS TO EFFECTIVE COMMUNICATI0N </a:t>
            </a:r>
            <a:r>
              <a:rPr lang="en-US" sz="3100" dirty="0"/>
              <a:t/>
            </a:r>
            <a:br>
              <a:rPr lang="en-US" sz="3100"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t>Commination </a:t>
            </a:r>
            <a:r>
              <a:rPr lang="en-US" dirty="0"/>
              <a:t>is not always successful. Several things can prevent the message from reaching ' the intended recipient or from "having the desired effect on the </a:t>
            </a:r>
            <a:r>
              <a:rPr lang="en-US" dirty="0" smtClean="0"/>
              <a:t>recipient</a:t>
            </a:r>
          </a:p>
          <a:p>
            <a:pPr marL="0" indent="0">
              <a:buNone/>
            </a:pPr>
            <a:r>
              <a:rPr lang="en-US" dirty="0" smtClean="0"/>
              <a:t>The following are the Barriers to Effective Communication</a:t>
            </a:r>
            <a:endParaRPr lang="en-US" dirty="0"/>
          </a:p>
        </p:txBody>
      </p:sp>
    </p:spTree>
    <p:extLst>
      <p:ext uri="{BB962C8B-B14F-4D97-AF65-F5344CB8AC3E}">
        <p14:creationId xmlns:p14="http://schemas.microsoft.com/office/powerpoint/2010/main" val="2329082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BARRIERS TO EFFECTIVE COMMUNICATI0N</a:t>
            </a:r>
            <a:endParaRPr lang="en-US" dirty="0"/>
          </a:p>
        </p:txBody>
      </p:sp>
      <p:sp>
        <p:nvSpPr>
          <p:cNvPr id="3" name="Content Placeholder 2"/>
          <p:cNvSpPr>
            <a:spLocks noGrp="1"/>
          </p:cNvSpPr>
          <p:nvPr>
            <p:ph idx="1"/>
          </p:nvPr>
        </p:nvSpPr>
        <p:spPr/>
        <p:txBody>
          <a:bodyPr>
            <a:normAutofit/>
          </a:bodyPr>
          <a:lstStyle/>
          <a:p>
            <a:pPr marL="0" lvl="0" indent="0" algn="just">
              <a:buNone/>
            </a:pPr>
            <a:r>
              <a:rPr lang="en-US" sz="2800" b="1" dirty="0" smtClean="0"/>
              <a:t>1. PHYSICAL BARRIERS </a:t>
            </a:r>
            <a:endParaRPr lang="en-US" sz="2800" dirty="0" smtClean="0"/>
          </a:p>
          <a:p>
            <a:pPr algn="just">
              <a:buFont typeface="Wingdings" panose="05000000000000000000" pitchFamily="2" charset="2"/>
              <a:buChar char="q"/>
            </a:pPr>
            <a:r>
              <a:rPr lang="en-US" sz="2800" dirty="0" smtClean="0"/>
              <a:t>Obstacles </a:t>
            </a:r>
            <a:r>
              <a:rPr lang="en-US" sz="2800" dirty="0"/>
              <a:t>that prevent a message from reaching the intended recipient may be outside and beyond the control of the persons concerned. </a:t>
            </a:r>
            <a:endParaRPr lang="en-US" sz="2800" dirty="0" smtClean="0"/>
          </a:p>
          <a:p>
            <a:pPr algn="just">
              <a:buFont typeface="Wingdings" panose="05000000000000000000" pitchFamily="2" charset="2"/>
              <a:buChar char="q"/>
            </a:pPr>
            <a:r>
              <a:rPr lang="en-US" sz="2800" dirty="0" smtClean="0"/>
              <a:t>Some </a:t>
            </a:r>
            <a:r>
              <a:rPr lang="en-US" sz="2800" dirty="0"/>
              <a:t>can be controlled by the management; some cannot be controlled because they are in the environment. </a:t>
            </a:r>
          </a:p>
        </p:txBody>
      </p:sp>
    </p:spTree>
    <p:extLst>
      <p:ext uri="{BB962C8B-B14F-4D97-AF65-F5344CB8AC3E}">
        <p14:creationId xmlns:p14="http://schemas.microsoft.com/office/powerpoint/2010/main" val="653921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Under Physical Barrier the following are involved</a:t>
            </a:r>
            <a:endParaRPr lang="en-US" sz="3600" dirty="0"/>
          </a:p>
        </p:txBody>
      </p:sp>
      <p:sp>
        <p:nvSpPr>
          <p:cNvPr id="3" name="Content Placeholder 2"/>
          <p:cNvSpPr>
            <a:spLocks noGrp="1"/>
          </p:cNvSpPr>
          <p:nvPr>
            <p:ph idx="1"/>
          </p:nvPr>
        </p:nvSpPr>
        <p:spPr>
          <a:xfrm>
            <a:off x="1295402" y="2613803"/>
            <a:ext cx="9601196" cy="3589869"/>
          </a:xfrm>
        </p:spPr>
        <p:txBody>
          <a:bodyPr>
            <a:noAutofit/>
          </a:bodyPr>
          <a:lstStyle/>
          <a:p>
            <a:pPr marL="0" lvl="0" indent="0" algn="just">
              <a:buNone/>
            </a:pPr>
            <a:r>
              <a:rPr lang="en-US" b="1" dirty="0" smtClean="0"/>
              <a:t>(a) Defects </a:t>
            </a:r>
            <a:r>
              <a:rPr lang="en-US" b="1" dirty="0"/>
              <a:t>in the Medium </a:t>
            </a:r>
          </a:p>
          <a:p>
            <a:pPr algn="just">
              <a:buFont typeface="Courier New" panose="02070309020205020404" pitchFamily="49" charset="0"/>
              <a:buChar char="o"/>
            </a:pPr>
            <a:r>
              <a:rPr lang="en-US" dirty="0"/>
              <a:t>Defects in the devices used for transmitting messages are external, and usually not within the control of the parties engaged in communication. The telephone, the postal system, the courier service, or electronic media may fail. </a:t>
            </a:r>
            <a:endParaRPr lang="en-US" dirty="0" smtClean="0"/>
          </a:p>
          <a:p>
            <a:pPr algn="just">
              <a:buFont typeface="Courier New" panose="02070309020205020404" pitchFamily="49" charset="0"/>
              <a:buChar char="o"/>
            </a:pPr>
            <a:r>
              <a:rPr lang="en-US" dirty="0" smtClean="0"/>
              <a:t>Messages </a:t>
            </a:r>
            <a:r>
              <a:rPr lang="en-US" dirty="0"/>
              <a:t>can get delayed, distorted and even lost while being transmitted. A partial failure of the mechanical equipment is more harmful than a total failure because a partial failure may carry an incomplete or distorted message. A fax message can be wrongly delivered as a wrong number can get </a:t>
            </a:r>
            <a:r>
              <a:rPr lang="en-US" dirty="0" err="1"/>
              <a:t>dialled</a:t>
            </a:r>
            <a:r>
              <a:rPr lang="en-US" dirty="0"/>
              <a:t> on the telephone. </a:t>
            </a:r>
          </a:p>
        </p:txBody>
      </p:sp>
    </p:spTree>
    <p:extLst>
      <p:ext uri="{BB962C8B-B14F-4D97-AF65-F5344CB8AC3E}">
        <p14:creationId xmlns:p14="http://schemas.microsoft.com/office/powerpoint/2010/main" val="434647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95401" y="2556932"/>
            <a:ext cx="9601196" cy="3645460"/>
          </a:xfrm>
        </p:spPr>
        <p:txBody>
          <a:bodyPr>
            <a:normAutofit lnSpcReduction="10000"/>
          </a:bodyPr>
          <a:lstStyle/>
          <a:p>
            <a:pPr marL="0" indent="0">
              <a:buNone/>
            </a:pPr>
            <a:r>
              <a:rPr lang="en-US" b="1" dirty="0"/>
              <a:t>(b) Noise </a:t>
            </a:r>
            <a:endParaRPr lang="en-US" dirty="0"/>
          </a:p>
          <a:p>
            <a:pPr algn="just">
              <a:buFont typeface="Courier New" panose="02070309020205020404" pitchFamily="49" charset="0"/>
              <a:buChar char="o"/>
            </a:pPr>
            <a:r>
              <a:rPr lang="en-US" sz="2800" dirty="0"/>
              <a:t>Noise is any disturbance which occurs in the transmission process. In face-to face communication which is carried by air vibration, the air may be disturbed by noise such as traffic, factory work, or people talking. </a:t>
            </a:r>
            <a:endParaRPr lang="en-US" sz="2800" dirty="0" smtClean="0"/>
          </a:p>
          <a:p>
            <a:pPr algn="just">
              <a:buFont typeface="Courier New" panose="02070309020205020404" pitchFamily="49" charset="0"/>
              <a:buChar char="o"/>
            </a:pPr>
            <a:r>
              <a:rPr lang="en-US" sz="2800" dirty="0" smtClean="0"/>
              <a:t>In </a:t>
            </a:r>
            <a:r>
              <a:rPr lang="en-US" sz="2800" dirty="0"/>
              <a:t>a factory, oral communication is very difficult because of the noise of the machines. </a:t>
            </a:r>
            <a:r>
              <a:rPr lang="en-US" sz="2800" dirty="0" err="1"/>
              <a:t>Organisations</a:t>
            </a:r>
            <a:r>
              <a:rPr lang="en-US" sz="2800" dirty="0"/>
              <a:t> that can afford sound-proof rooms can overcome this barrier to some extent</a:t>
            </a:r>
          </a:p>
        </p:txBody>
      </p:sp>
    </p:spTree>
    <p:extLst>
      <p:ext uri="{BB962C8B-B14F-4D97-AF65-F5344CB8AC3E}">
        <p14:creationId xmlns:p14="http://schemas.microsoft.com/office/powerpoint/2010/main" val="1752073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dirty="0"/>
              <a:t>(</a:t>
            </a:r>
            <a:r>
              <a:rPr lang="en-US" sz="2800" dirty="0"/>
              <a:t>c) </a:t>
            </a:r>
            <a:r>
              <a:rPr lang="en-US" sz="2800" b="1" dirty="0"/>
              <a:t>Information Overload</a:t>
            </a:r>
            <a:r>
              <a:rPr lang="en-US" sz="2800" dirty="0"/>
              <a:t> </a:t>
            </a:r>
          </a:p>
          <a:p>
            <a:pPr algn="just">
              <a:buFont typeface="Courier New" panose="02070309020205020404" pitchFamily="49" charset="0"/>
              <a:buChar char="o"/>
            </a:pPr>
            <a:r>
              <a:rPr lang="en-US" sz="2800" dirty="0"/>
              <a:t>When there is too much information, some of it is blocked in transit and may not reach the intended audience. </a:t>
            </a:r>
            <a:endParaRPr lang="en-US" sz="2800" dirty="0" smtClean="0"/>
          </a:p>
          <a:p>
            <a:pPr algn="just">
              <a:buFont typeface="Courier New" panose="02070309020205020404" pitchFamily="49" charset="0"/>
              <a:buChar char="o"/>
            </a:pPr>
            <a:r>
              <a:rPr lang="en-US" sz="2800" dirty="0" smtClean="0"/>
              <a:t>Advertising </a:t>
            </a:r>
            <a:r>
              <a:rPr lang="en-US" sz="2800" dirty="0"/>
              <a:t>and sales information is an example of overload; so much communication about products floats through so many media that a good deal of it-does not reach the potential buyer</a:t>
            </a:r>
            <a:r>
              <a:rPr lang="en-US" sz="2800" dirty="0" smtClean="0"/>
              <a:t>.</a:t>
            </a:r>
            <a:endParaRPr lang="en-US" sz="2800" dirty="0"/>
          </a:p>
        </p:txBody>
      </p:sp>
    </p:spTree>
    <p:extLst>
      <p:ext uri="{BB962C8B-B14F-4D97-AF65-F5344CB8AC3E}">
        <p14:creationId xmlns:p14="http://schemas.microsoft.com/office/powerpoint/2010/main" val="3700677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2. SEMANTIC AND LANGUAGE BARRIERS </a:t>
            </a:r>
            <a:endParaRPr lang="en-US" dirty="0" smtClean="0"/>
          </a:p>
          <a:p>
            <a:pPr>
              <a:buFont typeface="Wingdings" panose="05000000000000000000" pitchFamily="2" charset="2"/>
              <a:buChar char="v"/>
            </a:pPr>
            <a:r>
              <a:rPr lang="en-US" dirty="0" smtClean="0"/>
              <a:t>Semantic </a:t>
            </a:r>
            <a:r>
              <a:rPr lang="en-US" dirty="0"/>
              <a:t>means pertaining to or arising from the different meanings of words or other symbols. </a:t>
            </a:r>
            <a:endParaRPr lang="en-US" dirty="0" smtClean="0"/>
          </a:p>
          <a:p>
            <a:pPr>
              <a:buFont typeface="Wingdings" panose="05000000000000000000" pitchFamily="2" charset="2"/>
              <a:buChar char="v"/>
            </a:pPr>
            <a:r>
              <a:rPr lang="en-US" dirty="0" smtClean="0"/>
              <a:t>First </a:t>
            </a:r>
            <a:r>
              <a:rPr lang="en-US" dirty="0"/>
              <a:t>of all, many words have multiple meanings. Just look into a good dictionary and see how many meanings you can find for some commonly used words like "charge", "spring", "check", "suit", "ring". </a:t>
            </a:r>
          </a:p>
          <a:p>
            <a:endParaRPr lang="en-US" dirty="0"/>
          </a:p>
        </p:txBody>
      </p:sp>
    </p:spTree>
    <p:extLst>
      <p:ext uri="{BB962C8B-B14F-4D97-AF65-F5344CB8AC3E}">
        <p14:creationId xmlns:p14="http://schemas.microsoft.com/office/powerpoint/2010/main" val="832638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v"/>
            </a:pPr>
            <a:r>
              <a:rPr lang="en-US" sz="2800" dirty="0"/>
              <a:t>The meaning that comes to your mind first depends on your occupation ("charge" may mean electrical charge to a engineering student, but fee/rent to a commerce student). </a:t>
            </a:r>
            <a:endParaRPr lang="en-US" sz="2800" dirty="0" smtClean="0"/>
          </a:p>
          <a:p>
            <a:pPr algn="just">
              <a:buFont typeface="Wingdings" panose="05000000000000000000" pitchFamily="2" charset="2"/>
              <a:buChar char="v"/>
            </a:pPr>
            <a:r>
              <a:rPr lang="en-US" sz="2800" dirty="0" smtClean="0"/>
              <a:t>Words </a:t>
            </a:r>
            <a:r>
              <a:rPr lang="en-US" sz="2800" dirty="0"/>
              <a:t>like "minute" and "wind" are pronounced in two different ways to mean two entirely different things. Some words like "present", "transfer", "record" are used as verb and as noun with a difference in stress in speaking, but no difference in spelling. </a:t>
            </a:r>
          </a:p>
        </p:txBody>
      </p:sp>
    </p:spTree>
    <p:extLst>
      <p:ext uri="{BB962C8B-B14F-4D97-AF65-F5344CB8AC3E}">
        <p14:creationId xmlns:p14="http://schemas.microsoft.com/office/powerpoint/2010/main" val="3474676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33244" y="2562044"/>
            <a:ext cx="10610491" cy="3597215"/>
          </a:xfrm>
        </p:spPr>
        <p:txBody>
          <a:bodyPr>
            <a:normAutofit fontScale="77500" lnSpcReduction="20000"/>
          </a:bodyPr>
          <a:lstStyle/>
          <a:p>
            <a:pPr marL="0" indent="0">
              <a:buNone/>
            </a:pPr>
            <a:r>
              <a:rPr lang="en-US" b="1" dirty="0"/>
              <a:t>3. </a:t>
            </a:r>
            <a:r>
              <a:rPr lang="en-US" sz="2600" b="1" dirty="0" smtClean="0"/>
              <a:t>Organizational </a:t>
            </a:r>
            <a:r>
              <a:rPr lang="en-US" sz="2600" b="1" dirty="0"/>
              <a:t>Barriers </a:t>
            </a:r>
            <a:endParaRPr lang="en-US" sz="2600" b="1" dirty="0" smtClean="0"/>
          </a:p>
          <a:p>
            <a:pPr marL="0" indent="0">
              <a:buNone/>
            </a:pPr>
            <a:r>
              <a:rPr lang="en-US" sz="2600" b="1" dirty="0" smtClean="0"/>
              <a:t>Editing </a:t>
            </a:r>
            <a:r>
              <a:rPr lang="en-US" sz="2600" b="1" dirty="0"/>
              <a:t>and filtering: </a:t>
            </a:r>
            <a:endParaRPr lang="en-US" sz="2600" dirty="0"/>
          </a:p>
          <a:p>
            <a:pPr algn="just">
              <a:buFont typeface="Wingdings" panose="05000000000000000000" pitchFamily="2" charset="2"/>
              <a:buChar char="v"/>
            </a:pPr>
            <a:r>
              <a:rPr lang="en-US" sz="3000" dirty="0"/>
              <a:t>A great deal of loss of information occurs as a message moves from senior management to lower levels. Each person through whom it passes edits it, filters it, and simplifies it for the understanding and needs of the next person who is to receive it. </a:t>
            </a:r>
            <a:endParaRPr lang="en-US" sz="3000" dirty="0" smtClean="0"/>
          </a:p>
          <a:p>
            <a:pPr algn="just">
              <a:buFont typeface="Wingdings" panose="05000000000000000000" pitchFamily="2" charset="2"/>
              <a:buChar char="v"/>
            </a:pPr>
            <a:r>
              <a:rPr lang="en-US" sz="3000" dirty="0" smtClean="0"/>
              <a:t>Loss </a:t>
            </a:r>
            <a:r>
              <a:rPr lang="en-US" sz="3000" dirty="0"/>
              <a:t>or distortion of information as it moves downward may be caused by misinterpretation, lack of understanding, and neglect of messages by some of the members of the organization. Loss of information also occurs as messages move from subordinates to higher levels of authority. </a:t>
            </a:r>
          </a:p>
        </p:txBody>
      </p:sp>
    </p:spTree>
    <p:extLst>
      <p:ext uri="{BB962C8B-B14F-4D97-AF65-F5344CB8AC3E}">
        <p14:creationId xmlns:p14="http://schemas.microsoft.com/office/powerpoint/2010/main" val="1244362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a:t>4</a:t>
            </a:r>
            <a:r>
              <a:rPr lang="en-US" b="1" dirty="0" smtClean="0"/>
              <a:t>. </a:t>
            </a:r>
            <a:r>
              <a:rPr lang="en-US" sz="2800" b="1" dirty="0"/>
              <a:t>Gender Barriers </a:t>
            </a:r>
            <a:endParaRPr lang="en-US" sz="2800" dirty="0"/>
          </a:p>
          <a:p>
            <a:pPr algn="just">
              <a:buFont typeface="Wingdings" panose="05000000000000000000" pitchFamily="2" charset="2"/>
              <a:buChar char="v"/>
            </a:pPr>
            <a:r>
              <a:rPr lang="en-US" sz="2800" dirty="0"/>
              <a:t>There are distinct differences between the speech patterns in a man and those in a woman which may create misunderstanding between </a:t>
            </a:r>
            <a:r>
              <a:rPr lang="en-US" sz="2800" dirty="0" smtClean="0"/>
              <a:t>genders.</a:t>
            </a:r>
          </a:p>
          <a:p>
            <a:pPr algn="just">
              <a:buFont typeface="Wingdings" panose="05000000000000000000" pitchFamily="2" charset="2"/>
              <a:buChar char="v"/>
            </a:pPr>
            <a:r>
              <a:rPr lang="en-US" sz="2800" dirty="0" smtClean="0"/>
              <a:t>Global </a:t>
            </a:r>
            <a:r>
              <a:rPr lang="en-US" sz="2800" dirty="0"/>
              <a:t>studies suggest that a woman speaks between 22,000 and 25,000 words a day whereas a man speaks between 7,000 and 10,000. In childhood, girls speak earlier than boys and at the age of three, have a vocabulary twice that of boys. </a:t>
            </a:r>
          </a:p>
        </p:txBody>
      </p:sp>
    </p:spTree>
    <p:extLst>
      <p:ext uri="{BB962C8B-B14F-4D97-AF65-F5344CB8AC3E}">
        <p14:creationId xmlns:p14="http://schemas.microsoft.com/office/powerpoint/2010/main" val="1253454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79894" y="2556931"/>
            <a:ext cx="10016703" cy="3567823"/>
          </a:xfrm>
        </p:spPr>
        <p:txBody>
          <a:bodyPr>
            <a:normAutofit fontScale="92500"/>
          </a:bodyPr>
          <a:lstStyle/>
          <a:p>
            <a:pPr marL="0" indent="0">
              <a:buNone/>
            </a:pPr>
            <a:r>
              <a:rPr lang="en-US" b="1" dirty="0"/>
              <a:t>5</a:t>
            </a:r>
            <a:r>
              <a:rPr lang="en-US" b="1" dirty="0" smtClean="0"/>
              <a:t>. </a:t>
            </a:r>
            <a:r>
              <a:rPr lang="en-US" b="1" dirty="0"/>
              <a:t>Socio-Psychological Barriers </a:t>
            </a:r>
            <a:endParaRPr lang="en-US" b="1" dirty="0" smtClean="0"/>
          </a:p>
          <a:p>
            <a:pPr marL="0" indent="0" algn="just">
              <a:buNone/>
            </a:pPr>
            <a:r>
              <a:rPr lang="en-US" sz="2600" dirty="0" smtClean="0"/>
              <a:t>People </a:t>
            </a:r>
            <a:r>
              <a:rPr lang="en-US" sz="2600" dirty="0"/>
              <a:t>have personal feelings, desires, fears and hopes, likes and dislikes, attitudes, views and opinions. They form a sort of emotional filter around the mind, and influence the way we respond to messages that we receive and to new experiences. </a:t>
            </a:r>
            <a:endParaRPr lang="en-US" sz="2600" dirty="0" smtClean="0"/>
          </a:p>
          <a:p>
            <a:pPr marL="0" indent="0" algn="just">
              <a:buNone/>
            </a:pPr>
            <a:r>
              <a:rPr lang="en-US" sz="2600" dirty="0" smtClean="0"/>
              <a:t>Factors </a:t>
            </a:r>
            <a:r>
              <a:rPr lang="en-US" sz="2600" dirty="0"/>
              <a:t>like the time, the place and the circumstances of a particular communication also influence our understanding and response. Problems of understanding, interpretation and response to communication arise partly from our socially-learnt attributes and partly from our personal attributes. </a:t>
            </a:r>
          </a:p>
        </p:txBody>
      </p:sp>
    </p:spTree>
    <p:extLst>
      <p:ext uri="{BB962C8B-B14F-4D97-AF65-F5344CB8AC3E}">
        <p14:creationId xmlns:p14="http://schemas.microsoft.com/office/powerpoint/2010/main" val="1788116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Socio-psychological Barriers</a:t>
            </a:r>
            <a:endParaRPr lang="en-US" dirty="0"/>
          </a:p>
        </p:txBody>
      </p:sp>
      <p:sp>
        <p:nvSpPr>
          <p:cNvPr id="3" name="Content Placeholder 2"/>
          <p:cNvSpPr>
            <a:spLocks noGrp="1"/>
          </p:cNvSpPr>
          <p:nvPr>
            <p:ph idx="1"/>
          </p:nvPr>
        </p:nvSpPr>
        <p:spPr>
          <a:xfrm>
            <a:off x="750498" y="2556931"/>
            <a:ext cx="10146099" cy="3610955"/>
          </a:xfrm>
        </p:spPr>
        <p:txBody>
          <a:bodyPr>
            <a:noAutofit/>
          </a:bodyPr>
          <a:lstStyle/>
          <a:p>
            <a:pPr algn="just"/>
            <a:r>
              <a:rPr lang="en-US" sz="2000" dirty="0"/>
              <a:t>(</a:t>
            </a:r>
            <a:r>
              <a:rPr lang="en-US" sz="2000" b="1" dirty="0"/>
              <a:t>a) Self-</a:t>
            </a:r>
            <a:r>
              <a:rPr lang="en-US" sz="2000" b="1" dirty="0" err="1"/>
              <a:t>centred</a:t>
            </a:r>
            <a:r>
              <a:rPr lang="en-US" sz="2000" b="1" dirty="0"/>
              <a:t> Attitudes</a:t>
            </a:r>
            <a:r>
              <a:rPr lang="en-US" sz="2000" dirty="0"/>
              <a:t>: We tend to see and hear everything in the light of our own interests and needs and desires. We pay attention to messages which are useful to us, and often do not pay enough attention to those messages which do not interest us. </a:t>
            </a:r>
          </a:p>
          <a:p>
            <a:pPr algn="just"/>
            <a:r>
              <a:rPr lang="en-US" sz="2000" b="1" dirty="0"/>
              <a:t>(b) Group Identification:</a:t>
            </a:r>
            <a:r>
              <a:rPr lang="en-US" sz="2000" dirty="0"/>
              <a:t> Our values and opinions are influenced, in some matters, by the group to which we belong, like family, the larger family of relatives, people of our locality or city, our religion or language group, gender, age group, nationality, economic group and so on. We tend to reject an idea which goes against the interests of the group. </a:t>
            </a:r>
          </a:p>
          <a:p>
            <a:pPr algn="just"/>
            <a:r>
              <a:rPr lang="en-US" sz="2000" b="1" dirty="0"/>
              <a:t>(c) Self-Image:</a:t>
            </a:r>
            <a:r>
              <a:rPr lang="en-US" sz="2000" dirty="0"/>
              <a:t> our idea about what we are, what we look like and what impression we make. It is quite difficult to accept any idea which goes against it</a:t>
            </a:r>
          </a:p>
        </p:txBody>
      </p:sp>
    </p:spTree>
    <p:extLst>
      <p:ext uri="{BB962C8B-B14F-4D97-AF65-F5344CB8AC3E}">
        <p14:creationId xmlns:p14="http://schemas.microsoft.com/office/powerpoint/2010/main" val="2358463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lgn="just"/>
            <a:r>
              <a:rPr lang="en-US" b="1" dirty="0"/>
              <a:t>d) </a:t>
            </a:r>
            <a:r>
              <a:rPr lang="en-US" sz="2800" b="1" dirty="0"/>
              <a:t>Selective Perception:</a:t>
            </a:r>
            <a:r>
              <a:rPr lang="en-US" sz="2800" dirty="0"/>
              <a:t> we see, read or hear selectively according to our own needs, interests and experience may not perceive some of the aspects and information content of the message. </a:t>
            </a:r>
          </a:p>
          <a:p>
            <a:pPr algn="just"/>
            <a:r>
              <a:rPr lang="en-US" sz="2800" b="1" dirty="0"/>
              <a:t>(e) Filtering:</a:t>
            </a:r>
            <a:r>
              <a:rPr lang="en-US" sz="2800" dirty="0"/>
              <a:t> Filtering is the process of reducing the details or aspects of a message. Each person who passes on a message reduces or </a:t>
            </a:r>
            <a:r>
              <a:rPr lang="en-US" sz="2800" dirty="0" err="1"/>
              <a:t>colours</a:t>
            </a:r>
            <a:r>
              <a:rPr lang="en-US" sz="2800" dirty="0"/>
              <a:t> a message according to his/her understanding of the situation. </a:t>
            </a:r>
          </a:p>
          <a:p>
            <a:pPr algn="just"/>
            <a:r>
              <a:rPr lang="en-US" sz="2800" dirty="0"/>
              <a:t>(</a:t>
            </a:r>
            <a:r>
              <a:rPr lang="en-US" sz="2800" b="1" dirty="0"/>
              <a:t>f) Status Block:</a:t>
            </a:r>
            <a:r>
              <a:rPr lang="en-US" sz="2800" dirty="0"/>
              <a:t> A "boss" who is conscious of status finds it difficult to receive any suggestions from subordinates as they feel that they know everything about how to run the business. They do not agree that a junior may have some good ideas and many good ideas are wasted only because they come· from junior employees who are considered to be too young and </a:t>
            </a:r>
            <a:r>
              <a:rPr lang="en-US" sz="2800" dirty="0" smtClean="0"/>
              <a:t>inexperienced:</a:t>
            </a:r>
            <a:endParaRPr lang="en-US" sz="2800" dirty="0"/>
          </a:p>
        </p:txBody>
      </p:sp>
    </p:spTree>
    <p:extLst>
      <p:ext uri="{BB962C8B-B14F-4D97-AF65-F5344CB8AC3E}">
        <p14:creationId xmlns:p14="http://schemas.microsoft.com/office/powerpoint/2010/main" val="3440856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6762" y="2556932"/>
            <a:ext cx="10627744" cy="3723098"/>
          </a:xfrm>
        </p:spPr>
        <p:txBody>
          <a:bodyPr>
            <a:noAutofit/>
          </a:bodyPr>
          <a:lstStyle/>
          <a:p>
            <a:pPr marL="0" indent="0" algn="just">
              <a:buNone/>
            </a:pPr>
            <a:r>
              <a:rPr lang="en-US" b="1" dirty="0"/>
              <a:t>6</a:t>
            </a:r>
            <a:r>
              <a:rPr lang="en-US" b="1" dirty="0" smtClean="0"/>
              <a:t>. </a:t>
            </a:r>
            <a:r>
              <a:rPr lang="en-US" b="1" dirty="0" smtClean="0"/>
              <a:t>Perceptual </a:t>
            </a:r>
            <a:r>
              <a:rPr lang="en-US" b="1" dirty="0"/>
              <a:t>barriers </a:t>
            </a:r>
            <a:endParaRPr lang="en-US" dirty="0"/>
          </a:p>
          <a:p>
            <a:pPr algn="just"/>
            <a:r>
              <a:rPr lang="en-US" dirty="0"/>
              <a:t>The problem with communicating with others is that we all see the world differently. The selectivity/exposure filters that are developed on the basis of experience or lack of it play their part. </a:t>
            </a:r>
            <a:endParaRPr lang="en-US" dirty="0" smtClean="0"/>
          </a:p>
          <a:p>
            <a:pPr algn="just"/>
            <a:r>
              <a:rPr lang="en-US" dirty="0" smtClean="0"/>
              <a:t>A </a:t>
            </a:r>
            <a:r>
              <a:rPr lang="en-US" dirty="0"/>
              <a:t>bad experience would perceptually block out unpleasant things. This could be in the shape of avoiding it and if that is not possible by altering the </a:t>
            </a:r>
            <a:r>
              <a:rPr lang="en-US" dirty="0" err="1"/>
              <a:t>behaviours</a:t>
            </a:r>
            <a:r>
              <a:rPr lang="en-US" dirty="0"/>
              <a:t> i.e., response types in different ways. Similarly, retention filters out things that feel good, and gives the tendency to forget those things that are painful. </a:t>
            </a:r>
          </a:p>
        </p:txBody>
      </p:sp>
    </p:spTree>
    <p:extLst>
      <p:ext uri="{BB962C8B-B14F-4D97-AF65-F5344CB8AC3E}">
        <p14:creationId xmlns:p14="http://schemas.microsoft.com/office/powerpoint/2010/main" val="3911955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b="1" dirty="0"/>
              <a:t>7</a:t>
            </a:r>
            <a:r>
              <a:rPr lang="en-US" b="1" dirty="0" smtClean="0"/>
              <a:t>. </a:t>
            </a:r>
            <a:r>
              <a:rPr lang="en-US" b="1" dirty="0" smtClean="0"/>
              <a:t>Emotional </a:t>
            </a:r>
            <a:r>
              <a:rPr lang="en-US" b="1" dirty="0"/>
              <a:t>barriers </a:t>
            </a:r>
            <a:endParaRPr lang="en-US" dirty="0"/>
          </a:p>
          <a:p>
            <a:pPr algn="just">
              <a:buFont typeface="Wingdings" panose="05000000000000000000" pitchFamily="2" charset="2"/>
              <a:buChar char="v"/>
            </a:pPr>
            <a:r>
              <a:rPr lang="en-US" sz="2800" dirty="0"/>
              <a:t>It is comprised mainly of fear, mistrust, and suspicion. The roots of our emotional mistrust of others lie in our childhood and infancy when we were taught to be careful what we said to others. "Don't speak until you're spoken to"; "Children should be seen and not heard". As a result, many people hold back from communicating their thoughts and feelings to others because they feel vulnerable.</a:t>
            </a:r>
          </a:p>
        </p:txBody>
      </p:sp>
    </p:spTree>
    <p:extLst>
      <p:ext uri="{BB962C8B-B14F-4D97-AF65-F5344CB8AC3E}">
        <p14:creationId xmlns:p14="http://schemas.microsoft.com/office/powerpoint/2010/main" val="351174252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355</TotalTime>
  <Words>1963</Words>
  <Application>Microsoft Office PowerPoint</Application>
  <PresentationFormat>Widescreen</PresentationFormat>
  <Paragraphs>87</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Courier New</vt:lpstr>
      <vt:lpstr>Garamond</vt:lpstr>
      <vt:lpstr>Wingdings</vt:lpstr>
      <vt:lpstr>Organic</vt:lpstr>
      <vt:lpstr>COMMUNICATION PROCESS  </vt:lpstr>
      <vt:lpstr>COMMUNICATION PROCESS  </vt:lpstr>
      <vt:lpstr>   COMPONENTS OF THE PROCESS OF COMMUNICATION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BARRIERS TO EFFECTIVE COMMUNICATI0N  </vt:lpstr>
      <vt:lpstr>BARRIERS TO EFFECTIVE COMMUNICATI0N</vt:lpstr>
      <vt:lpstr>Under Physical Barrier the following are involved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Socio-psychological Barriers</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PROCESS</dc:title>
  <dc:creator>Windows User</dc:creator>
  <cp:lastModifiedBy>Windows User</cp:lastModifiedBy>
  <cp:revision>14</cp:revision>
  <dcterms:created xsi:type="dcterms:W3CDTF">2023-04-10T16:23:19Z</dcterms:created>
  <dcterms:modified xsi:type="dcterms:W3CDTF">2023-06-05T19:29:19Z</dcterms:modified>
</cp:coreProperties>
</file>