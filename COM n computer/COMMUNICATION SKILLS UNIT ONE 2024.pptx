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79" d="100"/>
          <a:sy n="79" d="100"/>
        </p:scale>
        <p:origin x="77" y="2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3/28/2024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petemwenya@yahoo.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INTRODUCTION TO COMMUNICATION SKILLS</a:t>
            </a:r>
            <a:endParaRPr lang="en-US" dirty="0"/>
          </a:p>
        </p:txBody>
      </p:sp>
      <p:sp>
        <p:nvSpPr>
          <p:cNvPr id="3" name="Subtitle 2"/>
          <p:cNvSpPr>
            <a:spLocks noGrp="1"/>
          </p:cNvSpPr>
          <p:nvPr>
            <p:ph type="subTitle" idx="1"/>
          </p:nvPr>
        </p:nvSpPr>
        <p:spPr/>
        <p:txBody>
          <a:bodyPr>
            <a:normAutofit lnSpcReduction="10000"/>
          </a:bodyPr>
          <a:lstStyle/>
          <a:p>
            <a:r>
              <a:rPr lang="en-US" dirty="0" smtClean="0"/>
              <a:t>PETER MWENYA: </a:t>
            </a:r>
          </a:p>
          <a:p>
            <a:r>
              <a:rPr lang="en-US" dirty="0" smtClean="0"/>
              <a:t>MBA </a:t>
            </a:r>
            <a:r>
              <a:rPr lang="en-US" dirty="0" smtClean="0"/>
              <a:t>Generic, MSc PH,  BSc OSHE, BA PHILO, </a:t>
            </a:r>
            <a:r>
              <a:rPr lang="en-US" dirty="0" err="1" smtClean="0"/>
              <a:t>Pgd</a:t>
            </a:r>
            <a:r>
              <a:rPr lang="en-US" dirty="0" smtClean="0"/>
              <a:t> TM, </a:t>
            </a:r>
            <a:r>
              <a:rPr lang="en-US" dirty="0" err="1" smtClean="0"/>
              <a:t>Pgd</a:t>
            </a:r>
            <a:r>
              <a:rPr lang="en-US" dirty="0" smtClean="0"/>
              <a:t> M&amp;E</a:t>
            </a:r>
          </a:p>
          <a:p>
            <a:r>
              <a:rPr lang="en-US" dirty="0" smtClean="0">
                <a:hlinkClick r:id="rId2"/>
              </a:rPr>
              <a:t>petemwenya@yahoo.com</a:t>
            </a:r>
            <a:r>
              <a:rPr lang="en-US" dirty="0" smtClean="0"/>
              <a:t>: 0970869683 </a:t>
            </a:r>
            <a:endParaRPr lang="en-US" dirty="0"/>
          </a:p>
        </p:txBody>
      </p:sp>
    </p:spTree>
    <p:extLst>
      <p:ext uri="{BB962C8B-B14F-4D97-AF65-F5344CB8AC3E}">
        <p14:creationId xmlns:p14="http://schemas.microsoft.com/office/powerpoint/2010/main" val="173827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latin typeface="Tahoma" panose="020B0604030504040204" pitchFamily="34" charset="0"/>
                <a:ea typeface="Calibri" panose="020F0502020204030204" pitchFamily="34" charset="0"/>
                <a:cs typeface="Times New Roman" panose="02020603050405020304" pitchFamily="18" charset="0"/>
              </a:rPr>
              <a:t>GENERAL DEFINITION OF COMMUNICATION</a:t>
            </a:r>
            <a:br>
              <a:rPr lang="en-US" b="1" dirty="0">
                <a:latin typeface="Tahoma" panose="020B0604030504040204" pitchFamily="34" charset="0"/>
                <a:ea typeface="Calibri" panose="020F0502020204030204" pitchFamily="34" charset="0"/>
                <a:cs typeface="Times New Roman" panose="02020603050405020304" pitchFamily="18" charset="0"/>
              </a:rPr>
            </a:br>
            <a:endParaRPr lang="en-US" dirty="0"/>
          </a:p>
        </p:txBody>
      </p:sp>
      <p:sp>
        <p:nvSpPr>
          <p:cNvPr id="3" name="Content Placeholder 2"/>
          <p:cNvSpPr>
            <a:spLocks noGrp="1"/>
          </p:cNvSpPr>
          <p:nvPr>
            <p:ph idx="1"/>
          </p:nvPr>
        </p:nvSpPr>
        <p:spPr/>
        <p:txBody>
          <a:bodyPr>
            <a:normAutofit/>
          </a:bodyPr>
          <a:lstStyle/>
          <a:p>
            <a:pPr algn="just"/>
            <a:r>
              <a:rPr lang="en-US" sz="2800" dirty="0"/>
              <a:t>Communication comes from the Latin word </a:t>
            </a:r>
            <a:r>
              <a:rPr lang="en-US" sz="2800" dirty="0" err="1"/>
              <a:t>communicare</a:t>
            </a:r>
            <a:r>
              <a:rPr lang="en-US" sz="2800" dirty="0"/>
              <a:t>, which means “to make common” or “to share.” Communication is defined as the process of using messages to generate meaning (Judy Pearson, 2008). </a:t>
            </a:r>
          </a:p>
        </p:txBody>
      </p:sp>
    </p:spTree>
    <p:extLst>
      <p:ext uri="{BB962C8B-B14F-4D97-AF65-F5344CB8AC3E}">
        <p14:creationId xmlns:p14="http://schemas.microsoft.com/office/powerpoint/2010/main" val="1661700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800" dirty="0"/>
              <a:t>Communication is the process of transmitting information and meaning from one individual or organization to another by means of mutually understandable symbols.</a:t>
            </a:r>
          </a:p>
        </p:txBody>
      </p:sp>
    </p:spTree>
    <p:extLst>
      <p:ext uri="{BB962C8B-B14F-4D97-AF65-F5344CB8AC3E}">
        <p14:creationId xmlns:p14="http://schemas.microsoft.com/office/powerpoint/2010/main" val="301115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ROLE/ PURPOSE OF COMMUNICATION IN AN ORGANISATION</a:t>
            </a:r>
            <a:r>
              <a:rPr lang="en-US" dirty="0"/>
              <a:t/>
            </a:r>
            <a:br>
              <a:rPr lang="en-US" dirty="0"/>
            </a:br>
            <a:endParaRPr lang="en-US" dirty="0"/>
          </a:p>
        </p:txBody>
      </p:sp>
      <p:sp>
        <p:nvSpPr>
          <p:cNvPr id="3" name="Content Placeholder 2"/>
          <p:cNvSpPr>
            <a:spLocks noGrp="1"/>
          </p:cNvSpPr>
          <p:nvPr>
            <p:ph idx="1"/>
          </p:nvPr>
        </p:nvSpPr>
        <p:spPr/>
        <p:txBody>
          <a:bodyPr/>
          <a:lstStyle/>
          <a:p>
            <a:pPr lvl="0">
              <a:buFont typeface="+mj-lt"/>
              <a:buAutoNum type="arabicParenR"/>
            </a:pPr>
            <a:r>
              <a:rPr lang="en-US" b="1" dirty="0"/>
              <a:t>Managing the human resource. </a:t>
            </a:r>
            <a:endParaRPr lang="en-US" dirty="0"/>
          </a:p>
          <a:p>
            <a:pPr algn="just"/>
            <a:r>
              <a:rPr lang="en-US" sz="2400" dirty="0"/>
              <a:t>Communication is the tool with which we exercise influence on others, bring about changes in the attitudes and views of our associates, motivate them and establish and maintain relations with them. </a:t>
            </a:r>
            <a:endParaRPr lang="en-US" sz="2400" dirty="0" smtClean="0"/>
          </a:p>
          <a:p>
            <a:pPr algn="just"/>
            <a:r>
              <a:rPr lang="en-US" sz="2400" dirty="0" smtClean="0"/>
              <a:t>The </a:t>
            </a:r>
            <a:r>
              <a:rPr lang="en-US" sz="2400" dirty="0"/>
              <a:t>primary element in the skills of management is competence in communication</a:t>
            </a:r>
            <a:r>
              <a:rPr lang="en-US" sz="2400" dirty="0" smtClean="0"/>
              <a:t>.  </a:t>
            </a:r>
            <a:endParaRPr lang="en-US" sz="2400" dirty="0"/>
          </a:p>
          <a:p>
            <a:endParaRPr lang="en-US" dirty="0"/>
          </a:p>
        </p:txBody>
      </p:sp>
    </p:spTree>
    <p:extLst>
      <p:ext uri="{BB962C8B-B14F-4D97-AF65-F5344CB8AC3E}">
        <p14:creationId xmlns:p14="http://schemas.microsoft.com/office/powerpoint/2010/main" val="2249745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2. Brings about success </a:t>
            </a:r>
            <a:endParaRPr lang="en-US" b="1" dirty="0"/>
          </a:p>
        </p:txBody>
      </p:sp>
      <p:sp>
        <p:nvSpPr>
          <p:cNvPr id="3" name="Content Placeholder 2"/>
          <p:cNvSpPr>
            <a:spLocks noGrp="1"/>
          </p:cNvSpPr>
          <p:nvPr>
            <p:ph idx="1"/>
          </p:nvPr>
        </p:nvSpPr>
        <p:spPr>
          <a:xfrm>
            <a:off x="1742173" y="2133600"/>
            <a:ext cx="9762439" cy="3777622"/>
          </a:xfrm>
        </p:spPr>
        <p:txBody>
          <a:bodyPr>
            <a:normAutofit/>
          </a:bodyPr>
          <a:lstStyle/>
          <a:p>
            <a:pPr marL="0" indent="0" algn="just">
              <a:buNone/>
            </a:pPr>
            <a:r>
              <a:rPr lang="en-US" sz="2800" b="1" dirty="0" smtClean="0"/>
              <a:t>Communication </a:t>
            </a:r>
            <a:r>
              <a:rPr lang="en-US" sz="2800" b="1" dirty="0"/>
              <a:t>is central to the success</a:t>
            </a:r>
            <a:r>
              <a:rPr lang="en-US" sz="2800" dirty="0"/>
              <a:t> of everything that we do in an organizations (objectives); our family, school/college, office, hobby group, community group, our city/town are the </a:t>
            </a:r>
            <a:r>
              <a:rPr lang="en-US" sz="2800" dirty="0" err="1"/>
              <a:t>organisations</a:t>
            </a:r>
            <a:r>
              <a:rPr lang="en-US" sz="2800" dirty="0"/>
              <a:t> in which we live and act. </a:t>
            </a:r>
            <a:endParaRPr lang="en-US" sz="2800" dirty="0" smtClean="0"/>
          </a:p>
          <a:p>
            <a:pPr algn="just"/>
            <a:r>
              <a:rPr lang="en-US" sz="2800" dirty="0" smtClean="0"/>
              <a:t>Our </a:t>
            </a:r>
            <a:r>
              <a:rPr lang="en-US" sz="2800" dirty="0"/>
              <a:t>activities succeed or fail, and our goals are achieved or not achieved, according to our ability to communicate effectively with other members. </a:t>
            </a:r>
          </a:p>
          <a:p>
            <a:endParaRPr lang="en-US" dirty="0"/>
          </a:p>
        </p:txBody>
      </p:sp>
    </p:spTree>
    <p:extLst>
      <p:ext uri="{BB962C8B-B14F-4D97-AF65-F5344CB8AC3E}">
        <p14:creationId xmlns:p14="http://schemas.microsoft.com/office/powerpoint/2010/main" val="1874213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3. Building positive interpersonal relation. </a:t>
            </a:r>
            <a:r>
              <a:rPr lang="en-US" dirty="0"/>
              <a:t/>
            </a:r>
            <a:br>
              <a:rPr lang="en-US" dirty="0"/>
            </a:br>
            <a:endParaRPr lang="en-US" dirty="0"/>
          </a:p>
        </p:txBody>
      </p:sp>
      <p:sp>
        <p:nvSpPr>
          <p:cNvPr id="3" name="Content Placeholder 2"/>
          <p:cNvSpPr>
            <a:spLocks noGrp="1"/>
          </p:cNvSpPr>
          <p:nvPr>
            <p:ph idx="1"/>
          </p:nvPr>
        </p:nvSpPr>
        <p:spPr>
          <a:xfrm>
            <a:off x="2165684" y="2133599"/>
            <a:ext cx="9338928" cy="4103571"/>
          </a:xfrm>
        </p:spPr>
        <p:txBody>
          <a:bodyPr>
            <a:normAutofit lnSpcReduction="10000"/>
          </a:bodyPr>
          <a:lstStyle/>
          <a:p>
            <a:pPr algn="just"/>
            <a:r>
              <a:rPr lang="en-US" sz="2800" dirty="0" smtClean="0"/>
              <a:t>Communication </a:t>
            </a:r>
            <a:r>
              <a:rPr lang="en-US" sz="2800" dirty="0"/>
              <a:t>plays a foundational role in the development of any healthy interpersonal relationship. </a:t>
            </a:r>
            <a:endParaRPr lang="en-US" sz="2800" dirty="0" smtClean="0"/>
          </a:p>
          <a:p>
            <a:pPr algn="just"/>
            <a:r>
              <a:rPr lang="en-US" sz="2800" dirty="0" smtClean="0"/>
              <a:t>It </a:t>
            </a:r>
            <a:r>
              <a:rPr lang="en-US" sz="2800" dirty="0"/>
              <a:t>can strengthen a mutual sense of commitment; it also helps to bridge the gap between people who have misunderstandings. </a:t>
            </a:r>
            <a:endParaRPr lang="en-US" sz="2800" dirty="0" smtClean="0"/>
          </a:p>
          <a:p>
            <a:pPr algn="just"/>
            <a:r>
              <a:rPr lang="en-US" sz="2800" dirty="0" smtClean="0"/>
              <a:t>Indeed</a:t>
            </a:r>
            <a:r>
              <a:rPr lang="en-US" sz="2800" dirty="0"/>
              <a:t>, communication plays a critical role in all phases of interpersonal relations, from creating a relationship to maintenance of relationships. </a:t>
            </a:r>
          </a:p>
          <a:p>
            <a:endParaRPr lang="en-US" dirty="0"/>
          </a:p>
        </p:txBody>
      </p:sp>
    </p:spTree>
    <p:extLst>
      <p:ext uri="{BB962C8B-B14F-4D97-AF65-F5344CB8AC3E}">
        <p14:creationId xmlns:p14="http://schemas.microsoft.com/office/powerpoint/2010/main" val="2528689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smtClean="0"/>
              <a:t>4. Communication </a:t>
            </a:r>
            <a:r>
              <a:rPr lang="en-US" sz="3200" b="1" dirty="0"/>
              <a:t>is the glue that holds an </a:t>
            </a:r>
            <a:r>
              <a:rPr lang="en-US" sz="3200" b="1" dirty="0" err="1"/>
              <a:t>organisation</a:t>
            </a:r>
            <a:r>
              <a:rPr lang="en-US" sz="3200" dirty="0"/>
              <a:t> </a:t>
            </a:r>
            <a:endParaRPr lang="en-US" dirty="0"/>
          </a:p>
        </p:txBody>
      </p:sp>
      <p:sp>
        <p:nvSpPr>
          <p:cNvPr id="3" name="Content Placeholder 2"/>
          <p:cNvSpPr>
            <a:spLocks noGrp="1"/>
          </p:cNvSpPr>
          <p:nvPr>
            <p:ph idx="1"/>
          </p:nvPr>
        </p:nvSpPr>
        <p:spPr>
          <a:xfrm>
            <a:off x="1684421" y="2133599"/>
            <a:ext cx="9820191" cy="4276825"/>
          </a:xfrm>
        </p:spPr>
        <p:txBody>
          <a:bodyPr>
            <a:noAutofit/>
          </a:bodyPr>
          <a:lstStyle/>
          <a:p>
            <a:pPr algn="just"/>
            <a:r>
              <a:rPr lang="en-US" sz="2400" b="1" dirty="0"/>
              <a:t>Communication is the glue that holds an </a:t>
            </a:r>
            <a:r>
              <a:rPr lang="en-US" sz="2400" b="1" dirty="0" err="1"/>
              <a:t>organisation</a:t>
            </a:r>
            <a:r>
              <a:rPr lang="en-US" sz="2400" dirty="0"/>
              <a:t> </a:t>
            </a:r>
            <a:r>
              <a:rPr lang="en-US" sz="2400" dirty="0" smtClean="0"/>
              <a:t>together</a:t>
            </a:r>
            <a:r>
              <a:rPr lang="en-US" sz="2400" dirty="0"/>
              <a:t>, whatever its business or its size (creates unity and harmony). </a:t>
            </a:r>
            <a:endParaRPr lang="en-US" sz="2400" dirty="0" smtClean="0"/>
          </a:p>
          <a:p>
            <a:pPr algn="just"/>
            <a:r>
              <a:rPr lang="en-US" sz="2400" dirty="0" smtClean="0"/>
              <a:t>Without </a:t>
            </a:r>
            <a:r>
              <a:rPr lang="en-US" sz="2400" dirty="0"/>
              <a:t>communication an </a:t>
            </a:r>
            <a:r>
              <a:rPr lang="en-US" sz="2400" dirty="0" smtClean="0"/>
              <a:t>organization </a:t>
            </a:r>
            <a:r>
              <a:rPr lang="en-US" sz="2400" dirty="0"/>
              <a:t>cannot function at all. Without effective communication, information cannot be collected, processed, or exchanged; words and data would remain isolated facts</a:t>
            </a:r>
            <a:r>
              <a:rPr lang="en-US" sz="2400" dirty="0" smtClean="0"/>
              <a:t>.  </a:t>
            </a:r>
          </a:p>
          <a:p>
            <a:pPr algn="just"/>
            <a:r>
              <a:rPr lang="en-US" sz="2400" dirty="0" smtClean="0"/>
              <a:t>With </a:t>
            </a:r>
            <a:r>
              <a:rPr lang="en-US" sz="2400" dirty="0"/>
              <a:t>effective communication, multinational organizations which are spread all over the world can function like a single unit. </a:t>
            </a:r>
          </a:p>
        </p:txBody>
      </p:sp>
    </p:spTree>
    <p:extLst>
      <p:ext uri="{BB962C8B-B14F-4D97-AF65-F5344CB8AC3E}">
        <p14:creationId xmlns:p14="http://schemas.microsoft.com/office/powerpoint/2010/main" val="374700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Team Building </a:t>
            </a:r>
            <a:endParaRPr lang="en-US" dirty="0"/>
          </a:p>
        </p:txBody>
      </p:sp>
      <p:sp>
        <p:nvSpPr>
          <p:cNvPr id="3" name="Content Placeholder 2"/>
          <p:cNvSpPr>
            <a:spLocks noGrp="1"/>
          </p:cNvSpPr>
          <p:nvPr>
            <p:ph idx="1"/>
          </p:nvPr>
        </p:nvSpPr>
        <p:spPr>
          <a:xfrm>
            <a:off x="1886552" y="1674797"/>
            <a:ext cx="9618060" cy="4735628"/>
          </a:xfrm>
        </p:spPr>
        <p:txBody>
          <a:bodyPr>
            <a:normAutofit/>
          </a:bodyPr>
          <a:lstStyle/>
          <a:p>
            <a:pPr algn="just"/>
            <a:r>
              <a:rPr lang="en-US" sz="2400" dirty="0"/>
              <a:t>. </a:t>
            </a:r>
            <a:r>
              <a:rPr lang="en-US" sz="2400" b="1" dirty="0"/>
              <a:t>Communication helps in team building and team-work</a:t>
            </a:r>
            <a:r>
              <a:rPr lang="en-US" sz="2400" dirty="0"/>
              <a:t>. Owing to advances in information technology, companies downsize and decentralize, and work is increasingly carried out by teams. </a:t>
            </a:r>
            <a:endParaRPr lang="en-US" sz="2400" dirty="0" smtClean="0"/>
          </a:p>
          <a:p>
            <a:pPr algn="just"/>
            <a:r>
              <a:rPr lang="en-US" sz="2400" dirty="0" smtClean="0"/>
              <a:t>Team </a:t>
            </a:r>
            <a:r>
              <a:rPr lang="en-US" sz="2400" dirty="0"/>
              <a:t>members must be able to work together to identify problems, </a:t>
            </a:r>
            <a:r>
              <a:rPr lang="en-US" sz="2400" dirty="0" err="1"/>
              <a:t>analyse</a:t>
            </a:r>
            <a:r>
              <a:rPr lang="en-US" sz="2400" dirty="0"/>
              <a:t> alternatives, and recommend solutions. They must be able to communicate their ideas persuasively to others. </a:t>
            </a:r>
            <a:endParaRPr lang="en-US" sz="2400" dirty="0" smtClean="0"/>
          </a:p>
          <a:p>
            <a:pPr algn="just"/>
            <a:r>
              <a:rPr lang="en-US" sz="2400" dirty="0" smtClean="0"/>
              <a:t>Ability </a:t>
            </a:r>
            <a:r>
              <a:rPr lang="en-US" sz="2400" dirty="0"/>
              <a:t>to work well in teams, to manage your subordinates and your relationships with seniors, customers and colleagues, depends on your communication skill. </a:t>
            </a:r>
          </a:p>
          <a:p>
            <a:endParaRPr lang="en-US" dirty="0"/>
          </a:p>
        </p:txBody>
      </p:sp>
    </p:spTree>
    <p:extLst>
      <p:ext uri="{BB962C8B-B14F-4D97-AF65-F5344CB8AC3E}">
        <p14:creationId xmlns:p14="http://schemas.microsoft.com/office/powerpoint/2010/main" val="3894989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Helps in Marketing </a:t>
            </a:r>
            <a:endParaRPr lang="en-US" dirty="0"/>
          </a:p>
        </p:txBody>
      </p:sp>
      <p:sp>
        <p:nvSpPr>
          <p:cNvPr id="3" name="Content Placeholder 2"/>
          <p:cNvSpPr>
            <a:spLocks noGrp="1"/>
          </p:cNvSpPr>
          <p:nvPr>
            <p:ph idx="1"/>
          </p:nvPr>
        </p:nvSpPr>
        <p:spPr/>
        <p:txBody>
          <a:bodyPr>
            <a:normAutofit/>
          </a:bodyPr>
          <a:lstStyle/>
          <a:p>
            <a:pPr algn="just"/>
            <a:r>
              <a:rPr lang="en-US" dirty="0"/>
              <a:t>. </a:t>
            </a:r>
            <a:r>
              <a:rPr lang="en-US" sz="2400" b="1" dirty="0"/>
              <a:t>Marketing the products and services.</a:t>
            </a:r>
            <a:r>
              <a:rPr lang="en-US" sz="2400" dirty="0"/>
              <a:t> Communication in the form of advertisement and public relations is needed in order to inform the public and to persuade potential customers to buy the products. </a:t>
            </a:r>
            <a:endParaRPr lang="en-US" sz="2400" dirty="0" smtClean="0"/>
          </a:p>
          <a:p>
            <a:pPr algn="just"/>
            <a:r>
              <a:rPr lang="en-US" sz="2400" dirty="0" smtClean="0"/>
              <a:t>Production </a:t>
            </a:r>
            <a:r>
              <a:rPr lang="en-US" sz="2400" dirty="0"/>
              <a:t>of goods is of no use if potential buyers have no information about the product. Communicating to the public about the product is the essence of business. </a:t>
            </a:r>
          </a:p>
        </p:txBody>
      </p:sp>
    </p:spTree>
    <p:extLst>
      <p:ext uri="{BB962C8B-B14F-4D97-AF65-F5344CB8AC3E}">
        <p14:creationId xmlns:p14="http://schemas.microsoft.com/office/powerpoint/2010/main" val="1203334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other purpose is as follows……..</a:t>
            </a:r>
            <a:endParaRPr lang="en-US" dirty="0"/>
          </a:p>
        </p:txBody>
      </p:sp>
      <p:sp>
        <p:nvSpPr>
          <p:cNvPr id="3" name="Content Placeholder 2"/>
          <p:cNvSpPr>
            <a:spLocks noGrp="1"/>
          </p:cNvSpPr>
          <p:nvPr>
            <p:ph idx="1"/>
          </p:nvPr>
        </p:nvSpPr>
        <p:spPr/>
        <p:txBody>
          <a:bodyPr/>
          <a:lstStyle/>
          <a:p>
            <a:r>
              <a:rPr lang="en-US" sz="2400" dirty="0"/>
              <a:t>Delegation of work horizontally and vertically. </a:t>
            </a:r>
          </a:p>
          <a:p>
            <a:r>
              <a:rPr lang="en-US" sz="2400" dirty="0" smtClean="0"/>
              <a:t>Transacting </a:t>
            </a:r>
            <a:r>
              <a:rPr lang="en-US" sz="2400" dirty="0"/>
              <a:t>business: through internal and external communication. </a:t>
            </a:r>
          </a:p>
          <a:p>
            <a:r>
              <a:rPr lang="en-US" sz="2400" dirty="0" smtClean="0"/>
              <a:t>Building </a:t>
            </a:r>
            <a:r>
              <a:rPr lang="en-US" sz="2400" dirty="0"/>
              <a:t>positive public relations</a:t>
            </a:r>
          </a:p>
          <a:p>
            <a:endParaRPr lang="en-US" dirty="0"/>
          </a:p>
        </p:txBody>
      </p:sp>
    </p:spTree>
    <p:extLst>
      <p:ext uri="{BB962C8B-B14F-4D97-AF65-F5344CB8AC3E}">
        <p14:creationId xmlns:p14="http://schemas.microsoft.com/office/powerpoint/2010/main" val="1873694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ESSENTIALS/PRINCIPLES OF EFFECTIVE COMMUNICATION </a:t>
            </a:r>
            <a:r>
              <a:rPr lang="en-US" dirty="0"/>
              <a:t/>
            </a:r>
            <a:br>
              <a:rPr lang="en-US" dirty="0"/>
            </a:br>
            <a:endParaRPr lang="en-US" dirty="0"/>
          </a:p>
        </p:txBody>
      </p:sp>
      <p:sp>
        <p:nvSpPr>
          <p:cNvPr id="3" name="Content Placeholder 2"/>
          <p:cNvSpPr>
            <a:spLocks noGrp="1"/>
          </p:cNvSpPr>
          <p:nvPr>
            <p:ph idx="1"/>
          </p:nvPr>
        </p:nvSpPr>
        <p:spPr>
          <a:xfrm>
            <a:off x="1896177" y="2133600"/>
            <a:ext cx="9608435" cy="3777622"/>
          </a:xfrm>
        </p:spPr>
        <p:txBody>
          <a:bodyPr>
            <a:normAutofit/>
          </a:bodyPr>
          <a:lstStyle/>
          <a:p>
            <a:pPr algn="just"/>
            <a:r>
              <a:rPr lang="en-US" sz="2400" dirty="0"/>
              <a:t>Communication is effective only when both the sender and the receiver are focused on the act of communication. While the sender must sharpen and improve skills of speaking and writing, the receiver must improve skills of listening and reading. </a:t>
            </a:r>
          </a:p>
          <a:p>
            <a:pPr algn="just"/>
            <a:r>
              <a:rPr lang="en-US" sz="2400" dirty="0"/>
              <a:t>The qualities of communication which the sender must achieve are called the C's of Communication because most of them begin with the letter C. Cs of Good Communication </a:t>
            </a:r>
          </a:p>
          <a:p>
            <a:endParaRPr lang="en-US" dirty="0"/>
          </a:p>
        </p:txBody>
      </p:sp>
    </p:spTree>
    <p:extLst>
      <p:ext uri="{BB962C8B-B14F-4D97-AF65-F5344CB8AC3E}">
        <p14:creationId xmlns:p14="http://schemas.microsoft.com/office/powerpoint/2010/main" val="1842770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ESSENTIALS/PRINCIPLES OF EFFECTIVE COMMUNICATION</a:t>
            </a:r>
            <a:endParaRPr lang="en-US" dirty="0"/>
          </a:p>
        </p:txBody>
      </p:sp>
      <p:sp>
        <p:nvSpPr>
          <p:cNvPr id="3" name="Content Placeholder 2"/>
          <p:cNvSpPr>
            <a:spLocks noGrp="1"/>
          </p:cNvSpPr>
          <p:nvPr>
            <p:ph idx="1"/>
          </p:nvPr>
        </p:nvSpPr>
        <p:spPr>
          <a:xfrm>
            <a:off x="1838425" y="2133599"/>
            <a:ext cx="9666187" cy="4257575"/>
          </a:xfrm>
        </p:spPr>
        <p:txBody>
          <a:bodyPr>
            <a:normAutofit/>
          </a:bodyPr>
          <a:lstStyle/>
          <a:p>
            <a:pPr marL="0" lvl="0" indent="0">
              <a:buNone/>
            </a:pPr>
            <a:r>
              <a:rPr lang="en-US" b="1" dirty="0" smtClean="0"/>
              <a:t>1. CORRECTNESS </a:t>
            </a:r>
            <a:endParaRPr lang="en-US" dirty="0"/>
          </a:p>
          <a:p>
            <a:pPr algn="just"/>
            <a:r>
              <a:rPr lang="en-US" sz="2400" dirty="0"/>
              <a:t>A letter must be correct in every respect: </a:t>
            </a:r>
          </a:p>
          <a:p>
            <a:pPr algn="just"/>
            <a:r>
              <a:rPr lang="en-US" sz="2400" dirty="0"/>
              <a:t>(</a:t>
            </a:r>
            <a:r>
              <a:rPr lang="en-US" sz="2400" dirty="0" err="1"/>
              <a:t>i</a:t>
            </a:r>
            <a:r>
              <a:rPr lang="en-US" sz="2400" dirty="0"/>
              <a:t>) In spelling, grammar, pronunciation, and use of language. Incorrect language spoils the message, distracts the receiver's attention, and creates a poor impression of the sender; it may also convey a wrong meaning. </a:t>
            </a:r>
            <a:endParaRPr lang="en-US" sz="2400" dirty="0" smtClean="0"/>
          </a:p>
          <a:p>
            <a:pPr algn="just"/>
            <a:r>
              <a:rPr lang="en-US" sz="2400" dirty="0"/>
              <a:t>All spellings must be checked; spelling of names must be checked with extra care. Most people are offended if their name is wrongly spelt or pronounced</a:t>
            </a:r>
          </a:p>
        </p:txBody>
      </p:sp>
    </p:spTree>
    <p:extLst>
      <p:ext uri="{BB962C8B-B14F-4D97-AF65-F5344CB8AC3E}">
        <p14:creationId xmlns:p14="http://schemas.microsoft.com/office/powerpoint/2010/main" val="2318813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400" dirty="0"/>
              <a:t>There must be consistency in the use of numbers, units of measure, technical terms, abbreviations, hyphens, grammar, spelling, punctuation, and capitalization. </a:t>
            </a:r>
            <a:endParaRPr lang="en-US" sz="2400" dirty="0" smtClean="0"/>
          </a:p>
          <a:p>
            <a:pPr algn="just"/>
            <a:r>
              <a:rPr lang="en-US" sz="2400" dirty="0" smtClean="0"/>
              <a:t>Hyphenation </a:t>
            </a:r>
            <a:r>
              <a:rPr lang="en-US" sz="2400" dirty="0"/>
              <a:t>and punctuation and capitalization do not have absolutely fixed rules. Whatever you decide on, be consistent throughout the document.</a:t>
            </a:r>
          </a:p>
        </p:txBody>
      </p:sp>
    </p:spTree>
    <p:extLst>
      <p:ext uri="{BB962C8B-B14F-4D97-AF65-F5344CB8AC3E}">
        <p14:creationId xmlns:p14="http://schemas.microsoft.com/office/powerpoint/2010/main" val="2044424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lvl="0" indent="0">
              <a:buNone/>
            </a:pPr>
            <a:r>
              <a:rPr lang="en-US" sz="2400" b="1" dirty="0" smtClean="0"/>
              <a:t>2. CLARITY </a:t>
            </a:r>
            <a:endParaRPr lang="en-US" sz="2400" dirty="0" smtClean="0"/>
          </a:p>
          <a:p>
            <a:pPr algn="just"/>
            <a:r>
              <a:rPr lang="en-US" sz="2400" dirty="0" smtClean="0"/>
              <a:t>The </a:t>
            </a:r>
            <a:r>
              <a:rPr lang="en-US" sz="2400" dirty="0"/>
              <a:t>message must be clear at the first reading so it that takes very little time to follow and understand. Clearly written or spoken messages avoid misunderstanding and save time. </a:t>
            </a:r>
            <a:endParaRPr lang="en-US" sz="2400" dirty="0" smtClean="0"/>
          </a:p>
          <a:p>
            <a:pPr algn="just"/>
            <a:r>
              <a:rPr lang="en-US" sz="2400" dirty="0" smtClean="0"/>
              <a:t>Write </a:t>
            </a:r>
            <a:r>
              <a:rPr lang="en-US" sz="2400" dirty="0"/>
              <a:t>and speak to express, not to impress. Clarity depends upon five factors: </a:t>
            </a:r>
          </a:p>
          <a:p>
            <a:endParaRPr lang="en-US" dirty="0"/>
          </a:p>
        </p:txBody>
      </p:sp>
    </p:spTree>
    <p:extLst>
      <p:ext uri="{BB962C8B-B14F-4D97-AF65-F5344CB8AC3E}">
        <p14:creationId xmlns:p14="http://schemas.microsoft.com/office/powerpoint/2010/main" val="1868634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30417" y="2133599"/>
            <a:ext cx="9974195" cy="4724401"/>
          </a:xfrm>
        </p:spPr>
        <p:txBody>
          <a:bodyPr>
            <a:normAutofit/>
          </a:bodyPr>
          <a:lstStyle/>
          <a:p>
            <a:pPr algn="just"/>
            <a:r>
              <a:rPr lang="en-US" dirty="0"/>
              <a:t>(</a:t>
            </a:r>
            <a:r>
              <a:rPr lang="en-US" sz="2400" dirty="0" err="1"/>
              <a:t>i</a:t>
            </a:r>
            <a:r>
              <a:rPr lang="en-US" sz="2400" dirty="0"/>
              <a:t>) Simple, common everyday words which everyone can understand. Never send the reader to the dictionary. Technical terms should be avoided unless absolutely needed and if you are communicating within the profession. </a:t>
            </a:r>
          </a:p>
          <a:p>
            <a:pPr algn="just"/>
            <a:r>
              <a:rPr lang="en-US" sz="2400" dirty="0"/>
              <a:t>(ii) Short and simple sentences. Long sentences confuse the reader, and often confuse the writer also. Phrases and clauses should not be added on to a sentence. Each bit of important information should be given in a separate sentence. </a:t>
            </a:r>
          </a:p>
        </p:txBody>
      </p:sp>
    </p:spTree>
    <p:extLst>
      <p:ext uri="{BB962C8B-B14F-4D97-AF65-F5344CB8AC3E}">
        <p14:creationId xmlns:p14="http://schemas.microsoft.com/office/powerpoint/2010/main" val="1499671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63040" y="2133600"/>
            <a:ext cx="10041572" cy="3777622"/>
          </a:xfrm>
        </p:spPr>
        <p:txBody>
          <a:bodyPr/>
          <a:lstStyle/>
          <a:p>
            <a:pPr algn="just"/>
            <a:r>
              <a:rPr lang="en-US" sz="2400" dirty="0"/>
              <a:t>(iii) Proper punctuation and pauses. It helps to provide pauses and stops and to break up groups of words into sensible units. </a:t>
            </a:r>
            <a:endParaRPr lang="en-US" sz="2400" dirty="0" smtClean="0"/>
          </a:p>
          <a:p>
            <a:pPr algn="just"/>
            <a:r>
              <a:rPr lang="en-US" sz="2400" dirty="0" smtClean="0"/>
              <a:t>Besides </a:t>
            </a:r>
            <a:r>
              <a:rPr lang="en-US" sz="2400" dirty="0"/>
              <a:t>the full stop, there are other, shorter pauses like the semicolon and the comma which help to break up a sentence into readable units. </a:t>
            </a:r>
          </a:p>
          <a:p>
            <a:endParaRPr lang="en-US" dirty="0"/>
          </a:p>
        </p:txBody>
      </p:sp>
    </p:spTree>
    <p:extLst>
      <p:ext uri="{BB962C8B-B14F-4D97-AF65-F5344CB8AC3E}">
        <p14:creationId xmlns:p14="http://schemas.microsoft.com/office/powerpoint/2010/main" val="966509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694046" y="2133600"/>
            <a:ext cx="9810566" cy="3777622"/>
          </a:xfrm>
        </p:spPr>
        <p:txBody>
          <a:bodyPr/>
          <a:lstStyle/>
          <a:p>
            <a:pPr marL="0" indent="0">
              <a:buNone/>
            </a:pPr>
            <a:r>
              <a:rPr lang="en-US" b="1" dirty="0" smtClean="0"/>
              <a:t>3. CONSISTENCY </a:t>
            </a:r>
            <a:endParaRPr lang="en-US" dirty="0"/>
          </a:p>
          <a:p>
            <a:pPr algn="just"/>
            <a:r>
              <a:rPr lang="en-US" sz="2400" dirty="0"/>
              <a:t>Consistency should be in the use of numbers, units of measure, technical terms, abbreviations, grammar, spelling, punctuation and capitalization and dates. British or American spellings vary. </a:t>
            </a:r>
            <a:endParaRPr lang="en-US" sz="2400" dirty="0" smtClean="0"/>
          </a:p>
          <a:p>
            <a:pPr algn="just"/>
            <a:r>
              <a:rPr lang="en-US" sz="2400" dirty="0" smtClean="0"/>
              <a:t>Hyphenation</a:t>
            </a:r>
            <a:r>
              <a:rPr lang="en-US" sz="2400" dirty="0"/>
              <a:t>, punctuation and capitalization do not have absolutely fixed rules. Whatever you decide on, be consistent throughout the document</a:t>
            </a:r>
          </a:p>
        </p:txBody>
      </p:sp>
    </p:spTree>
    <p:extLst>
      <p:ext uri="{BB962C8B-B14F-4D97-AF65-F5344CB8AC3E}">
        <p14:creationId xmlns:p14="http://schemas.microsoft.com/office/powerpoint/2010/main" val="3707768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674796" y="2133600"/>
            <a:ext cx="9829816" cy="4267200"/>
          </a:xfrm>
        </p:spPr>
        <p:txBody>
          <a:bodyPr>
            <a:normAutofit/>
          </a:bodyPr>
          <a:lstStyle/>
          <a:p>
            <a:pPr marL="0" indent="0" algn="just">
              <a:buNone/>
            </a:pPr>
            <a:r>
              <a:rPr lang="en-US" sz="2400" b="1" dirty="0"/>
              <a:t>4. </a:t>
            </a:r>
            <a:r>
              <a:rPr lang="en-US" sz="2400" b="1" dirty="0" smtClean="0"/>
              <a:t>COHERENCE </a:t>
            </a:r>
            <a:endParaRPr lang="en-US" sz="2400" dirty="0" smtClean="0"/>
          </a:p>
          <a:p>
            <a:pPr algn="just"/>
            <a:r>
              <a:rPr lang="en-US" sz="2400" dirty="0" smtClean="0"/>
              <a:t>Coherence </a:t>
            </a:r>
            <a:r>
              <a:rPr lang="en-US" sz="2400" dirty="0"/>
              <a:t>is logical sequence of ideas. Making a clear plan for a presentation or a letter ensures that the ideas are in logical order; coherence, that is, logical connection of ideas makes any composition easy to understand. </a:t>
            </a:r>
            <a:endParaRPr lang="en-US" sz="2400" dirty="0" smtClean="0"/>
          </a:p>
          <a:p>
            <a:pPr algn="just"/>
            <a:r>
              <a:rPr lang="en-US" sz="2400" dirty="0" smtClean="0"/>
              <a:t>Consistency </a:t>
            </a:r>
            <a:r>
              <a:rPr lang="en-US" sz="2400" dirty="0"/>
              <a:t>in numbering also helps in achieving coherence </a:t>
            </a:r>
          </a:p>
        </p:txBody>
      </p:sp>
    </p:spTree>
    <p:extLst>
      <p:ext uri="{BB962C8B-B14F-4D97-AF65-F5344CB8AC3E}">
        <p14:creationId xmlns:p14="http://schemas.microsoft.com/office/powerpoint/2010/main" val="3668385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193533" y="1809549"/>
            <a:ext cx="10311079" cy="4697129"/>
          </a:xfrm>
        </p:spPr>
        <p:txBody>
          <a:bodyPr>
            <a:normAutofit/>
          </a:bodyPr>
          <a:lstStyle/>
          <a:p>
            <a:pPr marL="0" indent="0" algn="just">
              <a:buNone/>
            </a:pPr>
            <a:r>
              <a:rPr lang="en-US" sz="2400" b="1" dirty="0"/>
              <a:t>5. Concreteness </a:t>
            </a:r>
            <a:endParaRPr lang="en-US" sz="2400" dirty="0"/>
          </a:p>
          <a:p>
            <a:pPr algn="just"/>
            <a:r>
              <a:rPr lang="en-US" sz="2400" dirty="0"/>
              <a:t>Giving definite and concrete details with figures and names. Vague phrases like "in due course" or "at your earliest convenience" are not so useful as definite time phrases like in two weeks or within three weeks, soon, good, any time. </a:t>
            </a:r>
            <a:endParaRPr lang="en-US" sz="2400" dirty="0" smtClean="0"/>
          </a:p>
          <a:p>
            <a:pPr algn="just"/>
            <a:r>
              <a:rPr lang="en-US" sz="2400" dirty="0" smtClean="0"/>
              <a:t>Use </a:t>
            </a:r>
            <a:r>
              <a:rPr lang="en-US" sz="2400" dirty="0"/>
              <a:t>words and expressions which communicate exact and definite information. It is better to use concrete words with a definite meaning, or to give concrete examples and description. Words like good, bad, far, near, make sense only when you indicate the level of efficiency or quality and say at what speed. </a:t>
            </a:r>
          </a:p>
        </p:txBody>
      </p:sp>
    </p:spTree>
    <p:extLst>
      <p:ext uri="{BB962C8B-B14F-4D97-AF65-F5344CB8AC3E}">
        <p14:creationId xmlns:p14="http://schemas.microsoft.com/office/powerpoint/2010/main" val="1372444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just">
              <a:buNone/>
            </a:pPr>
            <a:r>
              <a:rPr lang="en-US" sz="2400" b="1" dirty="0"/>
              <a:t>6. Conciseness </a:t>
            </a:r>
            <a:endParaRPr lang="en-US" sz="2400" dirty="0"/>
          </a:p>
          <a:p>
            <a:pPr algn="just"/>
            <a:r>
              <a:rPr lang="en-US" sz="2400" dirty="0"/>
              <a:t>Conciseness means expressing much in a few words; in business communication it means keeping to the point, using as few words as possible without sacrificing clarity or courtesy. </a:t>
            </a:r>
            <a:endParaRPr lang="en-US" sz="2400" dirty="0" smtClean="0"/>
          </a:p>
          <a:p>
            <a:pPr algn="just"/>
            <a:r>
              <a:rPr lang="en-US" sz="2400" dirty="0" smtClean="0"/>
              <a:t>It </a:t>
            </a:r>
            <a:r>
              <a:rPr lang="en-US" sz="2400" dirty="0"/>
              <a:t>does not necessarily mean being brief; it means making every word </a:t>
            </a:r>
            <a:r>
              <a:rPr lang="en-US" sz="2400" dirty="0" smtClean="0"/>
              <a:t>count. </a:t>
            </a:r>
            <a:r>
              <a:rPr lang="en-US" sz="2400" dirty="0"/>
              <a:t>Conciseness can be achieved by</a:t>
            </a:r>
          </a:p>
        </p:txBody>
      </p:sp>
    </p:spTree>
    <p:extLst>
      <p:ext uri="{BB962C8B-B14F-4D97-AF65-F5344CB8AC3E}">
        <p14:creationId xmlns:p14="http://schemas.microsoft.com/office/powerpoint/2010/main" val="1075205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11166" y="2133599"/>
            <a:ext cx="9993446" cy="4517457"/>
          </a:xfrm>
        </p:spPr>
        <p:txBody>
          <a:bodyPr>
            <a:normAutofit/>
          </a:bodyPr>
          <a:lstStyle/>
          <a:p>
            <a:pPr lvl="0" algn="just"/>
            <a:r>
              <a:rPr lang="en-US" sz="2400" dirty="0"/>
              <a:t>Leaving out unnecessary modifiers; for example, "new innovation;" (can there be an old innovation?) or ''very unique" (unique means only "one of its kind"). Other examples are: "advance plans", "actual experience", "cylindrical in shape", "three cubic meters in volume." </a:t>
            </a:r>
          </a:p>
          <a:p>
            <a:pPr lvl="0" algn="just"/>
            <a:r>
              <a:rPr lang="en-US" sz="2400" dirty="0"/>
              <a:t>Reducing unimportant ideas to phrases or single words like, in the form of - as in many cases - often exhibits the ability to - can in the event of - if </a:t>
            </a:r>
          </a:p>
          <a:p>
            <a:pPr algn="just"/>
            <a:r>
              <a:rPr lang="en-US" sz="2400" dirty="0"/>
              <a:t>Making sure that only the necessary and relevant details are included. Using more words than necessary confuses the idea.</a:t>
            </a:r>
          </a:p>
        </p:txBody>
      </p:sp>
    </p:spTree>
    <p:extLst>
      <p:ext uri="{BB962C8B-B14F-4D97-AF65-F5344CB8AC3E}">
        <p14:creationId xmlns:p14="http://schemas.microsoft.com/office/powerpoint/2010/main" val="3438715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51284" y="2133600"/>
            <a:ext cx="10253328" cy="4113196"/>
          </a:xfrm>
        </p:spPr>
        <p:txBody>
          <a:bodyPr/>
          <a:lstStyle/>
          <a:p>
            <a:pPr marL="0" indent="0" algn="just">
              <a:buNone/>
            </a:pPr>
            <a:r>
              <a:rPr lang="en-US" b="1" dirty="0"/>
              <a:t> </a:t>
            </a:r>
            <a:r>
              <a:rPr lang="en-US" sz="2400" b="1" dirty="0" smtClean="0"/>
              <a:t>7. COURTESY </a:t>
            </a:r>
            <a:endParaRPr lang="en-US" sz="2400" dirty="0" smtClean="0"/>
          </a:p>
          <a:p>
            <a:pPr algn="just"/>
            <a:r>
              <a:rPr lang="en-US" sz="2400" dirty="0" smtClean="0"/>
              <a:t>Courtesy </a:t>
            </a:r>
            <a:r>
              <a:rPr lang="en-US" sz="2400" dirty="0"/>
              <a:t>is consideration for other people's feelings. It is seen in an individual's </a:t>
            </a:r>
            <a:r>
              <a:rPr lang="en-US" sz="2400" dirty="0" smtClean="0"/>
              <a:t>behavior </a:t>
            </a:r>
            <a:r>
              <a:rPr lang="en-US" sz="2400" dirty="0"/>
              <a:t>with others. </a:t>
            </a:r>
            <a:endParaRPr lang="en-US" sz="2400" dirty="0" smtClean="0"/>
          </a:p>
          <a:p>
            <a:pPr algn="just"/>
            <a:r>
              <a:rPr lang="en-US" sz="2400" dirty="0" smtClean="0"/>
              <a:t>A </a:t>
            </a:r>
            <a:r>
              <a:rPr lang="en-US" sz="2400" dirty="0"/>
              <a:t>well-mannered and courteous person shows consideration and thought for others. In a letter, the style, the manner and the choice of words reflect the courtesy of the writer. Some simple rules for courtesy are: </a:t>
            </a:r>
          </a:p>
        </p:txBody>
      </p:sp>
    </p:spTree>
    <p:extLst>
      <p:ext uri="{BB962C8B-B14F-4D97-AF65-F5344CB8AC3E}">
        <p14:creationId xmlns:p14="http://schemas.microsoft.com/office/powerpoint/2010/main" val="2557745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simple rules for courtesy are: </a:t>
            </a:r>
            <a:br>
              <a:rPr lang="en-US" dirty="0"/>
            </a:br>
            <a:endParaRPr lang="en-US" dirty="0"/>
          </a:p>
        </p:txBody>
      </p:sp>
      <p:sp>
        <p:nvSpPr>
          <p:cNvPr id="3" name="Content Placeholder 2"/>
          <p:cNvSpPr>
            <a:spLocks noGrp="1"/>
          </p:cNvSpPr>
          <p:nvPr>
            <p:ph idx="1"/>
          </p:nvPr>
        </p:nvSpPr>
        <p:spPr>
          <a:xfrm>
            <a:off x="1366787" y="2133599"/>
            <a:ext cx="10137825" cy="4642585"/>
          </a:xfrm>
        </p:spPr>
        <p:txBody>
          <a:bodyPr>
            <a:normAutofit/>
          </a:bodyPr>
          <a:lstStyle/>
          <a:p>
            <a:pPr lvl="0" algn="just"/>
            <a:r>
              <a:rPr lang="en-US" sz="2400" dirty="0"/>
              <a:t>Use the courtesy words please, thank you, excuse me and sorry as the situation requires. </a:t>
            </a:r>
          </a:p>
          <a:p>
            <a:pPr lvl="0" algn="just"/>
            <a:r>
              <a:rPr lang="en-US" sz="2400" dirty="0"/>
              <a:t>Express appropriate feeling according to the situation. For example, sympathy when someone suffers, good wishes when someone begins something new, and congratulation when someone achieves something. </a:t>
            </a:r>
          </a:p>
          <a:p>
            <a:pPr lvl="0" algn="just"/>
            <a:r>
              <a:rPr lang="en-US" sz="2400" dirty="0"/>
              <a:t>Make the other person feel comfortable. This is an important factor of courtesy. Care and consideration for the reader is reflected in the letter. The opening sentence itself shows the courtesy of the writer: </a:t>
            </a:r>
          </a:p>
          <a:p>
            <a:endParaRPr lang="en-US" dirty="0"/>
          </a:p>
        </p:txBody>
      </p:sp>
    </p:spTree>
    <p:extLst>
      <p:ext uri="{BB962C8B-B14F-4D97-AF65-F5344CB8AC3E}">
        <p14:creationId xmlns:p14="http://schemas.microsoft.com/office/powerpoint/2010/main" val="3377765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just">
              <a:buNone/>
            </a:pPr>
            <a:endParaRPr lang="en-US" sz="2800" dirty="0"/>
          </a:p>
        </p:txBody>
      </p:sp>
    </p:spTree>
    <p:extLst>
      <p:ext uri="{BB962C8B-B14F-4D97-AF65-F5344CB8AC3E}">
        <p14:creationId xmlns:p14="http://schemas.microsoft.com/office/powerpoint/2010/main" val="241170602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8266</TotalTime>
  <Words>1450</Words>
  <Application>Microsoft Office PowerPoint</Application>
  <PresentationFormat>Widescreen</PresentationFormat>
  <Paragraphs>72</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Century Gothic</vt:lpstr>
      <vt:lpstr>Tahoma</vt:lpstr>
      <vt:lpstr>Times New Roman</vt:lpstr>
      <vt:lpstr>Wingdings 3</vt:lpstr>
      <vt:lpstr>Wisp</vt:lpstr>
      <vt:lpstr>INTRODUCTION TO COMMUNICATION SKILLS</vt:lpstr>
      <vt:lpstr>GENERAL DEFINITION OF COMMUNICATION </vt:lpstr>
      <vt:lpstr>PowerPoint Presentation</vt:lpstr>
      <vt:lpstr>ROLE/ PURPOSE OF COMMUNICATION IN AN ORGANISATION </vt:lpstr>
      <vt:lpstr>2. Brings about success </vt:lpstr>
      <vt:lpstr>3. Building positive interpersonal relation.  </vt:lpstr>
      <vt:lpstr>4. Communication is the glue that holds an organisation </vt:lpstr>
      <vt:lpstr>5. Team Building </vt:lpstr>
      <vt:lpstr>6. Helps in Marketing </vt:lpstr>
      <vt:lpstr>The other purpose is as follows……..</vt:lpstr>
      <vt:lpstr>ESSENTIALS/PRINCIPLES OF EFFECTIVE COMMUNICATION  </vt:lpstr>
      <vt:lpstr>ESSENTIALS/PRINCIPLES OF EFFECTIVE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simple rules for courtesy are: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COMMUNICATION SKILLS</dc:title>
  <dc:creator>Windows User</dc:creator>
  <cp:lastModifiedBy>Microsoft account</cp:lastModifiedBy>
  <cp:revision>17</cp:revision>
  <dcterms:created xsi:type="dcterms:W3CDTF">2023-04-10T15:14:14Z</dcterms:created>
  <dcterms:modified xsi:type="dcterms:W3CDTF">2024-03-29T15:31:43Z</dcterms:modified>
</cp:coreProperties>
</file>