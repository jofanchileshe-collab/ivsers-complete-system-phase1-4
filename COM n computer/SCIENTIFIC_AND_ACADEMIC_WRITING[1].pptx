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0" r:id="rId1"/>
  </p:sldMasterIdLst>
  <p:sldIdLst>
    <p:sldId id="256" r:id="rId2"/>
    <p:sldId id="298" r:id="rId3"/>
    <p:sldId id="257" r:id="rId4"/>
    <p:sldId id="275" r:id="rId5"/>
    <p:sldId id="299" r:id="rId6"/>
    <p:sldId id="300" r:id="rId7"/>
    <p:sldId id="258" r:id="rId8"/>
    <p:sldId id="259" r:id="rId9"/>
    <p:sldId id="270" r:id="rId10"/>
    <p:sldId id="271" r:id="rId11"/>
    <p:sldId id="272" r:id="rId12"/>
    <p:sldId id="273" r:id="rId13"/>
    <p:sldId id="260" r:id="rId14"/>
    <p:sldId id="261" r:id="rId15"/>
    <p:sldId id="262" r:id="rId16"/>
    <p:sldId id="263" r:id="rId17"/>
    <p:sldId id="301" r:id="rId18"/>
    <p:sldId id="302" r:id="rId19"/>
    <p:sldId id="264" r:id="rId20"/>
    <p:sldId id="265" r:id="rId21"/>
    <p:sldId id="307" r:id="rId22"/>
    <p:sldId id="274" r:id="rId23"/>
    <p:sldId id="266" r:id="rId24"/>
    <p:sldId id="267" r:id="rId25"/>
    <p:sldId id="269" r:id="rId26"/>
    <p:sldId id="305" r:id="rId27"/>
    <p:sldId id="308" r:id="rId28"/>
    <p:sldId id="282" r:id="rId29"/>
    <p:sldId id="306" r:id="rId30"/>
    <p:sldId id="309" r:id="rId31"/>
    <p:sldId id="276" r:id="rId32"/>
    <p:sldId id="278" r:id="rId33"/>
    <p:sldId id="279" r:id="rId34"/>
    <p:sldId id="280" r:id="rId35"/>
    <p:sldId id="281" r:id="rId36"/>
    <p:sldId id="283" r:id="rId37"/>
    <p:sldId id="284" r:id="rId38"/>
    <p:sldId id="285" r:id="rId39"/>
    <p:sldId id="290" r:id="rId40"/>
    <p:sldId id="286" r:id="rId41"/>
    <p:sldId id="287" r:id="rId42"/>
    <p:sldId id="289" r:id="rId43"/>
    <p:sldId id="291" r:id="rId44"/>
    <p:sldId id="310" r:id="rId45"/>
    <p:sldId id="292" r:id="rId46"/>
    <p:sldId id="293" r:id="rId47"/>
    <p:sldId id="303" r:id="rId48"/>
    <p:sldId id="304" r:id="rId49"/>
    <p:sldId id="297"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32" autoAdjust="0"/>
    <p:restoredTop sz="94660"/>
  </p:normalViewPr>
  <p:slideViewPr>
    <p:cSldViewPr snapToGrid="0">
      <p:cViewPr varScale="1">
        <p:scale>
          <a:sx n="88" d="100"/>
          <a:sy n="88" d="100"/>
        </p:scale>
        <p:origin x="48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9" name="Picture 8"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smtClean="0"/>
              <a:pPr/>
              <a:t>3/10/2024</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smtClean="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35829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smtClean="0"/>
              <a:t>3/10/2024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smtClean="0"/>
              <a:t>‹#›</a:t>
            </a:fld>
            <a:endParaRPr lang="en-US" dirty="0"/>
          </a:p>
        </p:txBody>
      </p:sp>
    </p:spTree>
    <p:extLst>
      <p:ext uri="{BB962C8B-B14F-4D97-AF65-F5344CB8AC3E}">
        <p14:creationId xmlns:p14="http://schemas.microsoft.com/office/powerpoint/2010/main" val="1683985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7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3/10/2024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126956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3/10/2024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1670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3/10/2024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09888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3/10/2024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46461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69558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99998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94535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000867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49134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360202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139847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775171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631572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4521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smtClean="0"/>
              <a:pPr/>
              <a:t>3/10/2024</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01349355"/>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sz="4400" b="1" dirty="0"/>
              <a:t>SCIENTIFIC AND ACADEMIC WRITING</a:t>
            </a:r>
          </a:p>
        </p:txBody>
      </p:sp>
      <p:sp>
        <p:nvSpPr>
          <p:cNvPr id="3" name="Subtitle 2"/>
          <p:cNvSpPr>
            <a:spLocks noGrp="1"/>
          </p:cNvSpPr>
          <p:nvPr>
            <p:ph type="subTitle" idx="1"/>
          </p:nvPr>
        </p:nvSpPr>
        <p:spPr/>
        <p:txBody>
          <a:bodyPr/>
          <a:lstStyle/>
          <a:p>
            <a:r>
              <a:rPr lang="en-GB" dirty="0" smtClean="0">
                <a:solidFill>
                  <a:srgbClr val="FF0000"/>
                </a:solidFill>
              </a:rPr>
              <a:t>MWENYA PETER ( Mr)</a:t>
            </a:r>
          </a:p>
          <a:p>
            <a:r>
              <a:rPr lang="en-GB" dirty="0" smtClean="0"/>
              <a:t>School of Health Sciences </a:t>
            </a:r>
            <a:endParaRPr lang="en-GB" dirty="0"/>
          </a:p>
        </p:txBody>
      </p:sp>
    </p:spTree>
    <p:extLst>
      <p:ext uri="{BB962C8B-B14F-4D97-AF65-F5344CB8AC3E}">
        <p14:creationId xmlns:p14="http://schemas.microsoft.com/office/powerpoint/2010/main" val="2051377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grpId="0" nodeType="clickEffect">
                                  <p:stCondLst>
                                    <p:cond delay="0"/>
                                  </p:stCondLst>
                                  <p:iterate type="lt">
                                    <p:tmPct val="20000"/>
                                  </p:iterate>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Lecture Outline</a:t>
            </a:r>
            <a:endParaRPr lang="en-GB" b="1" dirty="0"/>
          </a:p>
        </p:txBody>
      </p:sp>
      <p:sp>
        <p:nvSpPr>
          <p:cNvPr id="3" name="Content Placeholder 2"/>
          <p:cNvSpPr>
            <a:spLocks noGrp="1"/>
          </p:cNvSpPr>
          <p:nvPr>
            <p:ph idx="1"/>
          </p:nvPr>
        </p:nvSpPr>
        <p:spPr>
          <a:xfrm>
            <a:off x="1295401" y="2556932"/>
            <a:ext cx="9601196" cy="3660988"/>
          </a:xfrm>
        </p:spPr>
        <p:txBody>
          <a:bodyPr/>
          <a:lstStyle/>
          <a:p>
            <a:pPr marL="457200" indent="-457200">
              <a:buFont typeface="+mj-lt"/>
              <a:buAutoNum type="arabicPeriod"/>
            </a:pPr>
            <a:r>
              <a:rPr lang="en-GB" b="1" dirty="0" smtClean="0"/>
              <a:t>Introduction</a:t>
            </a:r>
          </a:p>
          <a:p>
            <a:pPr marL="457200" indent="-457200">
              <a:buFont typeface="+mj-lt"/>
              <a:buAutoNum type="arabicPeriod"/>
            </a:pPr>
            <a:r>
              <a:rPr lang="en-GB" b="1" dirty="0" smtClean="0"/>
              <a:t>General agreed rules on Academic writing</a:t>
            </a:r>
          </a:p>
          <a:p>
            <a:pPr marL="457200" indent="-457200">
              <a:buFont typeface="+mj-lt"/>
              <a:buAutoNum type="arabicPeriod"/>
            </a:pPr>
            <a:r>
              <a:rPr lang="en-GB" b="1" dirty="0" smtClean="0"/>
              <a:t>Academic writing styles:</a:t>
            </a:r>
          </a:p>
          <a:p>
            <a:pPr marL="457200" indent="-457200">
              <a:buFont typeface="+mj-lt"/>
              <a:buAutoNum type="alphaLcParenR"/>
            </a:pPr>
            <a:r>
              <a:rPr lang="en-GB" dirty="0" smtClean="0"/>
              <a:t>Persuasive academic writing</a:t>
            </a:r>
          </a:p>
          <a:p>
            <a:pPr marL="457200" indent="-457200">
              <a:buFont typeface="+mj-lt"/>
              <a:buAutoNum type="alphaLcParenR"/>
            </a:pPr>
            <a:r>
              <a:rPr lang="en-GB" dirty="0" smtClean="0"/>
              <a:t>Analytical academic writing</a:t>
            </a:r>
          </a:p>
          <a:p>
            <a:pPr marL="457200" indent="-457200">
              <a:buFont typeface="+mj-lt"/>
              <a:buAutoNum type="alphaLcParenR"/>
            </a:pPr>
            <a:r>
              <a:rPr lang="en-GB" dirty="0" smtClean="0"/>
              <a:t>Descriptive academic writing  and</a:t>
            </a:r>
          </a:p>
          <a:p>
            <a:pPr marL="457200" indent="-457200">
              <a:buFont typeface="+mj-lt"/>
              <a:buAutoNum type="alphaLcParenR"/>
            </a:pPr>
            <a:r>
              <a:rPr lang="en-GB" dirty="0" smtClean="0"/>
              <a:t>Critical academic writing</a:t>
            </a:r>
          </a:p>
          <a:p>
            <a:pPr marL="457200" indent="-457200">
              <a:buFont typeface="+mj-lt"/>
              <a:buAutoNum type="alphaLcParenR"/>
            </a:pPr>
            <a:endParaRPr lang="en-GB" dirty="0"/>
          </a:p>
        </p:txBody>
      </p:sp>
    </p:spTree>
    <p:extLst>
      <p:ext uri="{BB962C8B-B14F-4D97-AF65-F5344CB8AC3E}">
        <p14:creationId xmlns:p14="http://schemas.microsoft.com/office/powerpoint/2010/main" val="1020128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grpId="0" nodeType="clickEffect">
                                  <p:stCondLst>
                                    <p:cond delay="0"/>
                                  </p:stCondLst>
                                  <p:iterate type="lt">
                                    <p:tmPct val="20000"/>
                                  </p:iterate>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2" fill="hold" nodeType="clickEffect">
                                  <p:stCondLst>
                                    <p:cond delay="0"/>
                                  </p:stCondLst>
                                  <p:iterate type="wd">
                                    <p:tmPct val="20000"/>
                                  </p:iterate>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12" fill="hold" nodeType="withEffect">
                                  <p:stCondLst>
                                    <p:cond delay="0"/>
                                  </p:stCondLst>
                                  <p:iterate type="wd">
                                    <p:tmPct val="20000"/>
                                  </p:iterate>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12" fill="hold" nodeType="withEffect">
                                  <p:stCondLst>
                                    <p:cond delay="0"/>
                                  </p:stCondLst>
                                  <p:iterate type="wd">
                                    <p:tmPct val="20000"/>
                                  </p:iterate>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12" fill="hold" nodeType="withEffect">
                                  <p:stCondLst>
                                    <p:cond delay="0"/>
                                  </p:stCondLst>
                                  <p:iterate type="wd">
                                    <p:tmPct val="20000"/>
                                  </p:iterate>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12" fill="hold" nodeType="withEffect">
                                  <p:stCondLst>
                                    <p:cond delay="0"/>
                                  </p:stCondLst>
                                  <p:iterate type="wd">
                                    <p:tmPct val="20000"/>
                                  </p:iterate>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12" fill="hold" nodeType="withEffect">
                                  <p:stCondLst>
                                    <p:cond delay="0"/>
                                  </p:stCondLst>
                                  <p:iterate type="wd">
                                    <p:tmPct val="20000"/>
                                  </p:iterate>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12" fill="hold" nodeType="withEffect">
                                  <p:stCondLst>
                                    <p:cond delay="0"/>
                                  </p:stCondLst>
                                  <p:iterate type="wd">
                                    <p:tmPct val="20000"/>
                                  </p:iterate>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Learning Objectives</a:t>
            </a:r>
            <a:endParaRPr lang="en-GB" b="1" dirty="0"/>
          </a:p>
        </p:txBody>
      </p:sp>
      <p:sp>
        <p:nvSpPr>
          <p:cNvPr id="3" name="Content Placeholder 2"/>
          <p:cNvSpPr>
            <a:spLocks noGrp="1"/>
          </p:cNvSpPr>
          <p:nvPr>
            <p:ph idx="1"/>
          </p:nvPr>
        </p:nvSpPr>
        <p:spPr>
          <a:xfrm>
            <a:off x="1295401" y="2556931"/>
            <a:ext cx="9601196" cy="3791617"/>
          </a:xfrm>
        </p:spPr>
        <p:txBody>
          <a:bodyPr>
            <a:normAutofit/>
          </a:bodyPr>
          <a:lstStyle/>
          <a:p>
            <a:pPr marL="0" indent="0">
              <a:buNone/>
            </a:pPr>
            <a:r>
              <a:rPr lang="en-GB" sz="2800" b="1" dirty="0" smtClean="0"/>
              <a:t>At the end of this lecture, Learners should be able to:</a:t>
            </a:r>
          </a:p>
          <a:p>
            <a:r>
              <a:rPr lang="en-GB" sz="2800" dirty="0" smtClean="0">
                <a:latin typeface="+mj-lt"/>
              </a:rPr>
              <a:t>Gain understanding of different styles of academic writing</a:t>
            </a:r>
          </a:p>
          <a:p>
            <a:r>
              <a:rPr lang="en-GB" sz="2800" dirty="0" smtClean="0">
                <a:latin typeface="+mj-lt"/>
              </a:rPr>
              <a:t>Gain understanding of agreed rules of academic writing </a:t>
            </a:r>
          </a:p>
          <a:p>
            <a:r>
              <a:rPr lang="en-GB" sz="2800" dirty="0" smtClean="0">
                <a:latin typeface="+mj-lt"/>
              </a:rPr>
              <a:t>Demonstrate ability to write logical assignments( i.e. </a:t>
            </a:r>
            <a:r>
              <a:rPr lang="en-US" sz="2800" dirty="0" smtClean="0">
                <a:solidFill>
                  <a:srgbClr val="000000"/>
                </a:solidFill>
                <a:latin typeface="+mj-lt"/>
                <a:ea typeface="Times New Roman" panose="02020603050405020304" pitchFamily="18" charset="0"/>
              </a:rPr>
              <a:t>descriptive</a:t>
            </a:r>
            <a:r>
              <a:rPr lang="en-US" sz="2800" dirty="0">
                <a:solidFill>
                  <a:srgbClr val="000000"/>
                </a:solidFill>
                <a:latin typeface="+mj-lt"/>
                <a:ea typeface="Times New Roman" panose="02020603050405020304" pitchFamily="18" charset="0"/>
              </a:rPr>
              <a:t>, analytical, persuasive, critical</a:t>
            </a:r>
            <a:r>
              <a:rPr lang="en-GB" sz="2800" dirty="0" smtClean="0">
                <a:latin typeface="+mj-lt"/>
              </a:rPr>
              <a:t>) backed by appropriate citation styles and language.</a:t>
            </a:r>
          </a:p>
          <a:p>
            <a:endParaRPr lang="en-GB" sz="2800" dirty="0">
              <a:latin typeface="+mj-lt"/>
            </a:endParaRPr>
          </a:p>
        </p:txBody>
      </p:sp>
    </p:spTree>
    <p:extLst>
      <p:ext uri="{BB962C8B-B14F-4D97-AF65-F5344CB8AC3E}">
        <p14:creationId xmlns:p14="http://schemas.microsoft.com/office/powerpoint/2010/main" val="2005269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nodeType="clickEffect">
                                  <p:stCondLst>
                                    <p:cond delay="0"/>
                                  </p:stCondLst>
                                  <p:iterate type="lt">
                                    <p:tmPct val="20000"/>
                                  </p:iterate>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12" fill="hold" nodeType="withEffect">
                                  <p:stCondLst>
                                    <p:cond delay="0"/>
                                  </p:stCondLst>
                                  <p:iterate type="lt">
                                    <p:tmPct val="20000"/>
                                  </p:iterate>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12" fill="hold" nodeType="withEffect">
                                  <p:stCondLst>
                                    <p:cond delay="0"/>
                                  </p:stCondLst>
                                  <p:iterate type="lt">
                                    <p:tmPct val="20000"/>
                                  </p:iterate>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12" fill="hold" nodeType="withEffect">
                                  <p:stCondLst>
                                    <p:cond delay="0"/>
                                  </p:stCondLst>
                                  <p:iterate type="lt">
                                    <p:tmPct val="20000"/>
                                  </p:iterate>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40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lstStyle/>
          <a:p>
            <a:pPr marL="0" indent="0">
              <a:buNone/>
            </a:pPr>
            <a:r>
              <a:rPr lang="en-GB" sz="2800" b="1" dirty="0" smtClean="0"/>
              <a:t>Introduction</a:t>
            </a:r>
          </a:p>
          <a:p>
            <a:r>
              <a:rPr lang="en-GB" dirty="0" smtClean="0"/>
              <a:t>Scholars </a:t>
            </a:r>
            <a:r>
              <a:rPr lang="en-GB" dirty="0"/>
              <a:t>at all levels are expected to </a:t>
            </a:r>
            <a:r>
              <a:rPr lang="en-GB" dirty="0" smtClean="0"/>
              <a:t>write, People </a:t>
            </a:r>
            <a:r>
              <a:rPr lang="en-GB" dirty="0"/>
              <a:t>who are not students or </a:t>
            </a:r>
            <a:r>
              <a:rPr lang="en-GB" dirty="0" smtClean="0"/>
              <a:t>scholars they also </a:t>
            </a:r>
            <a:r>
              <a:rPr lang="en-GB" dirty="0"/>
              <a:t>engage in </a:t>
            </a:r>
            <a:r>
              <a:rPr lang="en-GB" dirty="0" smtClean="0"/>
              <a:t>writing either </a:t>
            </a:r>
            <a:r>
              <a:rPr lang="en-GB" dirty="0"/>
              <a:t>for work, </a:t>
            </a:r>
            <a:r>
              <a:rPr lang="en-GB" dirty="0" smtClean="0"/>
              <a:t>or communicate </a:t>
            </a:r>
            <a:r>
              <a:rPr lang="en-GB" dirty="0"/>
              <a:t>with friends, family, and strangers through email, text messages, and social </a:t>
            </a:r>
            <a:r>
              <a:rPr lang="en-GB" dirty="0" smtClean="0"/>
              <a:t>media. Yet, their work has to be differentiated from academic writing.</a:t>
            </a:r>
            <a:endParaRPr lang="en-GB" dirty="0"/>
          </a:p>
        </p:txBody>
      </p:sp>
    </p:spTree>
    <p:extLst>
      <p:ext uri="{BB962C8B-B14F-4D97-AF65-F5344CB8AC3E}">
        <p14:creationId xmlns:p14="http://schemas.microsoft.com/office/powerpoint/2010/main" val="3480897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normAutofit/>
          </a:bodyPr>
          <a:lstStyle/>
          <a:p>
            <a:pPr marL="0" indent="0">
              <a:buNone/>
            </a:pPr>
            <a:r>
              <a:rPr lang="en-GB" sz="2800" b="1" dirty="0" smtClean="0"/>
              <a:t>Question</a:t>
            </a:r>
          </a:p>
          <a:p>
            <a:r>
              <a:rPr lang="en-GB" sz="2800" dirty="0" smtClean="0"/>
              <a:t>What is academic writing ?</a:t>
            </a:r>
            <a:endParaRPr lang="en-GB" sz="2800" dirty="0"/>
          </a:p>
        </p:txBody>
      </p:sp>
    </p:spTree>
    <p:extLst>
      <p:ext uri="{BB962C8B-B14F-4D97-AF65-F5344CB8AC3E}">
        <p14:creationId xmlns:p14="http://schemas.microsoft.com/office/powerpoint/2010/main" val="1030349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nodeType="clickEffect">
                                  <p:stCondLst>
                                    <p:cond delay="0"/>
                                  </p:stCondLst>
                                  <p:iterate type="lt">
                                    <p:tmPct val="20000"/>
                                  </p:iterate>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12" fill="hold" nodeType="withEffect">
                                  <p:stCondLst>
                                    <p:cond delay="0"/>
                                  </p:stCondLst>
                                  <p:iterate type="lt">
                                    <p:tmPct val="20000"/>
                                  </p:iterate>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normAutofit/>
          </a:bodyPr>
          <a:lstStyle/>
          <a:p>
            <a:pPr marL="0" indent="0">
              <a:buNone/>
            </a:pPr>
            <a:r>
              <a:rPr lang="en-GB" sz="2800" b="1" dirty="0">
                <a:solidFill>
                  <a:prstClr val="black">
                    <a:lumMod val="85000"/>
                    <a:lumOff val="15000"/>
                  </a:prstClr>
                </a:solidFill>
              </a:rPr>
              <a:t>Academic </a:t>
            </a:r>
            <a:r>
              <a:rPr lang="en-GB" sz="2800" b="1" dirty="0" smtClean="0">
                <a:solidFill>
                  <a:prstClr val="black">
                    <a:lumMod val="85000"/>
                    <a:lumOff val="15000"/>
                  </a:prstClr>
                </a:solidFill>
              </a:rPr>
              <a:t>writing. Cont.</a:t>
            </a:r>
          </a:p>
          <a:p>
            <a:pPr marL="0" indent="0">
              <a:buNone/>
            </a:pPr>
            <a:r>
              <a:rPr lang="en-GB" sz="2800" b="1" dirty="0"/>
              <a:t>D</a:t>
            </a:r>
            <a:r>
              <a:rPr lang="en-GB" sz="2800" b="1" dirty="0" smtClean="0"/>
              <a:t>efinitions</a:t>
            </a:r>
            <a:r>
              <a:rPr lang="en-GB" sz="2800" dirty="0" smtClean="0"/>
              <a:t> </a:t>
            </a:r>
          </a:p>
          <a:p>
            <a:r>
              <a:rPr lang="en-GB" sz="2800" dirty="0"/>
              <a:t>Academic writing is the process of presenting ideas in a rational, organized, systematic, reasonable, and logical way.</a:t>
            </a:r>
          </a:p>
        </p:txBody>
      </p:sp>
    </p:spTree>
    <p:extLst>
      <p:ext uri="{BB962C8B-B14F-4D97-AF65-F5344CB8AC3E}">
        <p14:creationId xmlns:p14="http://schemas.microsoft.com/office/powerpoint/2010/main" val="3781936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a:xfrm>
            <a:off x="1295401" y="2556931"/>
            <a:ext cx="9601196" cy="3599169"/>
          </a:xfrm>
        </p:spPr>
        <p:txBody>
          <a:bodyPr/>
          <a:lstStyle/>
          <a:p>
            <a:pPr marL="0" lvl="0" indent="0">
              <a:buClr>
                <a:srgbClr val="AB946B"/>
              </a:buClr>
              <a:buNone/>
            </a:pPr>
            <a:r>
              <a:rPr lang="en-GB" sz="2800" b="1" dirty="0">
                <a:solidFill>
                  <a:prstClr val="black">
                    <a:lumMod val="85000"/>
                    <a:lumOff val="15000"/>
                  </a:prstClr>
                </a:solidFill>
              </a:rPr>
              <a:t>Academic writing. Cont.</a:t>
            </a:r>
          </a:p>
          <a:p>
            <a:r>
              <a:rPr lang="en-GB" sz="2800" dirty="0" smtClean="0"/>
              <a:t>Academic </a:t>
            </a:r>
            <a:r>
              <a:rPr lang="en-GB" sz="2800" dirty="0"/>
              <a:t>writing is a formal style of writing used in universities and scholarly publications</a:t>
            </a:r>
            <a:r>
              <a:rPr lang="en-GB" sz="2800" dirty="0" smtClean="0"/>
              <a:t>. </a:t>
            </a:r>
            <a:r>
              <a:rPr lang="en-GB" sz="2800" dirty="0"/>
              <a:t>Practically</a:t>
            </a:r>
            <a:r>
              <a:rPr lang="en-GB" sz="2800" dirty="0" smtClean="0"/>
              <a:t>, academic writing is used in writing </a:t>
            </a:r>
            <a:r>
              <a:rPr lang="en-GB" sz="2800" dirty="0"/>
              <a:t>journal </a:t>
            </a:r>
            <a:r>
              <a:rPr lang="en-GB" sz="2800" dirty="0" smtClean="0"/>
              <a:t>articles, research and </a:t>
            </a:r>
            <a:r>
              <a:rPr lang="en-GB" sz="2800" dirty="0"/>
              <a:t>books on academic </a:t>
            </a:r>
            <a:r>
              <a:rPr lang="en-GB" sz="2800" dirty="0" smtClean="0"/>
              <a:t>subjects. Additionally, as students, you are expected apply academic writing style to </a:t>
            </a:r>
            <a:r>
              <a:rPr lang="en-GB" sz="2800" dirty="0"/>
              <a:t>your essays, research papers, and </a:t>
            </a:r>
            <a:r>
              <a:rPr lang="en-GB" sz="2800" dirty="0" smtClean="0"/>
              <a:t>dissertation</a:t>
            </a:r>
            <a:r>
              <a:rPr lang="en-GB" sz="2800" b="1" dirty="0" smtClean="0"/>
              <a:t>. </a:t>
            </a:r>
            <a:endParaRPr lang="en-GB" sz="2800" b="1" dirty="0"/>
          </a:p>
        </p:txBody>
      </p:sp>
    </p:spTree>
    <p:extLst>
      <p:ext uri="{BB962C8B-B14F-4D97-AF65-F5344CB8AC3E}">
        <p14:creationId xmlns:p14="http://schemas.microsoft.com/office/powerpoint/2010/main" val="23527918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4000" b="1" dirty="0" smtClean="0">
                <a:solidFill>
                  <a:prstClr val="black">
                    <a:lumMod val="85000"/>
                    <a:lumOff val="15000"/>
                  </a:prstClr>
                </a:solidFill>
              </a:rPr>
              <a:t>SCIENTIFIC </a:t>
            </a:r>
            <a:r>
              <a:rPr lang="en-GB" sz="4000" b="1" dirty="0">
                <a:solidFill>
                  <a:prstClr val="black">
                    <a:lumMod val="85000"/>
                    <a:lumOff val="15000"/>
                  </a:prstClr>
                </a:solidFill>
              </a:rPr>
              <a:t>AND ACADEMIC WRITING</a:t>
            </a:r>
            <a:endParaRPr lang="en-GB" dirty="0"/>
          </a:p>
        </p:txBody>
      </p:sp>
      <p:sp>
        <p:nvSpPr>
          <p:cNvPr id="3" name="Content Placeholder 2"/>
          <p:cNvSpPr>
            <a:spLocks noGrp="1"/>
          </p:cNvSpPr>
          <p:nvPr>
            <p:ph idx="1"/>
          </p:nvPr>
        </p:nvSpPr>
        <p:spPr>
          <a:xfrm>
            <a:off x="1295401" y="2556931"/>
            <a:ext cx="9601196" cy="3856931"/>
          </a:xfrm>
        </p:spPr>
        <p:txBody>
          <a:bodyPr>
            <a:normAutofit/>
          </a:bodyPr>
          <a:lstStyle/>
          <a:p>
            <a:pPr marL="0" indent="0">
              <a:buNone/>
            </a:pPr>
            <a:r>
              <a:rPr lang="en-GB" sz="2800" b="1" dirty="0" smtClean="0">
                <a:solidFill>
                  <a:schemeClr val="tx1"/>
                </a:solidFill>
                <a:latin typeface="Garamond" panose="02020404030301010803" pitchFamily="18" charset="0"/>
              </a:rPr>
              <a:t>General rules on </a:t>
            </a:r>
            <a:r>
              <a:rPr lang="en-GB" sz="2800" b="1" dirty="0">
                <a:solidFill>
                  <a:schemeClr val="tx1"/>
                </a:solidFill>
                <a:latin typeface="Garamond" panose="02020404030301010803" pitchFamily="18" charset="0"/>
              </a:rPr>
              <a:t>content, structure and </a:t>
            </a:r>
            <a:r>
              <a:rPr lang="en-GB" sz="2800" b="1" dirty="0" smtClean="0">
                <a:solidFill>
                  <a:schemeClr val="tx1"/>
                </a:solidFill>
                <a:latin typeface="Garamond" panose="02020404030301010803" pitchFamily="18" charset="0"/>
              </a:rPr>
              <a:t>style of Academic writing</a:t>
            </a:r>
          </a:p>
          <a:p>
            <a:pPr marL="0" indent="0">
              <a:buNone/>
            </a:pPr>
            <a:r>
              <a:rPr lang="en-GB" b="1" dirty="0">
                <a:solidFill>
                  <a:schemeClr val="tx1"/>
                </a:solidFill>
              </a:rPr>
              <a:t> </a:t>
            </a:r>
            <a:r>
              <a:rPr lang="en-GB" b="1" dirty="0" smtClean="0">
                <a:solidFill>
                  <a:schemeClr val="tx1"/>
                </a:solidFill>
              </a:rPr>
              <a:t>A) Academic writing should be:</a:t>
            </a:r>
          </a:p>
          <a:p>
            <a:pPr marL="457200" indent="-457200">
              <a:buFont typeface="+mj-lt"/>
              <a:buAutoNum type="arabicPeriod"/>
            </a:pPr>
            <a:r>
              <a:rPr lang="en-GB" dirty="0">
                <a:solidFill>
                  <a:schemeClr val="tx1"/>
                </a:solidFill>
              </a:rPr>
              <a:t>Formal and </a:t>
            </a:r>
            <a:r>
              <a:rPr lang="en-GB" dirty="0" smtClean="0">
                <a:solidFill>
                  <a:schemeClr val="tx1"/>
                </a:solidFill>
              </a:rPr>
              <a:t>unbiased</a:t>
            </a:r>
          </a:p>
          <a:p>
            <a:pPr marL="457200" indent="-457200">
              <a:buFont typeface="+mj-lt"/>
              <a:buAutoNum type="arabicPeriod"/>
            </a:pPr>
            <a:r>
              <a:rPr lang="en-GB" dirty="0">
                <a:solidFill>
                  <a:schemeClr val="tx1"/>
                </a:solidFill>
              </a:rPr>
              <a:t>Clear and </a:t>
            </a:r>
            <a:r>
              <a:rPr lang="en-GB" dirty="0" smtClean="0">
                <a:solidFill>
                  <a:schemeClr val="tx1"/>
                </a:solidFill>
              </a:rPr>
              <a:t>precise</a:t>
            </a:r>
          </a:p>
          <a:p>
            <a:pPr marL="457200" indent="-457200">
              <a:buFont typeface="+mj-lt"/>
              <a:buAutoNum type="arabicPeriod"/>
            </a:pPr>
            <a:r>
              <a:rPr lang="en-GB" dirty="0">
                <a:solidFill>
                  <a:schemeClr val="tx1"/>
                </a:solidFill>
              </a:rPr>
              <a:t>Well </a:t>
            </a:r>
            <a:r>
              <a:rPr lang="en-GB" dirty="0" smtClean="0">
                <a:solidFill>
                  <a:schemeClr val="tx1"/>
                </a:solidFill>
              </a:rPr>
              <a:t>sourced</a:t>
            </a:r>
          </a:p>
          <a:p>
            <a:pPr marL="457200" indent="-457200">
              <a:buFont typeface="+mj-lt"/>
              <a:buAutoNum type="arabicPeriod"/>
            </a:pPr>
            <a:r>
              <a:rPr lang="en-GB" dirty="0">
                <a:solidFill>
                  <a:schemeClr val="tx1"/>
                </a:solidFill>
              </a:rPr>
              <a:t>Correct and consistent</a:t>
            </a:r>
          </a:p>
        </p:txBody>
      </p:sp>
    </p:spTree>
    <p:extLst>
      <p:ext uri="{BB962C8B-B14F-4D97-AF65-F5344CB8AC3E}">
        <p14:creationId xmlns:p14="http://schemas.microsoft.com/office/powerpoint/2010/main" val="1125151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nodeType="clickEffect">
                                  <p:stCondLst>
                                    <p:cond delay="0"/>
                                  </p:stCondLst>
                                  <p:iterate type="lt">
                                    <p:tmPct val="20000"/>
                                  </p:iterate>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12" fill="hold" nodeType="withEffect">
                                  <p:stCondLst>
                                    <p:cond delay="0"/>
                                  </p:stCondLst>
                                  <p:iterate type="lt">
                                    <p:tmPct val="20000"/>
                                  </p:iterate>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12" fill="hold" nodeType="withEffect">
                                  <p:stCondLst>
                                    <p:cond delay="0"/>
                                  </p:stCondLst>
                                  <p:iterate type="lt">
                                    <p:tmPct val="20000"/>
                                  </p:iterate>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12" fill="hold" nodeType="withEffect">
                                  <p:stCondLst>
                                    <p:cond delay="0"/>
                                  </p:stCondLst>
                                  <p:iterate type="lt">
                                    <p:tmPct val="20000"/>
                                  </p:iterate>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12" fill="hold" nodeType="withEffect">
                                  <p:stCondLst>
                                    <p:cond delay="0"/>
                                  </p:stCondLst>
                                  <p:iterate type="lt">
                                    <p:tmPct val="20000"/>
                                  </p:iterate>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12" fill="hold" nodeType="withEffect">
                                  <p:stCondLst>
                                    <p:cond delay="0"/>
                                  </p:stCondLst>
                                  <p:iterate type="lt">
                                    <p:tmPct val="20000"/>
                                  </p:iterate>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normAutofit/>
          </a:bodyPr>
          <a:lstStyle/>
          <a:p>
            <a:pPr marL="457200" indent="-457200">
              <a:buAutoNum type="arabicPeriod"/>
            </a:pPr>
            <a:r>
              <a:rPr lang="en-GB" sz="2800" b="1" dirty="0" smtClean="0">
                <a:solidFill>
                  <a:schemeClr val="tx1"/>
                </a:solidFill>
                <a:latin typeface="Garamond" panose="02020404030301010803" pitchFamily="18" charset="0"/>
              </a:rPr>
              <a:t>Formal </a:t>
            </a:r>
            <a:r>
              <a:rPr lang="en-GB" sz="2800" b="1" dirty="0">
                <a:solidFill>
                  <a:schemeClr val="tx1"/>
                </a:solidFill>
                <a:latin typeface="Garamond" panose="02020404030301010803" pitchFamily="18" charset="0"/>
              </a:rPr>
              <a:t>and </a:t>
            </a:r>
            <a:r>
              <a:rPr lang="en-GB" sz="2800" b="1" dirty="0" smtClean="0">
                <a:solidFill>
                  <a:schemeClr val="tx1"/>
                </a:solidFill>
                <a:latin typeface="Garamond" panose="02020404030301010803" pitchFamily="18" charset="0"/>
              </a:rPr>
              <a:t>unbiased </a:t>
            </a:r>
          </a:p>
          <a:p>
            <a:r>
              <a:rPr lang="en-GB" sz="2800" dirty="0">
                <a:solidFill>
                  <a:schemeClr val="tx1"/>
                </a:solidFill>
                <a:latin typeface="Garamond" panose="02020404030301010803" pitchFamily="18" charset="0"/>
              </a:rPr>
              <a:t>Academic writing aims to convey information in an impartial way. The goal is to base arguments on the evidence under consideration, not the author’s preconceptions. All claims should be supported with relevant evidence, not just asserted</a:t>
            </a:r>
            <a:r>
              <a:rPr lang="en-GB" sz="2800" b="1" dirty="0" smtClean="0">
                <a:solidFill>
                  <a:schemeClr val="tx1"/>
                </a:solidFill>
                <a:latin typeface="Garamond" panose="02020404030301010803" pitchFamily="18" charset="0"/>
              </a:rPr>
              <a:t>.</a:t>
            </a:r>
            <a:endParaRPr lang="en-GB" sz="2800" b="1" dirty="0">
              <a:solidFill>
                <a:schemeClr val="tx1"/>
              </a:solidFill>
              <a:latin typeface="Garamond" panose="02020404030301010803" pitchFamily="18" charset="0"/>
            </a:endParaRPr>
          </a:p>
        </p:txBody>
      </p:sp>
    </p:spTree>
    <p:extLst>
      <p:ext uri="{BB962C8B-B14F-4D97-AF65-F5344CB8AC3E}">
        <p14:creationId xmlns:p14="http://schemas.microsoft.com/office/powerpoint/2010/main" val="41136553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a:xfrm>
            <a:off x="1295401" y="2556931"/>
            <a:ext cx="9601196" cy="3367351"/>
          </a:xfrm>
        </p:spPr>
        <p:txBody>
          <a:bodyPr>
            <a:normAutofit/>
          </a:bodyPr>
          <a:lstStyle/>
          <a:p>
            <a:pPr marL="0" indent="0">
              <a:buNone/>
            </a:pPr>
            <a:r>
              <a:rPr lang="en-GB" sz="2800" b="1" dirty="0" smtClean="0">
                <a:latin typeface="Garamond" panose="02020404030301010803" pitchFamily="18" charset="0"/>
              </a:rPr>
              <a:t>2.  </a:t>
            </a:r>
            <a:r>
              <a:rPr lang="en-GB" sz="2800" b="1" dirty="0">
                <a:solidFill>
                  <a:schemeClr val="tx1"/>
                </a:solidFill>
                <a:latin typeface="Garamond" panose="02020404030301010803" pitchFamily="18" charset="0"/>
              </a:rPr>
              <a:t>Clear and precise</a:t>
            </a:r>
          </a:p>
          <a:p>
            <a:r>
              <a:rPr lang="en-GB" sz="2800" dirty="0" smtClean="0"/>
              <a:t>It’s </a:t>
            </a:r>
            <a:r>
              <a:rPr lang="en-GB" sz="2800" dirty="0"/>
              <a:t>important to use clear and precise language to ensure that your reader knows exactly what you mean. This means being as specific as possible and avoiding vague language</a:t>
            </a:r>
            <a:r>
              <a:rPr lang="en-GB" sz="2800" dirty="0" smtClean="0"/>
              <a:t>: e.g. Instead </a:t>
            </a:r>
            <a:r>
              <a:rPr lang="en-GB" sz="2800" dirty="0"/>
              <a:t>of </a:t>
            </a:r>
            <a:r>
              <a:rPr lang="en-GB" sz="2800" dirty="0" smtClean="0"/>
              <a:t>writing that people </a:t>
            </a:r>
            <a:r>
              <a:rPr lang="en-GB" sz="2800" dirty="0"/>
              <a:t>have been interested in this thing for a long </a:t>
            </a:r>
            <a:r>
              <a:rPr lang="en-GB" sz="2800" dirty="0" smtClean="0"/>
              <a:t>time. Just write people </a:t>
            </a:r>
            <a:r>
              <a:rPr lang="en-GB" sz="2800" dirty="0"/>
              <a:t>have been interested in this phenomenon for at least 10 years.</a:t>
            </a:r>
          </a:p>
        </p:txBody>
      </p:sp>
    </p:spTree>
    <p:extLst>
      <p:ext uri="{BB962C8B-B14F-4D97-AF65-F5344CB8AC3E}">
        <p14:creationId xmlns:p14="http://schemas.microsoft.com/office/powerpoint/2010/main" val="13504515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a:xfrm>
            <a:off x="1295402" y="2285999"/>
            <a:ext cx="9601196" cy="4307983"/>
          </a:xfrm>
        </p:spPr>
        <p:txBody>
          <a:bodyPr>
            <a:normAutofit/>
          </a:bodyPr>
          <a:lstStyle/>
          <a:p>
            <a:pPr marL="0" lvl="0" indent="0">
              <a:buClr>
                <a:srgbClr val="83992A"/>
              </a:buClr>
              <a:buNone/>
            </a:pPr>
            <a:r>
              <a:rPr lang="en-GB" sz="2800" b="1" dirty="0" smtClean="0"/>
              <a:t>3.</a:t>
            </a:r>
            <a:r>
              <a:rPr lang="en-GB" sz="2800" b="1" dirty="0">
                <a:solidFill>
                  <a:prstClr val="black"/>
                </a:solidFill>
              </a:rPr>
              <a:t> Well sourced</a:t>
            </a:r>
          </a:p>
          <a:p>
            <a:r>
              <a:rPr lang="en-GB" sz="2800" dirty="0"/>
              <a:t>Academic writing uses sources to support its claims. Sources are other texts (or media objects like photographs or films) that the author </a:t>
            </a:r>
            <a:r>
              <a:rPr lang="en-GB" sz="2800" dirty="0" smtClean="0"/>
              <a:t>analyses </a:t>
            </a:r>
            <a:r>
              <a:rPr lang="en-GB" sz="2800" dirty="0"/>
              <a:t>or uses as evidence. Many of your sources will be written by other </a:t>
            </a:r>
            <a:r>
              <a:rPr lang="en-GB" sz="2800" dirty="0" smtClean="0"/>
              <a:t>academicians. Further</a:t>
            </a:r>
            <a:r>
              <a:rPr lang="en-GB" sz="2800" dirty="0"/>
              <a:t>, </a:t>
            </a:r>
            <a:r>
              <a:rPr lang="en-GB" sz="2800" dirty="0" smtClean="0"/>
              <a:t>it’s </a:t>
            </a:r>
            <a:r>
              <a:rPr lang="en-GB" sz="2800" dirty="0"/>
              <a:t>important to consider which sources are credible and appropriate to use in academic writing. For example, citing Wikipedia is typically discouraged. Don’t rely on websites for information; instead, use academic databases and your university library to find credible sources. </a:t>
            </a:r>
          </a:p>
        </p:txBody>
      </p:sp>
    </p:spTree>
    <p:extLst>
      <p:ext uri="{BB962C8B-B14F-4D97-AF65-F5344CB8AC3E}">
        <p14:creationId xmlns:p14="http://schemas.microsoft.com/office/powerpoint/2010/main" val="18907716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a:xfrm>
            <a:off x="1295401" y="2556931"/>
            <a:ext cx="9601196" cy="3856747"/>
          </a:xfrm>
        </p:spPr>
        <p:txBody>
          <a:bodyPr>
            <a:normAutofit fontScale="70000" lnSpcReduction="20000"/>
          </a:bodyPr>
          <a:lstStyle/>
          <a:p>
            <a:pPr marL="0" lvl="0" indent="0">
              <a:buClr>
                <a:srgbClr val="83992A"/>
              </a:buClr>
              <a:buNone/>
            </a:pPr>
            <a:r>
              <a:rPr lang="en-GB" sz="4500" b="1" dirty="0" smtClean="0"/>
              <a:t>4.</a:t>
            </a:r>
            <a:r>
              <a:rPr lang="en-GB" sz="4500" b="1" dirty="0">
                <a:solidFill>
                  <a:prstClr val="black"/>
                </a:solidFill>
              </a:rPr>
              <a:t> Correct and </a:t>
            </a:r>
            <a:r>
              <a:rPr lang="en-GB" sz="4500" b="1" dirty="0" smtClean="0">
                <a:solidFill>
                  <a:prstClr val="black"/>
                </a:solidFill>
              </a:rPr>
              <a:t>consistent </a:t>
            </a:r>
          </a:p>
          <a:p>
            <a:pPr marL="0" indent="0">
              <a:buClr>
                <a:srgbClr val="83992A"/>
              </a:buClr>
              <a:buNone/>
            </a:pPr>
            <a:r>
              <a:rPr lang="en-GB" sz="3600" dirty="0">
                <a:solidFill>
                  <a:prstClr val="black"/>
                </a:solidFill>
              </a:rPr>
              <a:t>F</a:t>
            </a:r>
            <a:r>
              <a:rPr lang="en-GB" sz="3600" dirty="0" smtClean="0">
                <a:solidFill>
                  <a:prstClr val="black"/>
                </a:solidFill>
              </a:rPr>
              <a:t>ollowing </a:t>
            </a:r>
            <a:r>
              <a:rPr lang="en-GB" sz="3600" dirty="0">
                <a:solidFill>
                  <a:prstClr val="black"/>
                </a:solidFill>
              </a:rPr>
              <a:t>the rules of grammar, punctuation, and citation, it’s important to consistently apply stylistic conventions regarding</a:t>
            </a:r>
            <a:r>
              <a:rPr lang="en-GB" sz="3600" dirty="0" smtClean="0">
                <a:solidFill>
                  <a:prstClr val="black"/>
                </a:solidFill>
              </a:rPr>
              <a:t>: </a:t>
            </a:r>
          </a:p>
          <a:p>
            <a:pPr>
              <a:buClr>
                <a:srgbClr val="83992A"/>
              </a:buClr>
            </a:pPr>
            <a:r>
              <a:rPr lang="en-GB" sz="3600" dirty="0">
                <a:solidFill>
                  <a:prstClr val="black"/>
                </a:solidFill>
              </a:rPr>
              <a:t>How to write numbers</a:t>
            </a:r>
          </a:p>
          <a:p>
            <a:pPr>
              <a:buClr>
                <a:srgbClr val="83992A"/>
              </a:buClr>
            </a:pPr>
            <a:r>
              <a:rPr lang="en-GB" sz="3600" dirty="0">
                <a:solidFill>
                  <a:prstClr val="black"/>
                </a:solidFill>
              </a:rPr>
              <a:t>Introducing abbreviations</a:t>
            </a:r>
          </a:p>
          <a:p>
            <a:pPr>
              <a:buClr>
                <a:srgbClr val="83992A"/>
              </a:buClr>
            </a:pPr>
            <a:r>
              <a:rPr lang="en-GB" sz="3600" dirty="0">
                <a:solidFill>
                  <a:prstClr val="black"/>
                </a:solidFill>
              </a:rPr>
              <a:t>Using verb tenses in different </a:t>
            </a:r>
            <a:r>
              <a:rPr lang="en-GB" sz="3600" dirty="0" smtClean="0">
                <a:solidFill>
                  <a:prstClr val="black"/>
                </a:solidFill>
              </a:rPr>
              <a:t>sections( present/past)</a:t>
            </a:r>
            <a:endParaRPr lang="en-GB" sz="3600" dirty="0">
              <a:solidFill>
                <a:prstClr val="black"/>
              </a:solidFill>
            </a:endParaRPr>
          </a:p>
          <a:p>
            <a:pPr>
              <a:buClr>
                <a:srgbClr val="83992A"/>
              </a:buClr>
            </a:pPr>
            <a:r>
              <a:rPr lang="en-GB" sz="3600" dirty="0">
                <a:solidFill>
                  <a:prstClr val="black"/>
                </a:solidFill>
              </a:rPr>
              <a:t>Capitalization of terms and headings</a:t>
            </a:r>
          </a:p>
          <a:p>
            <a:pPr>
              <a:buClr>
                <a:srgbClr val="83992A"/>
              </a:buClr>
            </a:pPr>
            <a:r>
              <a:rPr lang="en-GB" sz="3600" dirty="0">
                <a:solidFill>
                  <a:prstClr val="black"/>
                </a:solidFill>
              </a:rPr>
              <a:t>Spelling and punctuation differences between UK and US </a:t>
            </a:r>
            <a:r>
              <a:rPr lang="en-GB" sz="3600" dirty="0" smtClean="0">
                <a:solidFill>
                  <a:prstClr val="black"/>
                </a:solidFill>
              </a:rPr>
              <a:t>English</a:t>
            </a:r>
            <a:endParaRPr lang="en-GB" sz="3600" dirty="0">
              <a:solidFill>
                <a:prstClr val="black"/>
              </a:solidFill>
            </a:endParaRPr>
          </a:p>
        </p:txBody>
      </p:sp>
    </p:spTree>
    <p:extLst>
      <p:ext uri="{BB962C8B-B14F-4D97-AF65-F5344CB8AC3E}">
        <p14:creationId xmlns:p14="http://schemas.microsoft.com/office/powerpoint/2010/main" val="423275039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lstStyle/>
          <a:p>
            <a:pPr marL="0" indent="0">
              <a:buNone/>
            </a:pPr>
            <a:r>
              <a:rPr lang="en-GB" sz="2800" b="1" dirty="0"/>
              <a:t>General rules on content, structure and style of Academic </a:t>
            </a:r>
            <a:r>
              <a:rPr lang="en-GB" sz="2800" b="1" dirty="0" smtClean="0"/>
              <a:t>writing. Cont.…</a:t>
            </a:r>
            <a:endParaRPr lang="en-GB" sz="2800" b="1" dirty="0"/>
          </a:p>
          <a:p>
            <a:pPr marL="0" indent="0">
              <a:buNone/>
            </a:pPr>
            <a:r>
              <a:rPr lang="en-GB" sz="2800" b="1" dirty="0"/>
              <a:t>B) Academic writing </a:t>
            </a:r>
            <a:r>
              <a:rPr lang="en-GB" sz="2800" b="1" dirty="0" smtClean="0"/>
              <a:t>should not </a:t>
            </a:r>
            <a:r>
              <a:rPr lang="en-GB" sz="2800" b="1" dirty="0"/>
              <a:t>be</a:t>
            </a:r>
            <a:r>
              <a:rPr lang="en-GB" sz="2800" b="1" dirty="0" smtClean="0"/>
              <a:t>:</a:t>
            </a:r>
          </a:p>
          <a:p>
            <a:pPr marL="457200" indent="-457200">
              <a:buFont typeface="+mj-lt"/>
              <a:buAutoNum type="arabicPeriod"/>
            </a:pPr>
            <a:r>
              <a:rPr lang="en-GB" b="1" dirty="0" smtClean="0"/>
              <a:t>Personal</a:t>
            </a:r>
          </a:p>
          <a:p>
            <a:pPr marL="457200" indent="-457200">
              <a:buFont typeface="+mj-lt"/>
              <a:buAutoNum type="arabicPeriod"/>
            </a:pPr>
            <a:r>
              <a:rPr lang="en-GB" b="1" dirty="0" smtClean="0"/>
              <a:t>Long-winded</a:t>
            </a:r>
          </a:p>
          <a:p>
            <a:pPr marL="457200" indent="-457200">
              <a:buFont typeface="+mj-lt"/>
              <a:buAutoNum type="arabicPeriod"/>
            </a:pPr>
            <a:r>
              <a:rPr lang="en-GB" b="1" dirty="0"/>
              <a:t>Emotive and grandiose</a:t>
            </a:r>
          </a:p>
          <a:p>
            <a:pPr marL="0" indent="0">
              <a:buNone/>
            </a:pPr>
            <a:endParaRPr lang="en-GB" b="1" dirty="0"/>
          </a:p>
        </p:txBody>
      </p:sp>
    </p:spTree>
    <p:extLst>
      <p:ext uri="{BB962C8B-B14F-4D97-AF65-F5344CB8AC3E}">
        <p14:creationId xmlns:p14="http://schemas.microsoft.com/office/powerpoint/2010/main" val="3887235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nodeType="clickEffect">
                                  <p:stCondLst>
                                    <p:cond delay="0"/>
                                  </p:stCondLst>
                                  <p:iterate type="lt">
                                    <p:tmPct val="20000"/>
                                  </p:iterate>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12" fill="hold" nodeType="withEffect">
                                  <p:stCondLst>
                                    <p:cond delay="0"/>
                                  </p:stCondLst>
                                  <p:iterate type="lt">
                                    <p:tmPct val="20000"/>
                                  </p:iterate>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12" fill="hold" nodeType="withEffect">
                                  <p:stCondLst>
                                    <p:cond delay="0"/>
                                  </p:stCondLst>
                                  <p:iterate type="lt">
                                    <p:tmPct val="20000"/>
                                  </p:iterate>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12" fill="hold" nodeType="withEffect">
                                  <p:stCondLst>
                                    <p:cond delay="0"/>
                                  </p:stCondLst>
                                  <p:iterate type="lt">
                                    <p:tmPct val="20000"/>
                                  </p:iterate>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12" fill="hold" nodeType="withEffect">
                                  <p:stCondLst>
                                    <p:cond delay="0"/>
                                  </p:stCondLst>
                                  <p:iterate type="lt">
                                    <p:tmPct val="20000"/>
                                  </p:iterate>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normAutofit lnSpcReduction="10000"/>
          </a:bodyPr>
          <a:lstStyle/>
          <a:p>
            <a:pPr marL="0" lvl="0" indent="0">
              <a:buClr>
                <a:srgbClr val="83992A"/>
              </a:buClr>
              <a:buNone/>
            </a:pPr>
            <a:r>
              <a:rPr lang="en-GB" sz="2800" b="1" dirty="0" smtClean="0">
                <a:solidFill>
                  <a:prstClr val="black">
                    <a:lumMod val="85000"/>
                    <a:lumOff val="15000"/>
                  </a:prstClr>
                </a:solidFill>
              </a:rPr>
              <a:t>Academic </a:t>
            </a:r>
            <a:r>
              <a:rPr lang="en-GB" sz="2800" b="1" dirty="0">
                <a:solidFill>
                  <a:prstClr val="black">
                    <a:lumMod val="85000"/>
                    <a:lumOff val="15000"/>
                  </a:prstClr>
                </a:solidFill>
              </a:rPr>
              <a:t>writing should not be</a:t>
            </a:r>
            <a:r>
              <a:rPr lang="en-GB" b="1" dirty="0" smtClean="0">
                <a:solidFill>
                  <a:prstClr val="black">
                    <a:lumMod val="85000"/>
                    <a:lumOff val="15000"/>
                  </a:prstClr>
                </a:solidFill>
              </a:rPr>
              <a:t>: </a:t>
            </a:r>
          </a:p>
          <a:p>
            <a:pPr marL="457200" lvl="0" indent="-457200">
              <a:buClr>
                <a:srgbClr val="83992A"/>
              </a:buClr>
              <a:buAutoNum type="arabicPeriod"/>
            </a:pPr>
            <a:r>
              <a:rPr lang="en-GB" sz="2800" b="1" dirty="0" smtClean="0">
                <a:solidFill>
                  <a:prstClr val="black">
                    <a:lumMod val="85000"/>
                    <a:lumOff val="15000"/>
                  </a:prstClr>
                </a:solidFill>
              </a:rPr>
              <a:t>Personal </a:t>
            </a:r>
          </a:p>
          <a:p>
            <a:pPr>
              <a:buClr>
                <a:srgbClr val="83992A"/>
              </a:buClr>
            </a:pPr>
            <a:r>
              <a:rPr lang="en-GB" sz="2800" dirty="0">
                <a:solidFill>
                  <a:prstClr val="black">
                    <a:lumMod val="85000"/>
                    <a:lumOff val="15000"/>
                  </a:prstClr>
                </a:solidFill>
              </a:rPr>
              <a:t>Academic writing generally tries to avoid being too personal. Information about the author may come in at some </a:t>
            </a:r>
            <a:r>
              <a:rPr lang="en-GB" sz="2800" dirty="0" smtClean="0">
                <a:solidFill>
                  <a:prstClr val="black">
                    <a:lumMod val="85000"/>
                    <a:lumOff val="15000"/>
                  </a:prstClr>
                </a:solidFill>
              </a:rPr>
              <a:t>points in the paper. For example, </a:t>
            </a:r>
            <a:r>
              <a:rPr lang="en-GB" sz="2800" dirty="0">
                <a:solidFill>
                  <a:prstClr val="black">
                    <a:lumMod val="85000"/>
                    <a:lumOff val="15000"/>
                  </a:prstClr>
                </a:solidFill>
              </a:rPr>
              <a:t>in the acknowledgements or in a personal </a:t>
            </a:r>
            <a:r>
              <a:rPr lang="en-GB" sz="2800" dirty="0" smtClean="0">
                <a:solidFill>
                  <a:prstClr val="black">
                    <a:lumMod val="85000"/>
                    <a:lumOff val="15000"/>
                  </a:prstClr>
                </a:solidFill>
              </a:rPr>
              <a:t>reflection, yet </a:t>
            </a:r>
            <a:r>
              <a:rPr lang="en-GB" sz="2800" dirty="0">
                <a:solidFill>
                  <a:prstClr val="black">
                    <a:lumMod val="85000"/>
                    <a:lumOff val="15000"/>
                  </a:prstClr>
                </a:solidFill>
              </a:rPr>
              <a:t>for the most part the text should focus on </a:t>
            </a:r>
            <a:r>
              <a:rPr lang="en-GB" sz="2800" dirty="0" smtClean="0">
                <a:solidFill>
                  <a:prstClr val="black">
                    <a:lumMod val="85000"/>
                    <a:lumOff val="15000"/>
                  </a:prstClr>
                </a:solidFill>
              </a:rPr>
              <a:t>the topic </a:t>
            </a:r>
            <a:r>
              <a:rPr lang="en-GB" sz="2800" dirty="0">
                <a:solidFill>
                  <a:prstClr val="black">
                    <a:lumMod val="85000"/>
                    <a:lumOff val="15000"/>
                  </a:prstClr>
                </a:solidFill>
              </a:rPr>
              <a:t>itself.</a:t>
            </a:r>
          </a:p>
          <a:p>
            <a:pPr marL="0" lvl="0" indent="0">
              <a:buClr>
                <a:srgbClr val="83992A"/>
              </a:buClr>
              <a:buNone/>
            </a:pPr>
            <a:endParaRPr lang="en-GB" sz="2800" dirty="0">
              <a:solidFill>
                <a:prstClr val="black">
                  <a:lumMod val="85000"/>
                  <a:lumOff val="15000"/>
                </a:prstClr>
              </a:solidFill>
            </a:endParaRPr>
          </a:p>
        </p:txBody>
      </p:sp>
    </p:spTree>
    <p:extLst>
      <p:ext uri="{BB962C8B-B14F-4D97-AF65-F5344CB8AC3E}">
        <p14:creationId xmlns:p14="http://schemas.microsoft.com/office/powerpoint/2010/main" val="177218783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a:xfrm>
            <a:off x="1452155" y="2596120"/>
            <a:ext cx="9601196" cy="3318936"/>
          </a:xfrm>
        </p:spPr>
        <p:txBody>
          <a:bodyPr/>
          <a:lstStyle/>
          <a:p>
            <a:pPr marL="0" lvl="0" indent="0">
              <a:buClr>
                <a:srgbClr val="83992A"/>
              </a:buClr>
              <a:buNone/>
            </a:pPr>
            <a:r>
              <a:rPr lang="en-GB" sz="2800" b="1" dirty="0">
                <a:solidFill>
                  <a:prstClr val="black">
                    <a:lumMod val="85000"/>
                    <a:lumOff val="15000"/>
                  </a:prstClr>
                </a:solidFill>
              </a:rPr>
              <a:t>Academic writing should not be: </a:t>
            </a:r>
          </a:p>
          <a:p>
            <a:pPr marL="0" lvl="0" indent="0">
              <a:buClr>
                <a:srgbClr val="83992A"/>
              </a:buClr>
              <a:buNone/>
            </a:pPr>
            <a:r>
              <a:rPr lang="en-GB" sz="2800" b="1" dirty="0" smtClean="0">
                <a:solidFill>
                  <a:prstClr val="black">
                    <a:lumMod val="85000"/>
                    <a:lumOff val="15000"/>
                  </a:prstClr>
                </a:solidFill>
              </a:rPr>
              <a:t>2. </a:t>
            </a:r>
            <a:r>
              <a:rPr lang="en-GB" sz="2800" b="1" dirty="0">
                <a:solidFill>
                  <a:prstClr val="black">
                    <a:lumMod val="85000"/>
                    <a:lumOff val="15000"/>
                  </a:prstClr>
                </a:solidFill>
              </a:rPr>
              <a:t>Long-winded</a:t>
            </a:r>
          </a:p>
          <a:p>
            <a:r>
              <a:rPr lang="en-GB" sz="2800" dirty="0"/>
              <a:t>Many students think their writing isn’t academic unless it’s over-complicated and long-winded(longer than </a:t>
            </a:r>
            <a:r>
              <a:rPr lang="en-GB" sz="2800" dirty="0" smtClean="0"/>
              <a:t>necessary). </a:t>
            </a:r>
            <a:r>
              <a:rPr lang="en-GB" sz="2800" dirty="0"/>
              <a:t>This isn’t a good </a:t>
            </a:r>
            <a:r>
              <a:rPr lang="en-GB" sz="2800" dirty="0" smtClean="0"/>
              <a:t>approach, instead</a:t>
            </a:r>
            <a:r>
              <a:rPr lang="en-GB" sz="2800" dirty="0"/>
              <a:t>, aim to be as concise and direct as possible.</a:t>
            </a:r>
          </a:p>
        </p:txBody>
      </p:sp>
    </p:spTree>
    <p:extLst>
      <p:ext uri="{BB962C8B-B14F-4D97-AF65-F5344CB8AC3E}">
        <p14:creationId xmlns:p14="http://schemas.microsoft.com/office/powerpoint/2010/main" val="10693571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a:t>
            </a:r>
            <a:r>
              <a:rPr lang="en-GB" sz="3600" b="1" dirty="0" smtClean="0">
                <a:solidFill>
                  <a:prstClr val="black">
                    <a:lumMod val="85000"/>
                    <a:lumOff val="15000"/>
                  </a:prstClr>
                </a:solidFill>
              </a:rPr>
              <a:t>CIENTIFIC </a:t>
            </a:r>
            <a:r>
              <a:rPr lang="en-GB" sz="3600" b="1" dirty="0">
                <a:solidFill>
                  <a:prstClr val="black">
                    <a:lumMod val="85000"/>
                    <a:lumOff val="15000"/>
                  </a:prstClr>
                </a:solidFill>
              </a:rPr>
              <a:t>AND ACADEMIC WRITING</a:t>
            </a:r>
            <a:endParaRPr lang="en-GB" dirty="0"/>
          </a:p>
        </p:txBody>
      </p:sp>
      <p:sp>
        <p:nvSpPr>
          <p:cNvPr id="3" name="Content Placeholder 2"/>
          <p:cNvSpPr>
            <a:spLocks noGrp="1"/>
          </p:cNvSpPr>
          <p:nvPr>
            <p:ph idx="1"/>
          </p:nvPr>
        </p:nvSpPr>
        <p:spPr/>
        <p:txBody>
          <a:bodyPr>
            <a:normAutofit/>
          </a:bodyPr>
          <a:lstStyle/>
          <a:p>
            <a:pPr marL="0" lvl="0" indent="0">
              <a:buClr>
                <a:srgbClr val="83992A"/>
              </a:buClr>
              <a:buNone/>
            </a:pPr>
            <a:r>
              <a:rPr lang="en-GB" sz="2800" b="1" dirty="0">
                <a:solidFill>
                  <a:prstClr val="black">
                    <a:lumMod val="85000"/>
                    <a:lumOff val="15000"/>
                  </a:prstClr>
                </a:solidFill>
              </a:rPr>
              <a:t>Academic writing should not be: </a:t>
            </a:r>
          </a:p>
          <a:p>
            <a:pPr marL="0" lvl="0" indent="0">
              <a:buClr>
                <a:srgbClr val="83992A"/>
              </a:buClr>
              <a:buNone/>
            </a:pPr>
            <a:r>
              <a:rPr lang="en-GB" sz="2800" b="1" dirty="0" smtClean="0">
                <a:solidFill>
                  <a:prstClr val="black">
                    <a:lumMod val="85000"/>
                    <a:lumOff val="15000"/>
                  </a:prstClr>
                </a:solidFill>
              </a:rPr>
              <a:t>3. </a:t>
            </a:r>
            <a:r>
              <a:rPr lang="en-GB" sz="2800" b="1" dirty="0">
                <a:solidFill>
                  <a:prstClr val="black">
                    <a:lumMod val="85000"/>
                    <a:lumOff val="15000"/>
                  </a:prstClr>
                </a:solidFill>
              </a:rPr>
              <a:t>Emotive and grandiose</a:t>
            </a:r>
          </a:p>
          <a:p>
            <a:pPr>
              <a:buClr>
                <a:srgbClr val="83992A"/>
              </a:buClr>
            </a:pPr>
            <a:r>
              <a:rPr lang="en-GB" sz="2800" dirty="0"/>
              <a:t>Emotive language is the use of descriptive words, often adjectives, that can show the reader </a:t>
            </a:r>
            <a:r>
              <a:rPr lang="en-GB" sz="2800" dirty="0" smtClean="0"/>
              <a:t>how the  writer </a:t>
            </a:r>
            <a:r>
              <a:rPr lang="en-GB" sz="2800" dirty="0"/>
              <a:t>feels about </a:t>
            </a:r>
            <a:r>
              <a:rPr lang="en-GB" sz="2800" dirty="0" smtClean="0"/>
              <a:t>something</a:t>
            </a:r>
            <a:r>
              <a:rPr lang="en-GB" sz="2800" dirty="0"/>
              <a:t>. The words we speak or write has the power to </a:t>
            </a:r>
            <a:r>
              <a:rPr lang="en-GB" sz="2800" dirty="0" smtClean="0"/>
              <a:t>calm, </a:t>
            </a:r>
            <a:r>
              <a:rPr lang="en-GB" sz="2800" dirty="0"/>
              <a:t>influence, motivate, irritate or agitate somebody. </a:t>
            </a:r>
          </a:p>
          <a:p>
            <a:pPr>
              <a:buClr>
                <a:srgbClr val="83992A"/>
              </a:buClr>
            </a:pPr>
            <a:endParaRPr lang="en-GB" sz="2800" dirty="0"/>
          </a:p>
        </p:txBody>
      </p:sp>
    </p:spTree>
    <p:extLst>
      <p:ext uri="{BB962C8B-B14F-4D97-AF65-F5344CB8AC3E}">
        <p14:creationId xmlns:p14="http://schemas.microsoft.com/office/powerpoint/2010/main" val="35064284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normAutofit/>
          </a:bodyPr>
          <a:lstStyle/>
          <a:p>
            <a:pPr marL="0" indent="0">
              <a:buNone/>
            </a:pPr>
            <a:r>
              <a:rPr lang="en-GB" sz="2800" b="1" dirty="0">
                <a:solidFill>
                  <a:prstClr val="black">
                    <a:lumMod val="85000"/>
                    <a:lumOff val="15000"/>
                  </a:prstClr>
                </a:solidFill>
              </a:rPr>
              <a:t>Emotive and </a:t>
            </a:r>
            <a:r>
              <a:rPr lang="en-GB" sz="2800" b="1" dirty="0" smtClean="0">
                <a:solidFill>
                  <a:prstClr val="black">
                    <a:lumMod val="85000"/>
                    <a:lumOff val="15000"/>
                  </a:prstClr>
                </a:solidFill>
              </a:rPr>
              <a:t>grandiose.Cont</a:t>
            </a:r>
          </a:p>
          <a:p>
            <a:r>
              <a:rPr lang="en-GB" sz="2800" dirty="0">
                <a:solidFill>
                  <a:prstClr val="black">
                    <a:lumMod val="85000"/>
                    <a:lumOff val="15000"/>
                  </a:prstClr>
                </a:solidFill>
              </a:rPr>
              <a:t>E</a:t>
            </a:r>
            <a:r>
              <a:rPr lang="en-GB" sz="2800" dirty="0" smtClean="0">
                <a:solidFill>
                  <a:prstClr val="black">
                    <a:lumMod val="85000"/>
                    <a:lumOff val="15000"/>
                  </a:prstClr>
                </a:solidFill>
              </a:rPr>
              <a:t>motive </a:t>
            </a:r>
            <a:r>
              <a:rPr lang="en-GB" sz="2800" dirty="0">
                <a:solidFill>
                  <a:prstClr val="black">
                    <a:lumMod val="85000"/>
                    <a:lumOff val="15000"/>
                  </a:prstClr>
                </a:solidFill>
              </a:rPr>
              <a:t>writing is very persuasive in </a:t>
            </a:r>
            <a:r>
              <a:rPr lang="en-GB" sz="2800" dirty="0" smtClean="0">
                <a:solidFill>
                  <a:prstClr val="black">
                    <a:lumMod val="85000"/>
                    <a:lumOff val="15000"/>
                  </a:prstClr>
                </a:solidFill>
              </a:rPr>
              <a:t>nature, it makes the writer lose </a:t>
            </a:r>
            <a:r>
              <a:rPr lang="en-GB" sz="2800" dirty="0">
                <a:solidFill>
                  <a:prstClr val="black">
                    <a:lumMod val="85000"/>
                    <a:lumOff val="15000"/>
                  </a:prstClr>
                </a:solidFill>
              </a:rPr>
              <a:t>the essence of a formal writing </a:t>
            </a:r>
            <a:r>
              <a:rPr lang="en-GB" sz="2800" dirty="0" smtClean="0">
                <a:solidFill>
                  <a:prstClr val="black">
                    <a:lumMod val="85000"/>
                    <a:lumOff val="15000"/>
                  </a:prstClr>
                </a:solidFill>
              </a:rPr>
              <a:t>and the subject looks </a:t>
            </a:r>
            <a:r>
              <a:rPr lang="en-GB" sz="2800" dirty="0">
                <a:solidFill>
                  <a:prstClr val="black">
                    <a:lumMod val="85000"/>
                    <a:lumOff val="15000"/>
                  </a:prstClr>
                </a:solidFill>
              </a:rPr>
              <a:t>very subjective rather than </a:t>
            </a:r>
            <a:r>
              <a:rPr lang="en-GB" sz="2800" dirty="0" smtClean="0">
                <a:solidFill>
                  <a:prstClr val="black">
                    <a:lumMod val="85000"/>
                    <a:lumOff val="15000"/>
                  </a:prstClr>
                </a:solidFill>
              </a:rPr>
              <a:t>objective. This kind of writing </a:t>
            </a:r>
            <a:r>
              <a:rPr lang="en-GB" sz="2800" dirty="0">
                <a:solidFill>
                  <a:prstClr val="black">
                    <a:lumMod val="85000"/>
                    <a:lumOff val="15000"/>
                  </a:prstClr>
                </a:solidFill>
              </a:rPr>
              <a:t>provoke emotions in readers </a:t>
            </a:r>
            <a:r>
              <a:rPr lang="en-GB" sz="2800" dirty="0" smtClean="0">
                <a:solidFill>
                  <a:prstClr val="black">
                    <a:lumMod val="85000"/>
                    <a:lumOff val="15000"/>
                  </a:prstClr>
                </a:solidFill>
              </a:rPr>
              <a:t>and creates </a:t>
            </a:r>
            <a:r>
              <a:rPr lang="en-GB" sz="2800" dirty="0">
                <a:solidFill>
                  <a:prstClr val="black">
                    <a:lumMod val="85000"/>
                    <a:lumOff val="15000"/>
                  </a:prstClr>
                </a:solidFill>
              </a:rPr>
              <a:t>a big issue out of a small one.</a:t>
            </a:r>
          </a:p>
          <a:p>
            <a:endParaRPr lang="en-GB" sz="2800" dirty="0">
              <a:solidFill>
                <a:prstClr val="black">
                  <a:lumMod val="85000"/>
                  <a:lumOff val="15000"/>
                </a:prstClr>
              </a:solidFill>
            </a:endParaRPr>
          </a:p>
          <a:p>
            <a:endParaRPr lang="en-GB" sz="2800" b="1" dirty="0">
              <a:solidFill>
                <a:prstClr val="black">
                  <a:lumMod val="85000"/>
                  <a:lumOff val="15000"/>
                </a:prstClr>
              </a:solidFill>
            </a:endParaRPr>
          </a:p>
        </p:txBody>
      </p:sp>
    </p:spTree>
    <p:extLst>
      <p:ext uri="{BB962C8B-B14F-4D97-AF65-F5344CB8AC3E}">
        <p14:creationId xmlns:p14="http://schemas.microsoft.com/office/powerpoint/2010/main" val="1691349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normAutofit lnSpcReduction="10000"/>
          </a:bodyPr>
          <a:lstStyle/>
          <a:p>
            <a:pPr marL="0" indent="0">
              <a:buNone/>
            </a:pPr>
            <a:r>
              <a:rPr lang="en-GB" sz="2800" b="1" dirty="0">
                <a:solidFill>
                  <a:prstClr val="black">
                    <a:lumMod val="85000"/>
                    <a:lumOff val="15000"/>
                  </a:prstClr>
                </a:solidFill>
              </a:rPr>
              <a:t>Emotive </a:t>
            </a:r>
            <a:r>
              <a:rPr lang="en-GB" sz="2800" b="1" dirty="0" smtClean="0">
                <a:solidFill>
                  <a:prstClr val="black">
                    <a:lumMod val="85000"/>
                    <a:lumOff val="15000"/>
                  </a:prstClr>
                </a:solidFill>
              </a:rPr>
              <a:t>writing Example.</a:t>
            </a:r>
          </a:p>
          <a:p>
            <a:pPr marL="514350" indent="-514350">
              <a:buFont typeface="+mj-lt"/>
              <a:buAutoNum type="arabicPeriod"/>
            </a:pPr>
            <a:r>
              <a:rPr lang="en-GB" sz="2800" dirty="0" smtClean="0">
                <a:solidFill>
                  <a:prstClr val="black">
                    <a:lumMod val="85000"/>
                    <a:lumOff val="15000"/>
                  </a:prstClr>
                </a:solidFill>
              </a:rPr>
              <a:t>If you write, the school management will increase school fees next month – this is simple writing not emotive.</a:t>
            </a:r>
          </a:p>
          <a:p>
            <a:pPr marL="514350" indent="-514350">
              <a:buFont typeface="+mj-lt"/>
              <a:buAutoNum type="arabicPeriod"/>
            </a:pPr>
            <a:r>
              <a:rPr lang="en-GB" sz="2800" dirty="0"/>
              <a:t>If you </a:t>
            </a:r>
            <a:r>
              <a:rPr lang="en-GB" sz="2800" dirty="0" smtClean="0"/>
              <a:t>write, the school management </a:t>
            </a:r>
            <a:r>
              <a:rPr lang="en-GB" sz="2800" dirty="0"/>
              <a:t>is </a:t>
            </a:r>
            <a:r>
              <a:rPr lang="en-GB" sz="2800" dirty="0" smtClean="0"/>
              <a:t>in serious </a:t>
            </a:r>
            <a:r>
              <a:rPr lang="en-GB" sz="2800" dirty="0"/>
              <a:t>talks to increase </a:t>
            </a:r>
            <a:r>
              <a:rPr lang="en-GB" sz="2800" dirty="0" smtClean="0"/>
              <a:t>school fees </a:t>
            </a:r>
            <a:r>
              <a:rPr lang="en-GB" sz="2800" dirty="0"/>
              <a:t>in spite seeing </a:t>
            </a:r>
            <a:r>
              <a:rPr lang="en-GB" sz="2800" dirty="0" smtClean="0"/>
              <a:t>that money is difficult to find, and some of us are orphans. – this is too emotive; bad writing.</a:t>
            </a:r>
            <a:endParaRPr lang="en-GB" sz="2800" dirty="0"/>
          </a:p>
          <a:p>
            <a:pPr marL="0" indent="0">
              <a:buNone/>
            </a:pPr>
            <a:endParaRPr lang="en-GB" sz="2800" dirty="0"/>
          </a:p>
        </p:txBody>
      </p:sp>
    </p:spTree>
    <p:extLst>
      <p:ext uri="{BB962C8B-B14F-4D97-AF65-F5344CB8AC3E}">
        <p14:creationId xmlns:p14="http://schemas.microsoft.com/office/powerpoint/2010/main" val="9295935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a:xfrm>
            <a:off x="1295401" y="2556931"/>
            <a:ext cx="9601196" cy="3739365"/>
          </a:xfrm>
        </p:spPr>
        <p:txBody>
          <a:bodyPr>
            <a:normAutofit lnSpcReduction="10000"/>
          </a:bodyPr>
          <a:lstStyle/>
          <a:p>
            <a:pPr marL="0" marR="1270" indent="0" algn="just">
              <a:lnSpc>
                <a:spcPct val="150000"/>
              </a:lnSpc>
              <a:spcAft>
                <a:spcPts val="25"/>
              </a:spcAft>
              <a:buNone/>
              <a:tabLst>
                <a:tab pos="228600" algn="l"/>
              </a:tabLst>
            </a:pPr>
            <a:r>
              <a:rPr lang="en-US" sz="2800" b="1" dirty="0" smtClean="0">
                <a:solidFill>
                  <a:srgbClr val="000000"/>
                </a:solidFill>
                <a:latin typeface="+mj-lt"/>
                <a:ea typeface="Times New Roman" panose="02020603050405020304" pitchFamily="18" charset="0"/>
                <a:cs typeface="Times New Roman" panose="02020603050405020304" pitchFamily="18" charset="0"/>
              </a:rPr>
              <a:t>Academic </a:t>
            </a:r>
            <a:r>
              <a:rPr lang="en-US" sz="2800" b="1" dirty="0">
                <a:solidFill>
                  <a:srgbClr val="000000"/>
                </a:solidFill>
                <a:latin typeface="+mj-lt"/>
                <a:ea typeface="Times New Roman" panose="02020603050405020304" pitchFamily="18" charset="0"/>
                <a:cs typeface="Times New Roman" panose="02020603050405020304" pitchFamily="18" charset="0"/>
              </a:rPr>
              <a:t>writing styles </a:t>
            </a:r>
            <a:r>
              <a:rPr lang="en-US" sz="2800" b="1" dirty="0" smtClean="0">
                <a:solidFill>
                  <a:srgbClr val="000000"/>
                </a:solidFill>
                <a:latin typeface="+mj-lt"/>
                <a:ea typeface="Times New Roman" panose="02020603050405020304" pitchFamily="18" charset="0"/>
                <a:cs typeface="Times New Roman" panose="02020603050405020304" pitchFamily="18" charset="0"/>
              </a:rPr>
              <a:t>(Descriptive</a:t>
            </a:r>
            <a:r>
              <a:rPr lang="en-US" sz="2800" b="1" dirty="0">
                <a:solidFill>
                  <a:srgbClr val="000000"/>
                </a:solidFill>
                <a:latin typeface="+mj-lt"/>
                <a:ea typeface="Times New Roman" panose="02020603050405020304" pitchFamily="18" charset="0"/>
                <a:cs typeface="Times New Roman" panose="02020603050405020304" pitchFamily="18" charset="0"/>
              </a:rPr>
              <a:t>, </a:t>
            </a:r>
            <a:r>
              <a:rPr lang="en-US" sz="2800" b="1" dirty="0" smtClean="0">
                <a:solidFill>
                  <a:srgbClr val="000000"/>
                </a:solidFill>
                <a:latin typeface="+mj-lt"/>
                <a:ea typeface="Times New Roman" panose="02020603050405020304" pitchFamily="18" charset="0"/>
                <a:cs typeface="Times New Roman" panose="02020603050405020304" pitchFamily="18" charset="0"/>
              </a:rPr>
              <a:t>Analytical</a:t>
            </a:r>
            <a:r>
              <a:rPr lang="en-US" sz="2800" b="1" dirty="0">
                <a:solidFill>
                  <a:srgbClr val="000000"/>
                </a:solidFill>
                <a:latin typeface="+mj-lt"/>
                <a:ea typeface="Times New Roman" panose="02020603050405020304" pitchFamily="18" charset="0"/>
                <a:cs typeface="Times New Roman" panose="02020603050405020304" pitchFamily="18" charset="0"/>
              </a:rPr>
              <a:t>, P</a:t>
            </a:r>
            <a:r>
              <a:rPr lang="en-US" sz="2800" b="1" dirty="0" smtClean="0">
                <a:solidFill>
                  <a:srgbClr val="000000"/>
                </a:solidFill>
                <a:latin typeface="+mj-lt"/>
                <a:ea typeface="Times New Roman" panose="02020603050405020304" pitchFamily="18" charset="0"/>
                <a:cs typeface="Times New Roman" panose="02020603050405020304" pitchFamily="18" charset="0"/>
              </a:rPr>
              <a:t>ersuasive &amp; </a:t>
            </a:r>
            <a:r>
              <a:rPr lang="en-US" sz="2800" b="1" dirty="0">
                <a:solidFill>
                  <a:srgbClr val="000000"/>
                </a:solidFill>
                <a:latin typeface="+mj-lt"/>
                <a:ea typeface="Times New Roman" panose="02020603050405020304" pitchFamily="18" charset="0"/>
                <a:cs typeface="Times New Roman" panose="02020603050405020304" pitchFamily="18" charset="0"/>
              </a:rPr>
              <a:t>C</a:t>
            </a:r>
            <a:r>
              <a:rPr lang="en-US" sz="2800" b="1" dirty="0" smtClean="0">
                <a:solidFill>
                  <a:srgbClr val="000000"/>
                </a:solidFill>
                <a:latin typeface="+mj-lt"/>
                <a:ea typeface="Times New Roman" panose="02020603050405020304" pitchFamily="18" charset="0"/>
                <a:cs typeface="Times New Roman" panose="02020603050405020304" pitchFamily="18" charset="0"/>
              </a:rPr>
              <a:t>ritical)</a:t>
            </a:r>
            <a:endParaRPr lang="en-GB" sz="2800" b="1" dirty="0" smtClean="0">
              <a:latin typeface="+mj-lt"/>
            </a:endParaRPr>
          </a:p>
          <a:p>
            <a:pPr marL="0" marR="1270" indent="0" algn="just">
              <a:lnSpc>
                <a:spcPct val="150000"/>
              </a:lnSpc>
              <a:spcAft>
                <a:spcPts val="25"/>
              </a:spcAft>
              <a:buNone/>
              <a:tabLst>
                <a:tab pos="228600" algn="l"/>
              </a:tabLst>
            </a:pPr>
            <a:r>
              <a:rPr lang="en-GB" sz="1800" b="1" dirty="0" smtClean="0">
                <a:latin typeface="+mj-lt"/>
                <a:ea typeface="Times New Roman" panose="02020603050405020304" pitchFamily="18" charset="0"/>
                <a:cs typeface="Times New Roman" panose="02020603050405020304" pitchFamily="18" charset="0"/>
              </a:rPr>
              <a:t>1.  </a:t>
            </a:r>
            <a:r>
              <a:rPr lang="en-GB" sz="2800" b="1" dirty="0" smtClean="0">
                <a:latin typeface="+mj-lt"/>
                <a:ea typeface="Times New Roman" panose="02020603050405020304" pitchFamily="18" charset="0"/>
                <a:cs typeface="Times New Roman" panose="02020603050405020304" pitchFamily="18" charset="0"/>
              </a:rPr>
              <a:t>Persuasive writing </a:t>
            </a:r>
          </a:p>
          <a:p>
            <a:pPr marR="1270" algn="just">
              <a:lnSpc>
                <a:spcPct val="150000"/>
              </a:lnSpc>
              <a:spcAft>
                <a:spcPts val="25"/>
              </a:spcAft>
              <a:tabLst>
                <a:tab pos="228600" algn="l"/>
              </a:tabLst>
            </a:pPr>
            <a:r>
              <a:rPr lang="en-GB" dirty="0" smtClean="0">
                <a:latin typeface="+mj-lt"/>
                <a:ea typeface="Times New Roman" panose="02020603050405020304" pitchFamily="18" charset="0"/>
                <a:cs typeface="Times New Roman" panose="02020603050405020304" pitchFamily="18" charset="0"/>
              </a:rPr>
              <a:t>When you are writing an article or a paper for people to read, the hope you have is to get the results. In other words, you want to persuade the readers to do what you want.</a:t>
            </a:r>
            <a:endParaRPr lang="en-GB" dirty="0">
              <a:latin typeface="+mj-l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1777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nodeType="clickEffect">
                                  <p:stCondLst>
                                    <p:cond delay="0"/>
                                  </p:stCondLst>
                                  <p:iterate type="lt">
                                    <p:tmPct val="20000"/>
                                  </p:iterate>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2" fill="hold" nodeType="clickEffect">
                                  <p:stCondLst>
                                    <p:cond delay="0"/>
                                  </p:stCondLst>
                                  <p:iterate type="lt">
                                    <p:tmPct val="20000"/>
                                  </p:iterate>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2" fill="hold" nodeType="clickEffect">
                                  <p:stCondLst>
                                    <p:cond delay="0"/>
                                  </p:stCondLst>
                                  <p:iterate type="lt">
                                    <p:tmPct val="20000"/>
                                  </p:iterate>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normAutofit/>
          </a:bodyPr>
          <a:lstStyle/>
          <a:p>
            <a:pPr marL="0" marR="1270" lvl="0" indent="0" algn="just">
              <a:lnSpc>
                <a:spcPct val="150000"/>
              </a:lnSpc>
              <a:spcAft>
                <a:spcPts val="25"/>
              </a:spcAft>
              <a:buClr>
                <a:srgbClr val="83992A"/>
              </a:buClr>
              <a:buNone/>
              <a:tabLst>
                <a:tab pos="228600" algn="l"/>
              </a:tabLst>
            </a:pPr>
            <a:r>
              <a:rPr lang="en-GB" sz="2800" b="1" dirty="0">
                <a:solidFill>
                  <a:prstClr val="black">
                    <a:lumMod val="85000"/>
                    <a:lumOff val="15000"/>
                  </a:prstClr>
                </a:solidFill>
                <a:ea typeface="Times New Roman" panose="02020603050405020304" pitchFamily="18" charset="0"/>
                <a:cs typeface="Times New Roman" panose="02020603050405020304" pitchFamily="18" charset="0"/>
              </a:rPr>
              <a:t>Persuasive </a:t>
            </a:r>
            <a:r>
              <a:rPr lang="en-GB" sz="2800" b="1" dirty="0" smtClean="0">
                <a:solidFill>
                  <a:prstClr val="black">
                    <a:lumMod val="85000"/>
                    <a:lumOff val="15000"/>
                  </a:prstClr>
                </a:solidFill>
                <a:ea typeface="Times New Roman" panose="02020603050405020304" pitchFamily="18" charset="0"/>
                <a:cs typeface="Times New Roman" panose="02020603050405020304" pitchFamily="18" charset="0"/>
              </a:rPr>
              <a:t>writing. Cont.…</a:t>
            </a:r>
            <a:endParaRPr lang="en-GB" sz="2800" b="1" dirty="0">
              <a:solidFill>
                <a:prstClr val="black">
                  <a:lumMod val="85000"/>
                  <a:lumOff val="15000"/>
                </a:prstClr>
              </a:solidFill>
              <a:ea typeface="Times New Roman" panose="02020603050405020304" pitchFamily="18" charset="0"/>
              <a:cs typeface="Times New Roman" panose="02020603050405020304" pitchFamily="18" charset="0"/>
            </a:endParaRPr>
          </a:p>
          <a:p>
            <a:r>
              <a:rPr lang="en-GB" sz="2800" dirty="0" smtClean="0"/>
              <a:t>Persuasive(convincing) </a:t>
            </a:r>
            <a:r>
              <a:rPr lang="en-GB" sz="2800" dirty="0"/>
              <a:t>writing is writing that tries to convince a reader to do something or to believe what you believe about a certain topic. It takes a position for or against something.</a:t>
            </a:r>
          </a:p>
        </p:txBody>
      </p:sp>
    </p:spTree>
    <p:extLst>
      <p:ext uri="{BB962C8B-B14F-4D97-AF65-F5344CB8AC3E}">
        <p14:creationId xmlns:p14="http://schemas.microsoft.com/office/powerpoint/2010/main" val="182343064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b="1" dirty="0">
                <a:solidFill>
                  <a:prstClr val="black">
                    <a:lumMod val="85000"/>
                    <a:lumOff val="15000"/>
                  </a:prstClr>
                </a:solidFill>
              </a:rPr>
              <a:t>SCIENTIFIC AND ACADEMIC WRITING</a:t>
            </a:r>
            <a:endParaRPr lang="en-GB" b="1" dirty="0"/>
          </a:p>
        </p:txBody>
      </p:sp>
      <p:sp>
        <p:nvSpPr>
          <p:cNvPr id="3" name="Content Placeholder 2"/>
          <p:cNvSpPr>
            <a:spLocks noGrp="1"/>
          </p:cNvSpPr>
          <p:nvPr>
            <p:ph idx="1"/>
          </p:nvPr>
        </p:nvSpPr>
        <p:spPr/>
        <p:txBody>
          <a:bodyPr/>
          <a:lstStyle/>
          <a:p>
            <a:pPr marL="0" indent="0">
              <a:buNone/>
            </a:pPr>
            <a:r>
              <a:rPr lang="en-GB" sz="2800" b="1" dirty="0"/>
              <a:t>Persuasive writing. Cont</a:t>
            </a:r>
            <a:r>
              <a:rPr lang="en-GB" sz="2800" b="1" dirty="0" smtClean="0"/>
              <a:t>.…</a:t>
            </a:r>
            <a:endParaRPr lang="en-GB" sz="2800" dirty="0" smtClean="0"/>
          </a:p>
          <a:p>
            <a:r>
              <a:rPr lang="en-GB" sz="2800" dirty="0" smtClean="0"/>
              <a:t>In </a:t>
            </a:r>
            <a:r>
              <a:rPr lang="en-GB" sz="2800" dirty="0"/>
              <a:t>persuasive writing, each claim you make needs to be supported by some evidence, for example a reference to research findings or published sources</a:t>
            </a:r>
            <a:r>
              <a:rPr lang="en-GB" dirty="0" smtClean="0"/>
              <a:t>.</a:t>
            </a:r>
          </a:p>
          <a:p>
            <a:r>
              <a:rPr lang="en-GB" dirty="0"/>
              <a:t>The kinds of instructions for a persuasive assignment include: 'argue', 'evaluate', 'discuss', and 'take a position'</a:t>
            </a:r>
          </a:p>
        </p:txBody>
      </p:sp>
    </p:spTree>
    <p:extLst>
      <p:ext uri="{BB962C8B-B14F-4D97-AF65-F5344CB8AC3E}">
        <p14:creationId xmlns:p14="http://schemas.microsoft.com/office/powerpoint/2010/main" val="264307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lstStyle/>
          <a:p>
            <a:pPr marL="0" indent="0">
              <a:buNone/>
            </a:pPr>
            <a:r>
              <a:rPr lang="en-GB" dirty="0">
                <a:solidFill>
                  <a:srgbClr val="3B3835"/>
                </a:solidFill>
                <a:latin typeface="Source Sans Pro"/>
              </a:rPr>
              <a:t> </a:t>
            </a:r>
            <a:r>
              <a:rPr lang="en-GB" sz="2800" b="1" dirty="0">
                <a:solidFill>
                  <a:srgbClr val="3B3835"/>
                </a:solidFill>
                <a:latin typeface="+mj-lt"/>
              </a:rPr>
              <a:t>Persuasive Writing can be used to</a:t>
            </a:r>
            <a:r>
              <a:rPr lang="en-GB" sz="2800" b="1" dirty="0" smtClean="0">
                <a:solidFill>
                  <a:srgbClr val="3B3835"/>
                </a:solidFill>
                <a:latin typeface="+mj-lt"/>
              </a:rPr>
              <a:t>…</a:t>
            </a:r>
          </a:p>
          <a:p>
            <a:pPr marL="457200" indent="-457200">
              <a:buFont typeface="+mj-lt"/>
              <a:buAutoNum type="arabicPeriod"/>
            </a:pPr>
            <a:r>
              <a:rPr lang="en-GB" sz="2800" dirty="0"/>
              <a:t> Support a </a:t>
            </a:r>
            <a:r>
              <a:rPr lang="en-GB" sz="2800" dirty="0" smtClean="0"/>
              <a:t>cause</a:t>
            </a:r>
          </a:p>
          <a:p>
            <a:pPr marL="457200" indent="-457200">
              <a:buFont typeface="+mj-lt"/>
              <a:buAutoNum type="arabicPeriod"/>
            </a:pPr>
            <a:r>
              <a:rPr lang="en-GB" sz="2800" dirty="0"/>
              <a:t>Urge people </a:t>
            </a:r>
            <a:r>
              <a:rPr lang="en-GB" sz="2800" dirty="0" smtClean="0"/>
              <a:t>to take action</a:t>
            </a:r>
          </a:p>
          <a:p>
            <a:pPr marL="457200" indent="-457200">
              <a:buFont typeface="+mj-lt"/>
              <a:buAutoNum type="arabicPeriod"/>
            </a:pPr>
            <a:r>
              <a:rPr lang="en-GB" sz="2800" dirty="0"/>
              <a:t>Prove something </a:t>
            </a:r>
            <a:r>
              <a:rPr lang="en-GB" sz="2800" dirty="0" smtClean="0"/>
              <a:t>wrong etc.</a:t>
            </a:r>
            <a:endParaRPr lang="en-GB" sz="2800" dirty="0"/>
          </a:p>
        </p:txBody>
      </p:sp>
    </p:spTree>
    <p:extLst>
      <p:ext uri="{BB962C8B-B14F-4D97-AF65-F5344CB8AC3E}">
        <p14:creationId xmlns:p14="http://schemas.microsoft.com/office/powerpoint/2010/main" val="158733750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a:xfrm>
            <a:off x="1295401" y="2556931"/>
            <a:ext cx="9601196" cy="3650685"/>
          </a:xfrm>
        </p:spPr>
        <p:txBody>
          <a:bodyPr>
            <a:normAutofit/>
          </a:bodyPr>
          <a:lstStyle/>
          <a:p>
            <a:pPr marL="0" indent="0">
              <a:buNone/>
            </a:pPr>
            <a:r>
              <a:rPr lang="en-GB" sz="2800" b="1" dirty="0"/>
              <a:t>Persuasive </a:t>
            </a:r>
            <a:r>
              <a:rPr lang="en-GB" sz="2800" b="1" dirty="0" smtClean="0"/>
              <a:t>questions examples</a:t>
            </a:r>
            <a:endParaRPr lang="en-GB" sz="2800" dirty="0" smtClean="0"/>
          </a:p>
          <a:p>
            <a:r>
              <a:rPr lang="en-GB" dirty="0" smtClean="0"/>
              <a:t>In </a:t>
            </a:r>
            <a:r>
              <a:rPr lang="en-GB" dirty="0"/>
              <a:t>persuasive academic writing, the purpose is to get your readers to adopt your answer to the </a:t>
            </a:r>
            <a:r>
              <a:rPr lang="en-GB" dirty="0" smtClean="0"/>
              <a:t>question. For example, Persuasive </a:t>
            </a:r>
            <a:r>
              <a:rPr lang="en-GB" dirty="0"/>
              <a:t>writing assignments include argumentative and position papers. </a:t>
            </a:r>
            <a:r>
              <a:rPr lang="en-GB" dirty="0" smtClean="0"/>
              <a:t> </a:t>
            </a:r>
            <a:r>
              <a:rPr lang="en-GB" dirty="0"/>
              <a:t>E.g. </a:t>
            </a:r>
            <a:endParaRPr lang="en-GB" dirty="0" smtClean="0"/>
          </a:p>
          <a:p>
            <a:pPr marL="457200" indent="-457200">
              <a:buFont typeface="+mj-lt"/>
              <a:buAutoNum type="alphaLcParenR"/>
            </a:pPr>
            <a:r>
              <a:rPr lang="en-GB" dirty="0" smtClean="0"/>
              <a:t>Are </a:t>
            </a:r>
            <a:r>
              <a:rPr lang="en-GB" dirty="0"/>
              <a:t>dress codes a good idea for schools</a:t>
            </a:r>
            <a:r>
              <a:rPr lang="en-GB" dirty="0" smtClean="0"/>
              <a:t>?</a:t>
            </a:r>
          </a:p>
          <a:p>
            <a:pPr marL="457200" indent="-457200">
              <a:buFont typeface="+mj-lt"/>
              <a:buAutoNum type="alphaLcParenR"/>
            </a:pPr>
            <a:r>
              <a:rPr lang="en-GB" dirty="0"/>
              <a:t>The use of marijuana should be allowed for patients in severe </a:t>
            </a:r>
            <a:r>
              <a:rPr lang="en-GB" dirty="0" smtClean="0"/>
              <a:t>pain ?</a:t>
            </a:r>
          </a:p>
          <a:p>
            <a:pPr marL="457200" indent="-457200">
              <a:buFont typeface="+mj-lt"/>
              <a:buAutoNum type="alphaLcParenR"/>
            </a:pPr>
            <a:r>
              <a:rPr lang="en-GB" dirty="0" smtClean="0"/>
              <a:t>Diabetes patients </a:t>
            </a:r>
            <a:r>
              <a:rPr lang="en-GB" dirty="0"/>
              <a:t>should not </a:t>
            </a:r>
            <a:r>
              <a:rPr lang="en-GB" dirty="0" smtClean="0"/>
              <a:t>take part in </a:t>
            </a:r>
            <a:r>
              <a:rPr lang="en-GB" dirty="0"/>
              <a:t>physically straining work.</a:t>
            </a:r>
          </a:p>
          <a:p>
            <a:pPr marL="0" indent="0">
              <a:buNone/>
            </a:pPr>
            <a:endParaRPr lang="en-GB" dirty="0"/>
          </a:p>
          <a:p>
            <a:endParaRPr lang="en-GB" dirty="0"/>
          </a:p>
          <a:p>
            <a:endParaRPr lang="en-GB" dirty="0"/>
          </a:p>
        </p:txBody>
      </p:sp>
    </p:spTree>
    <p:extLst>
      <p:ext uri="{BB962C8B-B14F-4D97-AF65-F5344CB8AC3E}">
        <p14:creationId xmlns:p14="http://schemas.microsoft.com/office/powerpoint/2010/main" val="29713752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normAutofit fontScale="70000" lnSpcReduction="20000"/>
          </a:bodyPr>
          <a:lstStyle/>
          <a:p>
            <a:pPr marL="0" indent="0">
              <a:buNone/>
            </a:pPr>
            <a:r>
              <a:rPr lang="en-GB" sz="3600" b="1" dirty="0"/>
              <a:t>Persuasive </a:t>
            </a:r>
            <a:r>
              <a:rPr lang="en-GB" sz="3600" b="1" dirty="0" smtClean="0"/>
              <a:t>writing. Cont.… </a:t>
            </a:r>
          </a:p>
          <a:p>
            <a:pPr marL="0" indent="0">
              <a:buNone/>
            </a:pPr>
            <a:r>
              <a:rPr lang="en-GB" sz="3600" b="1" dirty="0" smtClean="0"/>
              <a:t>Example of persuasive writing </a:t>
            </a:r>
            <a:r>
              <a:rPr lang="en-GB" sz="3600" b="1" dirty="0"/>
              <a:t>on </a:t>
            </a:r>
            <a:r>
              <a:rPr lang="en-GB" sz="3600" b="1" dirty="0" smtClean="0"/>
              <a:t>the </a:t>
            </a:r>
            <a:r>
              <a:rPr lang="en-GB" sz="3600" b="1" dirty="0"/>
              <a:t>i</a:t>
            </a:r>
            <a:r>
              <a:rPr lang="en-GB" sz="3600" b="1" dirty="0" smtClean="0"/>
              <a:t>mportance </a:t>
            </a:r>
            <a:r>
              <a:rPr lang="en-GB" sz="3600" b="1" dirty="0"/>
              <a:t>o</a:t>
            </a:r>
            <a:r>
              <a:rPr lang="en-GB" sz="3600" b="1" dirty="0" smtClean="0"/>
              <a:t>f </a:t>
            </a:r>
            <a:r>
              <a:rPr lang="en-GB" sz="3600" b="1" dirty="0"/>
              <a:t>Health </a:t>
            </a:r>
            <a:r>
              <a:rPr lang="en-GB" sz="3600" b="1" dirty="0" smtClean="0"/>
              <a:t>Care </a:t>
            </a:r>
          </a:p>
          <a:p>
            <a:pPr>
              <a:lnSpc>
                <a:spcPct val="170000"/>
              </a:lnSpc>
            </a:pPr>
            <a:r>
              <a:rPr lang="en-GB" sz="3600" dirty="0"/>
              <a:t>Health care is the maintenance or improvement of health via the prevention, diagnosis, and treatment of disease, illness, injury, and other physical and mental impairments in human beings. </a:t>
            </a:r>
            <a:r>
              <a:rPr lang="en-GB" sz="3600" b="1" dirty="0"/>
              <a:t>Health care is an important piece of our life. It keeps people safe and healthy</a:t>
            </a:r>
            <a:r>
              <a:rPr lang="en-GB" sz="3600" b="1" dirty="0" smtClean="0"/>
              <a:t>.</a:t>
            </a:r>
            <a:r>
              <a:rPr lang="en-GB" b="1" dirty="0" smtClean="0"/>
              <a:t>. </a:t>
            </a:r>
            <a:endParaRPr lang="en-GB" b="1" dirty="0"/>
          </a:p>
        </p:txBody>
      </p:sp>
    </p:spTree>
    <p:extLst>
      <p:ext uri="{BB962C8B-B14F-4D97-AF65-F5344CB8AC3E}">
        <p14:creationId xmlns:p14="http://schemas.microsoft.com/office/powerpoint/2010/main" val="120271290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a:xfrm>
            <a:off x="1295402" y="2569811"/>
            <a:ext cx="9601196" cy="3318936"/>
          </a:xfrm>
        </p:spPr>
        <p:txBody>
          <a:bodyPr/>
          <a:lstStyle/>
          <a:p>
            <a:pPr marL="0" indent="0">
              <a:buNone/>
            </a:pPr>
            <a:r>
              <a:rPr lang="en-GB" sz="2800" b="1" dirty="0" smtClean="0"/>
              <a:t>2</a:t>
            </a:r>
            <a:r>
              <a:rPr lang="en-GB" sz="2800" dirty="0" smtClean="0"/>
              <a:t>.</a:t>
            </a:r>
            <a:r>
              <a:rPr lang="en-US" sz="2800" dirty="0">
                <a:solidFill>
                  <a:srgbClr val="000000"/>
                </a:solidFill>
                <a:latin typeface="Times New Roman" panose="02020603050405020304" pitchFamily="18" charset="0"/>
                <a:ea typeface="Times New Roman" panose="02020603050405020304" pitchFamily="18" charset="0"/>
              </a:rPr>
              <a:t> </a:t>
            </a:r>
            <a:r>
              <a:rPr lang="en-US" sz="2800" b="1" dirty="0" smtClean="0">
                <a:solidFill>
                  <a:srgbClr val="000000"/>
                </a:solidFill>
                <a:latin typeface="Times New Roman" panose="02020603050405020304" pitchFamily="18" charset="0"/>
                <a:ea typeface="Times New Roman" panose="02020603050405020304" pitchFamily="18" charset="0"/>
              </a:rPr>
              <a:t>Analytical </a:t>
            </a:r>
            <a:r>
              <a:rPr lang="en-US" sz="2800" b="1" dirty="0">
                <a:solidFill>
                  <a:srgbClr val="000000"/>
                </a:solidFill>
                <a:latin typeface="Times New Roman" panose="02020603050405020304" pitchFamily="18" charset="0"/>
                <a:ea typeface="Times New Roman" panose="02020603050405020304" pitchFamily="18" charset="0"/>
              </a:rPr>
              <a:t>academic </a:t>
            </a:r>
            <a:r>
              <a:rPr lang="en-US" sz="2800" b="1" dirty="0" smtClean="0">
                <a:solidFill>
                  <a:srgbClr val="000000"/>
                </a:solidFill>
                <a:latin typeface="Times New Roman" panose="02020603050405020304" pitchFamily="18" charset="0"/>
                <a:ea typeface="Times New Roman" panose="02020603050405020304" pitchFamily="18" charset="0"/>
              </a:rPr>
              <a:t>writing</a:t>
            </a:r>
          </a:p>
          <a:p>
            <a:r>
              <a:rPr lang="en-GB" dirty="0">
                <a:solidFill>
                  <a:srgbClr val="000000"/>
                </a:solidFill>
                <a:latin typeface="+mj-lt"/>
                <a:ea typeface="Times New Roman" panose="02020603050405020304" pitchFamily="18" charset="0"/>
              </a:rPr>
              <a:t>Analytical writing style is </a:t>
            </a:r>
            <a:r>
              <a:rPr lang="en-GB" dirty="0" smtClean="0">
                <a:solidFill>
                  <a:srgbClr val="000000"/>
                </a:solidFill>
                <a:latin typeface="+mj-lt"/>
                <a:ea typeface="Times New Roman" panose="02020603050405020304" pitchFamily="18" charset="0"/>
              </a:rPr>
              <a:t>often required </a:t>
            </a:r>
            <a:r>
              <a:rPr lang="en-GB" dirty="0">
                <a:solidFill>
                  <a:srgbClr val="000000"/>
                </a:solidFill>
                <a:latin typeface="+mj-lt"/>
                <a:ea typeface="Times New Roman" panose="02020603050405020304" pitchFamily="18" charset="0"/>
              </a:rPr>
              <a:t>at university level. It involves reviewing what you've read in light of other evidence. Analytical writing shows the thought processes you went through to arrive at a given conclusion and discusses the implications of </a:t>
            </a:r>
            <a:r>
              <a:rPr lang="en-GB" dirty="0" smtClean="0">
                <a:solidFill>
                  <a:srgbClr val="000000"/>
                </a:solidFill>
                <a:latin typeface="+mj-lt"/>
                <a:ea typeface="Times New Roman" panose="02020603050405020304" pitchFamily="18" charset="0"/>
              </a:rPr>
              <a:t>the subject.</a:t>
            </a:r>
          </a:p>
        </p:txBody>
      </p:sp>
    </p:spTree>
    <p:extLst>
      <p:ext uri="{BB962C8B-B14F-4D97-AF65-F5344CB8AC3E}">
        <p14:creationId xmlns:p14="http://schemas.microsoft.com/office/powerpoint/2010/main" val="161521870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SCIENTIFIC AND ACADEMIC WRITING</a:t>
            </a:r>
          </a:p>
        </p:txBody>
      </p:sp>
      <p:sp>
        <p:nvSpPr>
          <p:cNvPr id="3" name="Content Placeholder 2"/>
          <p:cNvSpPr>
            <a:spLocks noGrp="1"/>
          </p:cNvSpPr>
          <p:nvPr>
            <p:ph idx="1"/>
          </p:nvPr>
        </p:nvSpPr>
        <p:spPr/>
        <p:txBody>
          <a:bodyPr>
            <a:normAutofit/>
          </a:bodyPr>
          <a:lstStyle/>
          <a:p>
            <a:pPr marL="0" indent="0">
              <a:buNone/>
            </a:pPr>
            <a:r>
              <a:rPr lang="en-US" sz="2800" b="1" dirty="0">
                <a:solidFill>
                  <a:srgbClr val="000000"/>
                </a:solidFill>
                <a:latin typeface="Times New Roman" panose="02020603050405020304" pitchFamily="18" charset="0"/>
                <a:ea typeface="Times New Roman" panose="02020603050405020304" pitchFamily="18" charset="0"/>
              </a:rPr>
              <a:t>Analytical academic </a:t>
            </a:r>
            <a:r>
              <a:rPr lang="en-US" sz="2800" b="1" dirty="0" smtClean="0">
                <a:solidFill>
                  <a:srgbClr val="000000"/>
                </a:solidFill>
                <a:latin typeface="Times New Roman" panose="02020603050405020304" pitchFamily="18" charset="0"/>
                <a:ea typeface="Times New Roman" panose="02020603050405020304" pitchFamily="18" charset="0"/>
              </a:rPr>
              <a:t>writing</a:t>
            </a:r>
            <a:endParaRPr lang="en-GB" sz="2800" dirty="0"/>
          </a:p>
          <a:p>
            <a:r>
              <a:rPr lang="en-GB" sz="2800" dirty="0" smtClean="0"/>
              <a:t>Analytical writing usually focuses on answering questions like: ‘why?’ ‘how?’ and ‘so </a:t>
            </a:r>
            <a:r>
              <a:rPr lang="en-GB" sz="2800" dirty="0"/>
              <a:t>what?’ </a:t>
            </a:r>
            <a:r>
              <a:rPr lang="en-GB" sz="2800" dirty="0" smtClean="0"/>
              <a:t>For example, an </a:t>
            </a:r>
            <a:r>
              <a:rPr lang="en-GB" sz="2800" dirty="0"/>
              <a:t>analytical </a:t>
            </a:r>
            <a:r>
              <a:rPr lang="en-GB" sz="2800" dirty="0" smtClean="0"/>
              <a:t>essay requires to explore issues, </a:t>
            </a:r>
            <a:r>
              <a:rPr lang="en-GB" sz="2800" dirty="0"/>
              <a:t>or presents an opinion based on </a:t>
            </a:r>
            <a:r>
              <a:rPr lang="en-GB" sz="2800" dirty="0" smtClean="0"/>
              <a:t>fact.</a:t>
            </a:r>
          </a:p>
          <a:p>
            <a:endParaRPr lang="en-GB" sz="2800" dirty="0" smtClean="0"/>
          </a:p>
          <a:p>
            <a:pPr marL="0" indent="0">
              <a:buNone/>
            </a:pPr>
            <a:endParaRPr lang="en-GB" sz="2800" dirty="0"/>
          </a:p>
        </p:txBody>
      </p:sp>
    </p:spTree>
    <p:extLst>
      <p:ext uri="{BB962C8B-B14F-4D97-AF65-F5344CB8AC3E}">
        <p14:creationId xmlns:p14="http://schemas.microsoft.com/office/powerpoint/2010/main" val="42258344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marL="0" indent="0">
              <a:buNone/>
            </a:pPr>
            <a:r>
              <a:rPr lang="en-GB" sz="3200" b="1" dirty="0"/>
              <a:t>Analytical academic </a:t>
            </a:r>
            <a:r>
              <a:rPr lang="en-GB" sz="3200" b="1" dirty="0" smtClean="0"/>
              <a:t>writing. Cont.</a:t>
            </a:r>
          </a:p>
          <a:p>
            <a:r>
              <a:rPr lang="en-GB" sz="3200" dirty="0"/>
              <a:t>Analytical writing includes descriptive writing, but also requires you to re-organise the facts and information you describe into categories, groups, parts, types or relationships</a:t>
            </a:r>
            <a:r>
              <a:rPr lang="en-GB" dirty="0"/>
              <a:t>.</a:t>
            </a:r>
          </a:p>
        </p:txBody>
      </p:sp>
    </p:spTree>
    <p:extLst>
      <p:ext uri="{BB962C8B-B14F-4D97-AF65-F5344CB8AC3E}">
        <p14:creationId xmlns:p14="http://schemas.microsoft.com/office/powerpoint/2010/main" val="22145024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a:xfrm>
            <a:off x="1295401" y="2556931"/>
            <a:ext cx="9601196" cy="3766595"/>
          </a:xfrm>
        </p:spPr>
        <p:txBody>
          <a:bodyPr>
            <a:normAutofit/>
          </a:bodyPr>
          <a:lstStyle/>
          <a:p>
            <a:pPr marL="0" lvl="0" indent="0">
              <a:buClr>
                <a:srgbClr val="83992A"/>
              </a:buClr>
              <a:buNone/>
            </a:pPr>
            <a:r>
              <a:rPr lang="en-GB" sz="3000" b="1" dirty="0" smtClean="0">
                <a:solidFill>
                  <a:srgbClr val="292929"/>
                </a:solidFill>
                <a:latin typeface="Garamond" panose="02020404030301010803" pitchFamily="18" charset="0"/>
              </a:rPr>
              <a:t> Example of analytical essay equations</a:t>
            </a:r>
            <a:endParaRPr lang="en-GB" sz="3000" dirty="0"/>
          </a:p>
          <a:p>
            <a:r>
              <a:rPr lang="en-GB" sz="3000" dirty="0" smtClean="0"/>
              <a:t>Why </a:t>
            </a:r>
            <a:r>
              <a:rPr lang="en-GB" sz="3000" dirty="0"/>
              <a:t>do men and women change their gender</a:t>
            </a:r>
            <a:r>
              <a:rPr lang="en-GB" sz="3000" dirty="0" smtClean="0"/>
              <a:t>?</a:t>
            </a:r>
          </a:p>
          <a:p>
            <a:r>
              <a:rPr lang="en-GB" sz="3000" dirty="0" smtClean="0"/>
              <a:t>Analyse the benefits of Cabotegravir a new ARV injection in HIV/AIDs management in Zambia ?</a:t>
            </a:r>
          </a:p>
          <a:p>
            <a:r>
              <a:rPr lang="en-GB" sz="3000" dirty="0" smtClean="0"/>
              <a:t>Evaluate the effectiveness/impact of male circumcision in the management of HIV/AIDS</a:t>
            </a:r>
          </a:p>
          <a:p>
            <a:endParaRPr lang="en-GB" sz="3000" dirty="0" smtClean="0"/>
          </a:p>
          <a:p>
            <a:endParaRPr lang="en-GB" dirty="0"/>
          </a:p>
        </p:txBody>
      </p:sp>
    </p:spTree>
    <p:extLst>
      <p:ext uri="{BB962C8B-B14F-4D97-AF65-F5344CB8AC3E}">
        <p14:creationId xmlns:p14="http://schemas.microsoft.com/office/powerpoint/2010/main" val="189427571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SCIENTIFIC AND ACADEMIC WRITING</a:t>
            </a:r>
          </a:p>
        </p:txBody>
      </p:sp>
      <p:sp>
        <p:nvSpPr>
          <p:cNvPr id="3" name="Content Placeholder 2"/>
          <p:cNvSpPr>
            <a:spLocks noGrp="1"/>
          </p:cNvSpPr>
          <p:nvPr>
            <p:ph idx="1"/>
          </p:nvPr>
        </p:nvSpPr>
        <p:spPr/>
        <p:txBody>
          <a:bodyPr>
            <a:normAutofit/>
          </a:bodyPr>
          <a:lstStyle/>
          <a:p>
            <a:pPr marL="0" indent="0">
              <a:buNone/>
            </a:pPr>
            <a:r>
              <a:rPr lang="en-GB" sz="3200" b="1" dirty="0" smtClean="0"/>
              <a:t>Analytical essay equations . Cont.…</a:t>
            </a:r>
          </a:p>
          <a:p>
            <a:r>
              <a:rPr lang="en-GB" sz="3200" dirty="0"/>
              <a:t>Analytical assignments often investigate causes, examine effects, evaluate effectiveness, assess ways to solve problems, find the relationships between various ideas, or analyse other people’s arguments</a:t>
            </a:r>
            <a:endParaRPr lang="en-GB" sz="3200" dirty="0" smtClean="0"/>
          </a:p>
          <a:p>
            <a:endParaRPr lang="en-GB" sz="2800" b="1" dirty="0"/>
          </a:p>
        </p:txBody>
      </p:sp>
    </p:spTree>
    <p:extLst>
      <p:ext uri="{BB962C8B-B14F-4D97-AF65-F5344CB8AC3E}">
        <p14:creationId xmlns:p14="http://schemas.microsoft.com/office/powerpoint/2010/main" val="36847501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SCIENTIFIC AND ACADEMIC WRITING</a:t>
            </a:r>
          </a:p>
        </p:txBody>
      </p:sp>
      <p:sp>
        <p:nvSpPr>
          <p:cNvPr id="3" name="Content Placeholder 2"/>
          <p:cNvSpPr>
            <a:spLocks noGrp="1"/>
          </p:cNvSpPr>
          <p:nvPr>
            <p:ph idx="1"/>
          </p:nvPr>
        </p:nvSpPr>
        <p:spPr/>
        <p:txBody>
          <a:bodyPr/>
          <a:lstStyle/>
          <a:p>
            <a:pPr marL="0" indent="0">
              <a:buNone/>
            </a:pPr>
            <a:r>
              <a:rPr lang="en-GB" sz="3200" b="1" dirty="0"/>
              <a:t>To make your writing more analytical</a:t>
            </a:r>
            <a:r>
              <a:rPr lang="en-GB" sz="3200" dirty="0" smtClean="0"/>
              <a:t>:</a:t>
            </a:r>
          </a:p>
          <a:p>
            <a:r>
              <a:rPr lang="en-GB" sz="3200" dirty="0"/>
              <a:t>spend plenty of time planning. </a:t>
            </a:r>
            <a:r>
              <a:rPr lang="en-GB" sz="3200" dirty="0" smtClean="0"/>
              <a:t>brainstorm </a:t>
            </a:r>
            <a:r>
              <a:rPr lang="en-GB" sz="3200" dirty="0"/>
              <a:t>the facts and ideas, and try different ways of grouping them, according to patterns, parts, similarities and differences</a:t>
            </a:r>
            <a:r>
              <a:rPr lang="en-GB" dirty="0"/>
              <a:t>. </a:t>
            </a:r>
          </a:p>
        </p:txBody>
      </p:sp>
    </p:spTree>
    <p:extLst>
      <p:ext uri="{BB962C8B-B14F-4D97-AF65-F5344CB8AC3E}">
        <p14:creationId xmlns:p14="http://schemas.microsoft.com/office/powerpoint/2010/main" val="21051919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noAutofit/>
          </a:bodyPr>
          <a:lstStyle/>
          <a:p>
            <a:pPr marL="0" indent="0">
              <a:buNone/>
            </a:pPr>
            <a:r>
              <a:rPr lang="en-US" sz="2800" dirty="0">
                <a:solidFill>
                  <a:srgbClr val="000000"/>
                </a:solidFill>
                <a:latin typeface="Times New Roman" panose="02020603050405020304" pitchFamily="18" charset="0"/>
                <a:ea typeface="Times New Roman" panose="02020603050405020304" pitchFamily="18" charset="0"/>
              </a:rPr>
              <a:t>Analytical academic </a:t>
            </a:r>
            <a:r>
              <a:rPr lang="en-US" sz="2800" dirty="0" smtClean="0">
                <a:solidFill>
                  <a:srgbClr val="000000"/>
                </a:solidFill>
                <a:latin typeface="Times New Roman" panose="02020603050405020304" pitchFamily="18" charset="0"/>
                <a:ea typeface="Times New Roman" panose="02020603050405020304" pitchFamily="18" charset="0"/>
              </a:rPr>
              <a:t>writing.Cont…</a:t>
            </a:r>
          </a:p>
          <a:p>
            <a:r>
              <a:rPr lang="en-GB" sz="2800" dirty="0"/>
              <a:t>In analytical academic writing, the purpose is to explain and evaluate possible answers to your question, choosing the best answer(s) based on your own criteria. </a:t>
            </a:r>
            <a:r>
              <a:rPr lang="en-GB" sz="2800" dirty="0" smtClean="0"/>
              <a:t>.</a:t>
            </a:r>
            <a:endParaRPr lang="en-GB" sz="2800" dirty="0"/>
          </a:p>
        </p:txBody>
      </p:sp>
    </p:spTree>
    <p:extLst>
      <p:ext uri="{BB962C8B-B14F-4D97-AF65-F5344CB8AC3E}">
        <p14:creationId xmlns:p14="http://schemas.microsoft.com/office/powerpoint/2010/main" val="238814020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lstStyle/>
          <a:p>
            <a:pPr marL="0" lvl="0" indent="0">
              <a:buClr>
                <a:srgbClr val="83992A"/>
              </a:buClr>
              <a:buNone/>
            </a:pPr>
            <a:r>
              <a:rPr lang="en-GB" b="1" dirty="0">
                <a:solidFill>
                  <a:srgbClr val="292929"/>
                </a:solidFill>
                <a:latin typeface="+mj-lt"/>
              </a:rPr>
              <a:t>How to Write a </a:t>
            </a:r>
            <a:r>
              <a:rPr lang="en-GB" b="1" dirty="0" smtClean="0">
                <a:solidFill>
                  <a:srgbClr val="292929"/>
                </a:solidFill>
                <a:latin typeface="+mj-lt"/>
              </a:rPr>
              <a:t>Critical Analysis. Cont.</a:t>
            </a:r>
            <a:r>
              <a:rPr lang="en-GB" b="1" dirty="0" smtClean="0">
                <a:solidFill>
                  <a:srgbClr val="292929"/>
                </a:solidFill>
                <a:latin typeface="sohne"/>
              </a:rPr>
              <a:t>…</a:t>
            </a:r>
          </a:p>
          <a:p>
            <a:pPr marL="0" indent="0">
              <a:buClr>
                <a:srgbClr val="83992A"/>
              </a:buClr>
              <a:buNone/>
            </a:pPr>
            <a:r>
              <a:rPr lang="en-GB" b="1" dirty="0">
                <a:solidFill>
                  <a:srgbClr val="292929"/>
                </a:solidFill>
                <a:latin typeface="sohne"/>
              </a:rPr>
              <a:t> </a:t>
            </a:r>
            <a:r>
              <a:rPr lang="en-GB" b="1" dirty="0">
                <a:solidFill>
                  <a:srgbClr val="292929"/>
                </a:solidFill>
                <a:latin typeface="+mj-lt"/>
              </a:rPr>
              <a:t>Make sure to</a:t>
            </a:r>
            <a:r>
              <a:rPr lang="en-GB" b="1" dirty="0" smtClean="0">
                <a:solidFill>
                  <a:srgbClr val="292929"/>
                </a:solidFill>
                <a:latin typeface="+mj-lt"/>
              </a:rPr>
              <a:t>:</a:t>
            </a:r>
          </a:p>
          <a:p>
            <a:pPr>
              <a:buClr>
                <a:srgbClr val="83992A"/>
              </a:buClr>
            </a:pPr>
            <a:r>
              <a:rPr lang="en-GB" sz="2800" dirty="0">
                <a:solidFill>
                  <a:srgbClr val="292929"/>
                </a:solidFill>
                <a:latin typeface="+mj-lt"/>
              </a:rPr>
              <a:t>Try to avoid speaking of your ideas by starting with “</a:t>
            </a:r>
            <a:r>
              <a:rPr lang="en-GB" sz="2800" b="1" dirty="0">
                <a:solidFill>
                  <a:srgbClr val="292929"/>
                </a:solidFill>
                <a:latin typeface="+mj-lt"/>
              </a:rPr>
              <a:t>I think</a:t>
            </a:r>
            <a:r>
              <a:rPr lang="en-GB" sz="2800" dirty="0">
                <a:solidFill>
                  <a:srgbClr val="292929"/>
                </a:solidFill>
                <a:latin typeface="+mj-lt"/>
              </a:rPr>
              <a:t>”, “</a:t>
            </a:r>
            <a:r>
              <a:rPr lang="en-GB" sz="2800" b="1" dirty="0">
                <a:solidFill>
                  <a:srgbClr val="292929"/>
                </a:solidFill>
                <a:latin typeface="+mj-lt"/>
              </a:rPr>
              <a:t>I believe</a:t>
            </a:r>
            <a:r>
              <a:rPr lang="en-GB" sz="2800" dirty="0">
                <a:solidFill>
                  <a:srgbClr val="292929"/>
                </a:solidFill>
                <a:latin typeface="+mj-lt"/>
              </a:rPr>
              <a:t>” and “</a:t>
            </a:r>
            <a:r>
              <a:rPr lang="en-GB" sz="2800" b="1" dirty="0">
                <a:solidFill>
                  <a:srgbClr val="292929"/>
                </a:solidFill>
                <a:latin typeface="+mj-lt"/>
              </a:rPr>
              <a:t>In my opinion</a:t>
            </a:r>
            <a:r>
              <a:rPr lang="en-GB" sz="2800" dirty="0">
                <a:solidFill>
                  <a:srgbClr val="292929"/>
                </a:solidFill>
                <a:latin typeface="+mj-lt"/>
              </a:rPr>
              <a:t>” as the subject of your critical analysis is a subject, not your personality</a:t>
            </a:r>
            <a:r>
              <a:rPr lang="en-GB" sz="2800" b="1" dirty="0">
                <a:solidFill>
                  <a:srgbClr val="292929"/>
                </a:solidFill>
                <a:latin typeface="sohne"/>
              </a:rPr>
              <a:t>.</a:t>
            </a:r>
          </a:p>
        </p:txBody>
      </p:sp>
    </p:spTree>
    <p:extLst>
      <p:ext uri="{BB962C8B-B14F-4D97-AF65-F5344CB8AC3E}">
        <p14:creationId xmlns:p14="http://schemas.microsoft.com/office/powerpoint/2010/main" val="200636361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lstStyle/>
          <a:p>
            <a:pPr marL="0" lvl="0" indent="0">
              <a:buClr>
                <a:srgbClr val="83992A"/>
              </a:buClr>
              <a:buNone/>
            </a:pPr>
            <a:r>
              <a:rPr lang="en-GB" b="1" dirty="0">
                <a:solidFill>
                  <a:srgbClr val="292929"/>
                </a:solidFill>
              </a:rPr>
              <a:t>How to Write a Critical Analysis. Cont.</a:t>
            </a:r>
            <a:r>
              <a:rPr lang="en-GB" b="1" dirty="0">
                <a:solidFill>
                  <a:srgbClr val="292929"/>
                </a:solidFill>
                <a:latin typeface="sohne"/>
              </a:rPr>
              <a:t>…</a:t>
            </a:r>
          </a:p>
          <a:p>
            <a:pPr marL="0" lvl="0" indent="0">
              <a:buClr>
                <a:srgbClr val="83992A"/>
              </a:buClr>
              <a:buNone/>
            </a:pPr>
            <a:r>
              <a:rPr lang="en-GB" b="1" dirty="0">
                <a:solidFill>
                  <a:srgbClr val="292929"/>
                </a:solidFill>
                <a:latin typeface="sohne"/>
              </a:rPr>
              <a:t> </a:t>
            </a:r>
            <a:r>
              <a:rPr lang="en-GB" sz="2800" b="1" dirty="0">
                <a:solidFill>
                  <a:srgbClr val="292929"/>
                </a:solidFill>
              </a:rPr>
              <a:t>Make sure to:</a:t>
            </a:r>
          </a:p>
          <a:p>
            <a:r>
              <a:rPr lang="en-GB" sz="2800" dirty="0" smtClean="0"/>
              <a:t>Always </a:t>
            </a:r>
            <a:r>
              <a:rPr lang="en-GB" sz="2800" dirty="0"/>
              <a:t>introduce the subject in your paper, as the audience may not be aware of what you are writing of</a:t>
            </a:r>
          </a:p>
        </p:txBody>
      </p:sp>
    </p:spTree>
    <p:extLst>
      <p:ext uri="{BB962C8B-B14F-4D97-AF65-F5344CB8AC3E}">
        <p14:creationId xmlns:p14="http://schemas.microsoft.com/office/powerpoint/2010/main" val="380579175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lstStyle/>
          <a:p>
            <a:pPr marL="0" lvl="0" indent="0">
              <a:buClr>
                <a:srgbClr val="83992A"/>
              </a:buClr>
              <a:buNone/>
            </a:pPr>
            <a:r>
              <a:rPr lang="en-GB" b="1" dirty="0">
                <a:solidFill>
                  <a:srgbClr val="292929"/>
                </a:solidFill>
              </a:rPr>
              <a:t>How to Write a Critical Analysis. Cont.</a:t>
            </a:r>
            <a:r>
              <a:rPr lang="en-GB" b="1" dirty="0">
                <a:solidFill>
                  <a:srgbClr val="292929"/>
                </a:solidFill>
                <a:latin typeface="sohne"/>
              </a:rPr>
              <a:t>…</a:t>
            </a:r>
          </a:p>
          <a:p>
            <a:pPr marL="0" lvl="0" indent="0">
              <a:buClr>
                <a:srgbClr val="83992A"/>
              </a:buClr>
              <a:buNone/>
            </a:pPr>
            <a:r>
              <a:rPr lang="en-GB" b="1" dirty="0">
                <a:solidFill>
                  <a:srgbClr val="292929"/>
                </a:solidFill>
                <a:latin typeface="sohne"/>
              </a:rPr>
              <a:t> </a:t>
            </a:r>
            <a:r>
              <a:rPr lang="en-GB" sz="2800" b="1" dirty="0">
                <a:solidFill>
                  <a:srgbClr val="292929"/>
                </a:solidFill>
              </a:rPr>
              <a:t>Make sure to:</a:t>
            </a:r>
          </a:p>
          <a:p>
            <a:r>
              <a:rPr lang="en-GB" sz="2800" dirty="0"/>
              <a:t>Focus on both strengths and weaknesses of the author by trying to follow the same structure used.</a:t>
            </a:r>
          </a:p>
        </p:txBody>
      </p:sp>
    </p:spTree>
    <p:extLst>
      <p:ext uri="{BB962C8B-B14F-4D97-AF65-F5344CB8AC3E}">
        <p14:creationId xmlns:p14="http://schemas.microsoft.com/office/powerpoint/2010/main" val="396238043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lstStyle/>
          <a:p>
            <a:pPr marL="0" lvl="0" indent="0">
              <a:buClr>
                <a:srgbClr val="83992A"/>
              </a:buClr>
              <a:buNone/>
            </a:pPr>
            <a:r>
              <a:rPr lang="en-GB" b="1" dirty="0">
                <a:solidFill>
                  <a:srgbClr val="292929"/>
                </a:solidFill>
              </a:rPr>
              <a:t>How to Write a Critical Analysis. Cont.</a:t>
            </a:r>
            <a:r>
              <a:rPr lang="en-GB" b="1" dirty="0">
                <a:solidFill>
                  <a:srgbClr val="292929"/>
                </a:solidFill>
                <a:latin typeface="sohne"/>
              </a:rPr>
              <a:t>…</a:t>
            </a:r>
          </a:p>
          <a:p>
            <a:pPr marL="0" lvl="0" indent="0">
              <a:buClr>
                <a:srgbClr val="83992A"/>
              </a:buClr>
              <a:buNone/>
            </a:pPr>
            <a:r>
              <a:rPr lang="en-GB" b="1" dirty="0">
                <a:solidFill>
                  <a:srgbClr val="292929"/>
                </a:solidFill>
                <a:latin typeface="sohne"/>
              </a:rPr>
              <a:t> </a:t>
            </a:r>
            <a:r>
              <a:rPr lang="en-GB" sz="2800" b="1" dirty="0">
                <a:solidFill>
                  <a:srgbClr val="292929"/>
                </a:solidFill>
              </a:rPr>
              <a:t>Make sure </a:t>
            </a:r>
            <a:r>
              <a:rPr lang="en-GB" sz="2800" b="1" dirty="0" smtClean="0">
                <a:solidFill>
                  <a:srgbClr val="292929"/>
                </a:solidFill>
              </a:rPr>
              <a:t>to</a:t>
            </a:r>
          </a:p>
          <a:p>
            <a:pPr>
              <a:buClr>
                <a:srgbClr val="83992A"/>
              </a:buClr>
            </a:pPr>
            <a:r>
              <a:rPr lang="en-GB" sz="2800" dirty="0">
                <a:solidFill>
                  <a:srgbClr val="292929"/>
                </a:solidFill>
                <a:latin typeface="+mj-lt"/>
              </a:rPr>
              <a:t>Always use evidence and the facts to support your claims and presented </a:t>
            </a:r>
            <a:r>
              <a:rPr lang="en-GB" sz="2800" dirty="0" smtClean="0">
                <a:solidFill>
                  <a:srgbClr val="292929"/>
                </a:solidFill>
                <a:latin typeface="+mj-lt"/>
              </a:rPr>
              <a:t>ideas</a:t>
            </a:r>
            <a:r>
              <a:rPr lang="en-GB" dirty="0">
                <a:solidFill>
                  <a:srgbClr val="292929"/>
                </a:solidFill>
                <a:latin typeface="+mj-lt"/>
              </a:rPr>
              <a:t>.</a:t>
            </a:r>
            <a:endParaRPr lang="en-GB" dirty="0">
              <a:latin typeface="+mj-lt"/>
            </a:endParaRPr>
          </a:p>
        </p:txBody>
      </p:sp>
    </p:spTree>
    <p:extLst>
      <p:ext uri="{BB962C8B-B14F-4D97-AF65-F5344CB8AC3E}">
        <p14:creationId xmlns:p14="http://schemas.microsoft.com/office/powerpoint/2010/main" val="32376053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lstStyle/>
          <a:p>
            <a:pPr marL="0" lvl="0" indent="0">
              <a:buClr>
                <a:srgbClr val="83992A"/>
              </a:buClr>
              <a:buNone/>
            </a:pPr>
            <a:r>
              <a:rPr lang="en-GB" b="1" dirty="0">
                <a:solidFill>
                  <a:srgbClr val="292929"/>
                </a:solidFill>
              </a:rPr>
              <a:t>How to Write a Critical Analysis. Cont.</a:t>
            </a:r>
            <a:r>
              <a:rPr lang="en-GB" b="1" dirty="0">
                <a:solidFill>
                  <a:srgbClr val="292929"/>
                </a:solidFill>
                <a:latin typeface="sohne"/>
              </a:rPr>
              <a:t>…</a:t>
            </a:r>
          </a:p>
          <a:p>
            <a:pPr marL="0" lvl="0" indent="0">
              <a:buClr>
                <a:srgbClr val="83992A"/>
              </a:buClr>
              <a:buNone/>
            </a:pPr>
            <a:r>
              <a:rPr lang="en-GB" b="1" dirty="0">
                <a:solidFill>
                  <a:srgbClr val="292929"/>
                </a:solidFill>
                <a:latin typeface="sohne"/>
              </a:rPr>
              <a:t> </a:t>
            </a:r>
            <a:r>
              <a:rPr lang="en-GB" sz="2800" b="1" dirty="0">
                <a:solidFill>
                  <a:srgbClr val="292929"/>
                </a:solidFill>
              </a:rPr>
              <a:t>Make sure to</a:t>
            </a:r>
          </a:p>
          <a:p>
            <a:r>
              <a:rPr lang="en-GB" sz="2800" dirty="0"/>
              <a:t>Use critical analysis writing to </a:t>
            </a:r>
            <a:r>
              <a:rPr lang="en-GB" sz="2800" dirty="0" smtClean="0"/>
              <a:t>show </a:t>
            </a:r>
            <a:r>
              <a:rPr lang="en-GB" sz="2800" dirty="0"/>
              <a:t>article’s value and relevance.</a:t>
            </a:r>
          </a:p>
          <a:p>
            <a:r>
              <a:rPr lang="en-GB" sz="2800" dirty="0"/>
              <a:t>Always remain open-minded and unbiased as you analyze, read, and write your paper</a:t>
            </a:r>
            <a:r>
              <a:rPr lang="en-GB" dirty="0"/>
              <a:t>.</a:t>
            </a:r>
          </a:p>
        </p:txBody>
      </p:sp>
    </p:spTree>
    <p:extLst>
      <p:ext uri="{BB962C8B-B14F-4D97-AF65-F5344CB8AC3E}">
        <p14:creationId xmlns:p14="http://schemas.microsoft.com/office/powerpoint/2010/main" val="224260955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noAutofit/>
          </a:bodyPr>
          <a:lstStyle/>
          <a:p>
            <a:pPr marL="0" indent="0">
              <a:buNone/>
            </a:pPr>
            <a:r>
              <a:rPr lang="en-GB" sz="2800" b="1" dirty="0" smtClean="0"/>
              <a:t>3</a:t>
            </a:r>
            <a:r>
              <a:rPr lang="en-GB" sz="2800" b="1" dirty="0" smtClean="0">
                <a:latin typeface="+mj-lt"/>
              </a:rPr>
              <a:t>. Descriptive Writing</a:t>
            </a:r>
          </a:p>
          <a:p>
            <a:r>
              <a:rPr lang="en-GB" sz="2800" dirty="0" smtClean="0"/>
              <a:t>Descriptive writing is the domain of writing that develops images through the use of precise sensory words and </a:t>
            </a:r>
            <a:r>
              <a:rPr lang="en-GB" sz="2800" dirty="0"/>
              <a:t>phrases. Description is giving details about a person, place, thing, etc. that allows the reader to experience what you </a:t>
            </a:r>
            <a:r>
              <a:rPr lang="en-GB" sz="2800" dirty="0" smtClean="0"/>
              <a:t>have written. </a:t>
            </a:r>
          </a:p>
          <a:p>
            <a:r>
              <a:rPr lang="en-GB" sz="2800" dirty="0" smtClean="0"/>
              <a:t>In </a:t>
            </a:r>
            <a:r>
              <a:rPr lang="en-GB" sz="2800" dirty="0"/>
              <a:t>order to create a good description you must appeal to the five senses and create pictures in the readers </a:t>
            </a:r>
            <a:r>
              <a:rPr lang="en-GB" sz="2800" dirty="0" smtClean="0"/>
              <a:t>mind.</a:t>
            </a:r>
            <a:endParaRPr lang="en-GB" sz="2800" dirty="0"/>
          </a:p>
        </p:txBody>
      </p:sp>
    </p:spTree>
    <p:extLst>
      <p:ext uri="{BB962C8B-B14F-4D97-AF65-F5344CB8AC3E}">
        <p14:creationId xmlns:p14="http://schemas.microsoft.com/office/powerpoint/2010/main" val="3631983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nodeType="clickEffect">
                                  <p:stCondLst>
                                    <p:cond delay="0"/>
                                  </p:stCondLst>
                                  <p:iterate type="lt">
                                    <p:tmPct val="20000"/>
                                  </p:iterate>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lstStyle/>
          <a:p>
            <a:pPr marL="0" lvl="0" indent="0">
              <a:buClr>
                <a:srgbClr val="83992A"/>
              </a:buClr>
              <a:buNone/>
            </a:pPr>
            <a:r>
              <a:rPr lang="en-GB" sz="2800" b="1" dirty="0">
                <a:solidFill>
                  <a:prstClr val="black">
                    <a:lumMod val="85000"/>
                    <a:lumOff val="15000"/>
                  </a:prstClr>
                </a:solidFill>
              </a:rPr>
              <a:t>Descriptive </a:t>
            </a:r>
            <a:r>
              <a:rPr lang="en-GB" sz="2800" b="1" dirty="0" smtClean="0">
                <a:solidFill>
                  <a:prstClr val="black">
                    <a:lumMod val="85000"/>
                    <a:lumOff val="15000"/>
                  </a:prstClr>
                </a:solidFill>
              </a:rPr>
              <a:t>Writing.Cont….</a:t>
            </a:r>
            <a:endParaRPr lang="en-GB" sz="2800" b="1" dirty="0">
              <a:solidFill>
                <a:prstClr val="black">
                  <a:lumMod val="85000"/>
                  <a:lumOff val="15000"/>
                </a:prstClr>
              </a:solidFill>
            </a:endParaRPr>
          </a:p>
          <a:p>
            <a:r>
              <a:rPr lang="en-GB" sz="2800" dirty="0"/>
              <a:t>The primary purpose of descriptive writing is to describe a person, place or thing in such a way that a picture is formed in the reader's </a:t>
            </a:r>
            <a:r>
              <a:rPr lang="en-GB" sz="2800" dirty="0" smtClean="0"/>
              <a:t>mind</a:t>
            </a:r>
            <a:r>
              <a:rPr lang="en-GB" dirty="0" smtClean="0"/>
              <a:t>.</a:t>
            </a:r>
          </a:p>
        </p:txBody>
      </p:sp>
    </p:spTree>
    <p:extLst>
      <p:ext uri="{BB962C8B-B14F-4D97-AF65-F5344CB8AC3E}">
        <p14:creationId xmlns:p14="http://schemas.microsoft.com/office/powerpoint/2010/main" val="230224051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normAutofit/>
          </a:bodyPr>
          <a:lstStyle/>
          <a:p>
            <a:pPr marL="0" indent="0">
              <a:buNone/>
            </a:pPr>
            <a:r>
              <a:rPr lang="en-GB" sz="2800" b="1" dirty="0" smtClean="0">
                <a:latin typeface="+mj-lt"/>
              </a:rPr>
              <a:t>What is a</a:t>
            </a:r>
            <a:r>
              <a:rPr lang="en-GB" sz="2800" b="1" dirty="0" smtClean="0">
                <a:solidFill>
                  <a:srgbClr val="000000"/>
                </a:solidFill>
                <a:latin typeface="+mj-lt"/>
              </a:rPr>
              <a:t> descriptive essay </a:t>
            </a:r>
            <a:r>
              <a:rPr lang="en-GB" sz="2800" dirty="0" smtClean="0">
                <a:solidFill>
                  <a:srgbClr val="000000"/>
                </a:solidFill>
                <a:latin typeface="Conv_Roboto-Regular"/>
              </a:rPr>
              <a:t>?</a:t>
            </a:r>
          </a:p>
          <a:p>
            <a:r>
              <a:rPr lang="en-GB" sz="2800" dirty="0"/>
              <a:t>A descriptive essay is one of the common types of essay the </a:t>
            </a:r>
            <a:r>
              <a:rPr lang="en-GB" sz="2800" dirty="0" smtClean="0"/>
              <a:t> </a:t>
            </a:r>
            <a:r>
              <a:rPr lang="en-GB" sz="2800" dirty="0"/>
              <a:t>lecturers assign to students</a:t>
            </a:r>
            <a:r>
              <a:rPr lang="en-GB" sz="2800" dirty="0" smtClean="0"/>
              <a:t>.</a:t>
            </a:r>
          </a:p>
          <a:p>
            <a:r>
              <a:rPr lang="en-GB" sz="2800" dirty="0"/>
              <a:t>In view of descriptive essay writing,  a descriptive essay is a type of essay that asks the student to describe something such as object, person, place, experience, emotion, situation, etc. </a:t>
            </a:r>
          </a:p>
          <a:p>
            <a:endParaRPr lang="en-GB" sz="2800" dirty="0"/>
          </a:p>
        </p:txBody>
      </p:sp>
    </p:spTree>
    <p:extLst>
      <p:ext uri="{BB962C8B-B14F-4D97-AF65-F5344CB8AC3E}">
        <p14:creationId xmlns:p14="http://schemas.microsoft.com/office/powerpoint/2010/main" val="4199367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iterate type="lt">
                                    <p:tmPct val="20000"/>
                                  </p:iterate>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a:xfrm>
            <a:off x="1295401" y="2556932"/>
            <a:ext cx="9601196" cy="4301068"/>
          </a:xfrm>
        </p:spPr>
        <p:txBody>
          <a:bodyPr>
            <a:normAutofit/>
          </a:bodyPr>
          <a:lstStyle/>
          <a:p>
            <a:pPr marL="0" lvl="0" indent="0">
              <a:buClr>
                <a:srgbClr val="83992A"/>
              </a:buClr>
              <a:buNone/>
            </a:pPr>
            <a:r>
              <a:rPr lang="en-GB" sz="2800" b="1" dirty="0">
                <a:solidFill>
                  <a:prstClr val="black">
                    <a:lumMod val="85000"/>
                    <a:lumOff val="15000"/>
                  </a:prstClr>
                </a:solidFill>
              </a:rPr>
              <a:t>Descriptive Writing.Cont</a:t>
            </a:r>
            <a:r>
              <a:rPr lang="en-GB" sz="2800" b="1" dirty="0" smtClean="0">
                <a:solidFill>
                  <a:prstClr val="black">
                    <a:lumMod val="85000"/>
                    <a:lumOff val="15000"/>
                  </a:prstClr>
                </a:solidFill>
              </a:rPr>
              <a:t>….</a:t>
            </a:r>
            <a:endParaRPr lang="en-GB" sz="2800" dirty="0" smtClean="0"/>
          </a:p>
          <a:p>
            <a:pPr marL="0" indent="0">
              <a:buNone/>
            </a:pPr>
            <a:r>
              <a:rPr lang="en-GB" dirty="0" smtClean="0"/>
              <a:t>Descriptive </a:t>
            </a:r>
            <a:r>
              <a:rPr lang="en-GB" dirty="0"/>
              <a:t>essay writing help you illustrate something in a way that your reader can see, feel, or hear whatever it is you're talking about. A descriptive essay allows a reader to understand the essay's subject using illustrative language</a:t>
            </a:r>
            <a:r>
              <a:rPr lang="en-GB" dirty="0" smtClean="0"/>
              <a:t>. </a:t>
            </a:r>
            <a:r>
              <a:rPr lang="en-GB" dirty="0"/>
              <a:t>E.g </a:t>
            </a:r>
            <a:endParaRPr lang="en-GB" dirty="0" smtClean="0"/>
          </a:p>
          <a:p>
            <a:r>
              <a:rPr lang="en-GB" dirty="0" smtClean="0"/>
              <a:t>Describe ARVs regimen to patients attending OPD clinic ?</a:t>
            </a:r>
          </a:p>
          <a:p>
            <a:r>
              <a:rPr lang="en-GB" dirty="0" smtClean="0"/>
              <a:t>Using practical examples, describe the effects of COVID-19 on the academic performance of students.</a:t>
            </a:r>
            <a:endParaRPr lang="en-GB" dirty="0"/>
          </a:p>
          <a:p>
            <a:endParaRPr lang="en-GB" dirty="0"/>
          </a:p>
        </p:txBody>
      </p:sp>
    </p:spTree>
    <p:extLst>
      <p:ext uri="{BB962C8B-B14F-4D97-AF65-F5344CB8AC3E}">
        <p14:creationId xmlns:p14="http://schemas.microsoft.com/office/powerpoint/2010/main" val="428268555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lstStyle/>
          <a:p>
            <a:pPr marL="0" indent="0">
              <a:buNone/>
            </a:pPr>
            <a:r>
              <a:rPr lang="en-GB" sz="2800" b="1" dirty="0"/>
              <a:t>A</a:t>
            </a:r>
            <a:r>
              <a:rPr lang="en-GB" sz="2800" b="1" dirty="0" smtClean="0"/>
              <a:t> descriptive essay example </a:t>
            </a:r>
            <a:r>
              <a:rPr lang="en-GB" sz="2800" b="1" dirty="0"/>
              <a:t>on HIV </a:t>
            </a:r>
            <a:r>
              <a:rPr lang="en-GB" sz="2800" b="1" dirty="0" smtClean="0"/>
              <a:t>AIDS pandemic</a:t>
            </a:r>
          </a:p>
          <a:p>
            <a:r>
              <a:rPr lang="en-GB" sz="2800" dirty="0"/>
              <a:t>One of the most feared diseases of the twentieth century is HIV. The Human Immunodeficiency Virus (HIV) causes AIDS by destroying the human immune </a:t>
            </a:r>
            <a:r>
              <a:rPr lang="en-GB" sz="2800" dirty="0" smtClean="0"/>
              <a:t>system( WHO,2017). </a:t>
            </a:r>
            <a:r>
              <a:rPr lang="en-GB" sz="2800" dirty="0"/>
              <a:t>It has claimed the lives of more than 29% of the world’s population. AIDS has spread like wildfire over the world since its </a:t>
            </a:r>
            <a:r>
              <a:rPr lang="en-GB" sz="2800" dirty="0" smtClean="0"/>
              <a:t>discovery( Kangwa et al,2023</a:t>
            </a:r>
            <a:r>
              <a:rPr lang="en-GB" dirty="0" smtClean="0"/>
              <a:t>).</a:t>
            </a:r>
            <a:endParaRPr lang="en-GB" dirty="0"/>
          </a:p>
        </p:txBody>
      </p:sp>
    </p:spTree>
    <p:extLst>
      <p:ext uri="{BB962C8B-B14F-4D97-AF65-F5344CB8AC3E}">
        <p14:creationId xmlns:p14="http://schemas.microsoft.com/office/powerpoint/2010/main" val="353707866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lstStyle/>
          <a:p>
            <a:pPr marL="0" indent="0">
              <a:buNone/>
            </a:pPr>
            <a:r>
              <a:rPr lang="en-GB" sz="2800" b="1" dirty="0" smtClean="0"/>
              <a:t>4.Critical academic writing </a:t>
            </a:r>
          </a:p>
          <a:p>
            <a:r>
              <a:rPr lang="en-GB" sz="2800" dirty="0"/>
              <a:t>Critical writing is writing which analyses and evaluates information, usually from multiple sources, in order to develop an argument. </a:t>
            </a:r>
            <a:r>
              <a:rPr lang="en-GB" sz="2800" dirty="0" smtClean="0"/>
              <a:t>We should not </a:t>
            </a:r>
            <a:r>
              <a:rPr lang="en-GB" sz="2800" dirty="0"/>
              <a:t>assume that everything </a:t>
            </a:r>
            <a:r>
              <a:rPr lang="en-GB" sz="2800" dirty="0" smtClean="0"/>
              <a:t>we </a:t>
            </a:r>
            <a:r>
              <a:rPr lang="en-GB" sz="2800" dirty="0"/>
              <a:t>read is </a:t>
            </a:r>
            <a:r>
              <a:rPr lang="en-GB" sz="2800" dirty="0" smtClean="0"/>
              <a:t>true, and we should always </a:t>
            </a:r>
            <a:r>
              <a:rPr lang="en-GB" sz="2800" dirty="0"/>
              <a:t>agree with </a:t>
            </a:r>
            <a:r>
              <a:rPr lang="en-GB" sz="2800" dirty="0" smtClean="0"/>
              <a:t>it </a:t>
            </a:r>
            <a:r>
              <a:rPr lang="en-GB" sz="2800" dirty="0"/>
              <a:t>since it has been published in an academic </a:t>
            </a:r>
            <a:r>
              <a:rPr lang="en-GB" sz="2800" dirty="0" smtClean="0"/>
              <a:t>manuscript </a:t>
            </a:r>
            <a:r>
              <a:rPr lang="en-GB" sz="2800" dirty="0"/>
              <a:t>or journal.</a:t>
            </a:r>
          </a:p>
        </p:txBody>
      </p:sp>
    </p:spTree>
    <p:extLst>
      <p:ext uri="{BB962C8B-B14F-4D97-AF65-F5344CB8AC3E}">
        <p14:creationId xmlns:p14="http://schemas.microsoft.com/office/powerpoint/2010/main" val="3138415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nodeType="clickEffect">
                                  <p:stCondLst>
                                    <p:cond delay="0"/>
                                  </p:stCondLst>
                                  <p:iterate type="lt">
                                    <p:tmPct val="20000"/>
                                  </p:iterate>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a:xfrm>
            <a:off x="1295401" y="2556931"/>
            <a:ext cx="9601196" cy="3647925"/>
          </a:xfrm>
        </p:spPr>
        <p:txBody>
          <a:bodyPr/>
          <a:lstStyle/>
          <a:p>
            <a:pPr marL="0" lvl="0" indent="0">
              <a:buClr>
                <a:srgbClr val="83992A"/>
              </a:buClr>
              <a:buNone/>
            </a:pPr>
            <a:r>
              <a:rPr lang="en-GB" sz="2800" b="1" dirty="0">
                <a:solidFill>
                  <a:prstClr val="black">
                    <a:lumMod val="85000"/>
                    <a:lumOff val="15000"/>
                  </a:prstClr>
                </a:solidFill>
              </a:rPr>
              <a:t>4.Critical academic </a:t>
            </a:r>
            <a:r>
              <a:rPr lang="en-GB" sz="2800" b="1" dirty="0" smtClean="0">
                <a:solidFill>
                  <a:prstClr val="black">
                    <a:lumMod val="85000"/>
                    <a:lumOff val="15000"/>
                  </a:prstClr>
                </a:solidFill>
              </a:rPr>
              <a:t>writing. Cont.….. </a:t>
            </a:r>
            <a:endParaRPr lang="en-GB" sz="2800" dirty="0" smtClean="0"/>
          </a:p>
          <a:p>
            <a:r>
              <a:rPr lang="en-GB" sz="2800" dirty="0" smtClean="0"/>
              <a:t>As a student, you part of the </a:t>
            </a:r>
            <a:r>
              <a:rPr lang="en-GB" sz="2800" dirty="0"/>
              <a:t>academic </a:t>
            </a:r>
            <a:r>
              <a:rPr lang="en-GB" sz="2800" dirty="0" smtClean="0"/>
              <a:t>community, however, </a:t>
            </a:r>
            <a:r>
              <a:rPr lang="en-GB" sz="2800" dirty="0"/>
              <a:t>you should be critical of </a:t>
            </a:r>
            <a:r>
              <a:rPr lang="en-GB" sz="2800" dirty="0" smtClean="0"/>
              <a:t>( </a:t>
            </a:r>
            <a:r>
              <a:rPr lang="en-GB" sz="2800" dirty="0"/>
              <a:t>question) what you read, </a:t>
            </a:r>
            <a:r>
              <a:rPr lang="en-GB" sz="2800" dirty="0" smtClean="0"/>
              <a:t>look </a:t>
            </a:r>
            <a:r>
              <a:rPr lang="en-GB" sz="2800" dirty="0"/>
              <a:t>for </a:t>
            </a:r>
            <a:r>
              <a:rPr lang="en-GB" sz="2800" dirty="0" smtClean="0"/>
              <a:t>reasons why written articles </a:t>
            </a:r>
            <a:r>
              <a:rPr lang="en-GB" sz="2800" dirty="0"/>
              <a:t>should be accepted or rejected, for example by comparing </a:t>
            </a:r>
            <a:r>
              <a:rPr lang="en-GB" sz="2800" dirty="0" smtClean="0"/>
              <a:t> </a:t>
            </a:r>
            <a:r>
              <a:rPr lang="en-GB" sz="2800" dirty="0"/>
              <a:t>with what other writers say about the </a:t>
            </a:r>
            <a:r>
              <a:rPr lang="en-GB" sz="2800" dirty="0" smtClean="0"/>
              <a:t>topics, </a:t>
            </a:r>
            <a:r>
              <a:rPr lang="en-GB" sz="2800" dirty="0"/>
              <a:t>or </a:t>
            </a:r>
            <a:r>
              <a:rPr lang="en-GB" sz="2800" dirty="0" smtClean="0"/>
              <a:t>evaluate </a:t>
            </a:r>
            <a:r>
              <a:rPr lang="en-GB" sz="2800" dirty="0"/>
              <a:t>the research methods to see if they are adequate or whether they could be improved.</a:t>
            </a:r>
          </a:p>
        </p:txBody>
      </p:sp>
    </p:spTree>
    <p:extLst>
      <p:ext uri="{BB962C8B-B14F-4D97-AF65-F5344CB8AC3E}">
        <p14:creationId xmlns:p14="http://schemas.microsoft.com/office/powerpoint/2010/main" val="110990022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normAutofit/>
          </a:bodyPr>
          <a:lstStyle/>
          <a:p>
            <a:r>
              <a:rPr lang="en-GB" sz="3200" dirty="0"/>
              <a:t>Examples of critical writing assignments include a critique of a journal article, or a literature review that identifies the strengths and weaknesses of existing research. The kinds of instructions for critical writing include: 'critique', 'debate', 'disagree' and 'evaluate'.</a:t>
            </a:r>
          </a:p>
        </p:txBody>
      </p:sp>
    </p:spTree>
    <p:extLst>
      <p:ext uri="{BB962C8B-B14F-4D97-AF65-F5344CB8AC3E}">
        <p14:creationId xmlns:p14="http://schemas.microsoft.com/office/powerpoint/2010/main" val="7811272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a:xfrm>
            <a:off x="1295401" y="2556932"/>
            <a:ext cx="9601196" cy="3752428"/>
          </a:xfrm>
        </p:spPr>
        <p:txBody>
          <a:bodyPr>
            <a:noAutofit/>
          </a:bodyPr>
          <a:lstStyle/>
          <a:p>
            <a:pPr marL="0" indent="0">
              <a:buNone/>
            </a:pPr>
            <a:r>
              <a:rPr lang="en-GB" sz="2800" b="1" dirty="0">
                <a:solidFill>
                  <a:prstClr val="black">
                    <a:lumMod val="85000"/>
                    <a:lumOff val="15000"/>
                  </a:prstClr>
                </a:solidFill>
              </a:rPr>
              <a:t>4.Critical </a:t>
            </a:r>
            <a:r>
              <a:rPr lang="en-GB" sz="2800" b="1" dirty="0" smtClean="0">
                <a:solidFill>
                  <a:prstClr val="black">
                    <a:lumMod val="85000"/>
                    <a:lumOff val="15000"/>
                  </a:prstClr>
                </a:solidFill>
              </a:rPr>
              <a:t>academic </a:t>
            </a:r>
            <a:r>
              <a:rPr lang="en-GB" sz="2800" b="1" dirty="0">
                <a:solidFill>
                  <a:prstClr val="black">
                    <a:lumMod val="85000"/>
                    <a:lumOff val="15000"/>
                  </a:prstClr>
                </a:solidFill>
              </a:rPr>
              <a:t>writing. </a:t>
            </a:r>
            <a:r>
              <a:rPr lang="en-GB" sz="2800" b="1" dirty="0" smtClean="0">
                <a:solidFill>
                  <a:prstClr val="black">
                    <a:lumMod val="85000"/>
                    <a:lumOff val="15000"/>
                  </a:prstClr>
                </a:solidFill>
              </a:rPr>
              <a:t>Cont. </a:t>
            </a:r>
          </a:p>
          <a:p>
            <a:pPr marL="0" indent="0">
              <a:buNone/>
            </a:pPr>
            <a:r>
              <a:rPr lang="en-GB" sz="2800" b="1" dirty="0" smtClean="0"/>
              <a:t>How can you </a:t>
            </a:r>
            <a:r>
              <a:rPr lang="en-GB" sz="2800" b="1" dirty="0"/>
              <a:t>to write </a:t>
            </a:r>
            <a:r>
              <a:rPr lang="en-GB" sz="2800" b="1" dirty="0" smtClean="0"/>
              <a:t>critically </a:t>
            </a:r>
            <a:r>
              <a:rPr lang="en-GB" sz="2800" dirty="0" smtClean="0"/>
              <a:t>?</a:t>
            </a:r>
          </a:p>
          <a:p>
            <a:r>
              <a:rPr lang="en-GB" sz="2800" dirty="0" smtClean="0">
                <a:solidFill>
                  <a:srgbClr val="1E1E1E"/>
                </a:solidFill>
                <a:latin typeface="+mj-lt"/>
              </a:rPr>
              <a:t>To </a:t>
            </a:r>
            <a:r>
              <a:rPr lang="en-GB" sz="2800" dirty="0">
                <a:solidFill>
                  <a:srgbClr val="1E1E1E"/>
                </a:solidFill>
                <a:latin typeface="+mj-lt"/>
              </a:rPr>
              <a:t>write critically, you need to use a range of sources to develop your </a:t>
            </a:r>
            <a:r>
              <a:rPr lang="en-GB" sz="2800" dirty="0" smtClean="0">
                <a:solidFill>
                  <a:srgbClr val="1E1E1E"/>
                </a:solidFill>
                <a:latin typeface="+mj-lt"/>
              </a:rPr>
              <a:t>argument. E.g lack of exercises causes cancer, hypertension and </a:t>
            </a:r>
            <a:r>
              <a:rPr lang="en-GB" sz="2800" dirty="0">
                <a:solidFill>
                  <a:srgbClr val="1E1E1E"/>
                </a:solidFill>
                <a:latin typeface="+mj-lt"/>
              </a:rPr>
              <a:t>diabetes</a:t>
            </a:r>
            <a:r>
              <a:rPr lang="en-GB" sz="2800" dirty="0" smtClean="0">
                <a:solidFill>
                  <a:srgbClr val="1E1E1E"/>
                </a:solidFill>
                <a:latin typeface="+mj-lt"/>
              </a:rPr>
              <a:t>. To critically analyse this statement, </a:t>
            </a:r>
            <a:r>
              <a:rPr lang="en-GB" sz="2800" dirty="0">
                <a:solidFill>
                  <a:srgbClr val="1E1E1E"/>
                </a:solidFill>
                <a:latin typeface="+mj-lt"/>
              </a:rPr>
              <a:t>y</a:t>
            </a:r>
            <a:r>
              <a:rPr lang="en-GB" sz="2800" dirty="0" smtClean="0">
                <a:solidFill>
                  <a:srgbClr val="1E1E1E"/>
                </a:solidFill>
                <a:latin typeface="+mj-lt"/>
              </a:rPr>
              <a:t>ou </a:t>
            </a:r>
            <a:r>
              <a:rPr lang="en-GB" sz="2800" dirty="0">
                <a:solidFill>
                  <a:srgbClr val="1E1E1E"/>
                </a:solidFill>
                <a:latin typeface="+mj-lt"/>
              </a:rPr>
              <a:t>cannot rely </a:t>
            </a:r>
            <a:r>
              <a:rPr lang="en-GB" sz="2800" dirty="0" smtClean="0">
                <a:solidFill>
                  <a:srgbClr val="1E1E1E"/>
                </a:solidFill>
                <a:latin typeface="+mj-lt"/>
              </a:rPr>
              <a:t>exclusively </a:t>
            </a:r>
            <a:r>
              <a:rPr lang="en-GB" sz="2800" dirty="0">
                <a:solidFill>
                  <a:srgbClr val="1E1E1E"/>
                </a:solidFill>
                <a:latin typeface="+mj-lt"/>
              </a:rPr>
              <a:t>on your own ideas; you need to understand what others have written about the same </a:t>
            </a:r>
            <a:r>
              <a:rPr lang="en-GB" sz="2800" dirty="0" smtClean="0">
                <a:solidFill>
                  <a:srgbClr val="1E1E1E"/>
                </a:solidFill>
                <a:latin typeface="+mj-lt"/>
              </a:rPr>
              <a:t>topic.</a:t>
            </a:r>
            <a:endParaRPr lang="en-GB" sz="2800" dirty="0" smtClean="0">
              <a:latin typeface="+mj-lt"/>
            </a:endParaRPr>
          </a:p>
          <a:p>
            <a:endParaRPr lang="en-GB" sz="2800" dirty="0">
              <a:latin typeface="+mj-lt"/>
            </a:endParaRPr>
          </a:p>
        </p:txBody>
      </p:sp>
    </p:spTree>
    <p:extLst>
      <p:ext uri="{BB962C8B-B14F-4D97-AF65-F5344CB8AC3E}">
        <p14:creationId xmlns:p14="http://schemas.microsoft.com/office/powerpoint/2010/main" val="168519550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normAutofit/>
          </a:bodyPr>
          <a:lstStyle/>
          <a:p>
            <a:pPr marL="0" lvl="0" indent="0">
              <a:buClr>
                <a:srgbClr val="83992A"/>
              </a:buClr>
              <a:buNone/>
            </a:pPr>
            <a:r>
              <a:rPr lang="en-GB" sz="2800" b="1" dirty="0">
                <a:solidFill>
                  <a:prstClr val="black">
                    <a:lumMod val="85000"/>
                    <a:lumOff val="15000"/>
                  </a:prstClr>
                </a:solidFill>
              </a:rPr>
              <a:t>4.Critical academic writing. Cont. </a:t>
            </a:r>
          </a:p>
          <a:p>
            <a:pPr marL="0" lvl="0" indent="0">
              <a:buClr>
                <a:srgbClr val="83992A"/>
              </a:buClr>
              <a:buNone/>
            </a:pPr>
            <a:r>
              <a:rPr lang="en-GB" sz="2800" b="1" dirty="0">
                <a:solidFill>
                  <a:prstClr val="black">
                    <a:lumMod val="85000"/>
                    <a:lumOff val="15000"/>
                  </a:prstClr>
                </a:solidFill>
              </a:rPr>
              <a:t>How can you </a:t>
            </a:r>
            <a:r>
              <a:rPr lang="en-GB" sz="2800" b="1" dirty="0" smtClean="0">
                <a:solidFill>
                  <a:prstClr val="black">
                    <a:lumMod val="85000"/>
                    <a:lumOff val="15000"/>
                  </a:prstClr>
                </a:solidFill>
              </a:rPr>
              <a:t>to </a:t>
            </a:r>
            <a:r>
              <a:rPr lang="en-GB" sz="2800" b="1" dirty="0">
                <a:solidFill>
                  <a:prstClr val="black">
                    <a:lumMod val="85000"/>
                    <a:lumOff val="15000"/>
                  </a:prstClr>
                </a:solidFill>
              </a:rPr>
              <a:t>write </a:t>
            </a:r>
            <a:r>
              <a:rPr lang="en-GB" sz="2800" b="1" dirty="0" smtClean="0">
                <a:solidFill>
                  <a:prstClr val="black">
                    <a:lumMod val="85000"/>
                    <a:lumOff val="15000"/>
                  </a:prstClr>
                </a:solidFill>
              </a:rPr>
              <a:t>critically. Cont.….</a:t>
            </a:r>
          </a:p>
          <a:p>
            <a:pPr>
              <a:buClr>
                <a:srgbClr val="83992A"/>
              </a:buClr>
            </a:pPr>
            <a:r>
              <a:rPr lang="en-GB" sz="2800" smtClean="0"/>
              <a:t>it </a:t>
            </a:r>
            <a:r>
              <a:rPr lang="en-GB" sz="2800" dirty="0"/>
              <a:t>is not enough to use just a single source to support your argument, for example a source which agrees with your own view, since this could lead to a biased </a:t>
            </a:r>
            <a:r>
              <a:rPr lang="en-GB" sz="2800" dirty="0" smtClean="0"/>
              <a:t>argument</a:t>
            </a:r>
            <a:r>
              <a:rPr lang="en-GB" sz="2800" dirty="0"/>
              <a:t>. You </a:t>
            </a:r>
            <a:r>
              <a:rPr lang="en-GB" sz="2800" dirty="0" smtClean="0"/>
              <a:t>need </a:t>
            </a:r>
            <a:r>
              <a:rPr lang="en-GB" sz="2800" dirty="0"/>
              <a:t>to consider all sides of the </a:t>
            </a:r>
            <a:r>
              <a:rPr lang="en-GB" sz="2800" dirty="0" smtClean="0"/>
              <a:t>issue.</a:t>
            </a:r>
            <a:endParaRPr lang="en-GB" sz="2800" dirty="0"/>
          </a:p>
        </p:txBody>
      </p:sp>
    </p:spTree>
    <p:extLst>
      <p:ext uri="{BB962C8B-B14F-4D97-AF65-F5344CB8AC3E}">
        <p14:creationId xmlns:p14="http://schemas.microsoft.com/office/powerpoint/2010/main" val="226649460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normAutofit/>
          </a:bodyPr>
          <a:lstStyle/>
          <a:p>
            <a:pPr marL="0" indent="0">
              <a:buNone/>
            </a:pPr>
            <a:r>
              <a:rPr lang="en-GB" sz="2800" b="1" dirty="0"/>
              <a:t>Examples </a:t>
            </a:r>
            <a:r>
              <a:rPr lang="en-GB" sz="2800" b="1" dirty="0" smtClean="0"/>
              <a:t>of </a:t>
            </a:r>
            <a:r>
              <a:rPr lang="en-GB" sz="2800" b="1" dirty="0"/>
              <a:t>descriptive vs. critical </a:t>
            </a:r>
            <a:r>
              <a:rPr lang="en-GB" sz="2800" b="1" dirty="0" smtClean="0"/>
              <a:t>writing</a:t>
            </a:r>
          </a:p>
          <a:p>
            <a:pPr marL="0" indent="0">
              <a:buNone/>
            </a:pPr>
            <a:endParaRPr lang="en-GB" sz="2800" b="1" dirty="0"/>
          </a:p>
        </p:txBody>
      </p:sp>
      <p:graphicFrame>
        <p:nvGraphicFramePr>
          <p:cNvPr id="4" name="Table 3"/>
          <p:cNvGraphicFramePr>
            <a:graphicFrameLocks noGrp="1"/>
          </p:cNvGraphicFramePr>
          <p:nvPr>
            <p:extLst>
              <p:ext uri="{D42A27DB-BD31-4B8C-83A1-F6EECF244321}">
                <p14:modId xmlns:p14="http://schemas.microsoft.com/office/powerpoint/2010/main" val="315119617"/>
              </p:ext>
            </p:extLst>
          </p:nvPr>
        </p:nvGraphicFramePr>
        <p:xfrm>
          <a:off x="1295400" y="3232150"/>
          <a:ext cx="9601200" cy="3014104"/>
        </p:xfrm>
        <a:graphic>
          <a:graphicData uri="http://schemas.openxmlformats.org/drawingml/2006/table">
            <a:tbl>
              <a:tblPr firstRow="1" firstCol="1" bandRow="1"/>
              <a:tblGrid>
                <a:gridCol w="4757670"/>
                <a:gridCol w="4843530"/>
              </a:tblGrid>
              <a:tr h="499664">
                <a:tc>
                  <a:txBody>
                    <a:bodyPr/>
                    <a:lstStyle/>
                    <a:p>
                      <a:pPr>
                        <a:lnSpc>
                          <a:spcPts val="1575"/>
                        </a:lnSpc>
                        <a:spcAft>
                          <a:spcPts val="0"/>
                        </a:spcAft>
                      </a:pPr>
                      <a:r>
                        <a:rPr lang="en-GB" sz="2000" b="1" dirty="0">
                          <a:effectLst/>
                          <a:latin typeface="Trebuchet MS" panose="020B0603020202020204" pitchFamily="34" charset="0"/>
                          <a:ea typeface="Times New Roman" panose="02020603050405020304" pitchFamily="18" charset="0"/>
                          <a:cs typeface="Times New Roman" panose="02020603050405020304" pitchFamily="18" charset="0"/>
                        </a:rPr>
                        <a:t>Descriptive writing</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99CCFF"/>
                    </a:solidFill>
                  </a:tcPr>
                </a:tc>
                <a:tc>
                  <a:txBody>
                    <a:bodyPr/>
                    <a:lstStyle/>
                    <a:p>
                      <a:pPr>
                        <a:lnSpc>
                          <a:spcPts val="1575"/>
                        </a:lnSpc>
                        <a:spcAft>
                          <a:spcPts val="0"/>
                        </a:spcAft>
                      </a:pPr>
                      <a:r>
                        <a:rPr lang="en-GB" sz="2000" b="1">
                          <a:effectLst/>
                          <a:latin typeface="Trebuchet MS" panose="020B0603020202020204" pitchFamily="34" charset="0"/>
                          <a:ea typeface="Times New Roman" panose="02020603050405020304" pitchFamily="18" charset="0"/>
                          <a:cs typeface="Times New Roman" panose="02020603050405020304" pitchFamily="18" charset="0"/>
                        </a:rPr>
                        <a:t>Critical writing</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99CCFF"/>
                    </a:solidFill>
                  </a:tcPr>
                </a:tc>
              </a:tr>
              <a:tr h="757556">
                <a:tc rowSpan="2">
                  <a:txBody>
                    <a:bodyPr/>
                    <a:lstStyle/>
                    <a:p>
                      <a:pPr>
                        <a:lnSpc>
                          <a:spcPts val="1575"/>
                        </a:lnSpc>
                        <a:spcAft>
                          <a:spcPts val="0"/>
                        </a:spcAft>
                      </a:pPr>
                      <a:r>
                        <a:rPr lang="en-GB" sz="2000" b="1" dirty="0">
                          <a:effectLst/>
                          <a:latin typeface="Trebuchet MS" panose="020B0603020202020204" pitchFamily="34" charset="0"/>
                          <a:ea typeface="Times New Roman" panose="02020603050405020304" pitchFamily="18" charset="0"/>
                          <a:cs typeface="Times New Roman" panose="02020603050405020304" pitchFamily="18" charset="0"/>
                        </a:rPr>
                        <a:t>Reports</a:t>
                      </a:r>
                      <a:r>
                        <a:rPr lang="en-GB" sz="2000" dirty="0">
                          <a:effectLst/>
                          <a:latin typeface="Trebuchet MS" panose="020B0603020202020204" pitchFamily="34" charset="0"/>
                          <a:ea typeface="Times New Roman" panose="02020603050405020304" pitchFamily="18" charset="0"/>
                          <a:cs typeface="Times New Roman" panose="02020603050405020304" pitchFamily="18" charset="0"/>
                        </a:rPr>
                        <a:t> what happened</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nSpc>
                          <a:spcPts val="1575"/>
                        </a:lnSpc>
                        <a:spcAft>
                          <a:spcPts val="0"/>
                        </a:spcAft>
                      </a:pPr>
                      <a:r>
                        <a:rPr lang="en-GB" sz="2000" b="1">
                          <a:effectLst/>
                          <a:latin typeface="Trebuchet MS" panose="020B0603020202020204" pitchFamily="34" charset="0"/>
                          <a:ea typeface="Times New Roman" panose="02020603050405020304" pitchFamily="18" charset="0"/>
                          <a:cs typeface="Times New Roman" panose="02020603050405020304" pitchFamily="18" charset="0"/>
                        </a:rPr>
                        <a:t>Evaluates</a:t>
                      </a:r>
                      <a:r>
                        <a:rPr lang="en-GB" sz="2000">
                          <a:effectLst/>
                          <a:latin typeface="Trebuchet MS" panose="020B0603020202020204" pitchFamily="34" charset="0"/>
                          <a:ea typeface="Times New Roman" panose="02020603050405020304" pitchFamily="18" charset="0"/>
                          <a:cs typeface="Times New Roman" panose="02020603050405020304" pitchFamily="18" charset="0"/>
                        </a:rPr>
                        <a:t> the significance of what happened</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499664">
                <a:tc vMerge="1">
                  <a:txBody>
                    <a:bodyPr/>
                    <a:lstStyle/>
                    <a:p>
                      <a:endParaRPr lang="en-GB"/>
                    </a:p>
                  </a:txBody>
                  <a:tcPr/>
                </a:tc>
                <a:tc>
                  <a:txBody>
                    <a:bodyPr/>
                    <a:lstStyle/>
                    <a:p>
                      <a:pPr>
                        <a:lnSpc>
                          <a:spcPts val="1575"/>
                        </a:lnSpc>
                        <a:spcAft>
                          <a:spcPts val="0"/>
                        </a:spcAft>
                      </a:pPr>
                      <a:r>
                        <a:rPr lang="en-GB" sz="2000" b="1">
                          <a:effectLst/>
                          <a:latin typeface="Trebuchet MS" panose="020B0603020202020204" pitchFamily="34" charset="0"/>
                          <a:ea typeface="Times New Roman" panose="02020603050405020304" pitchFamily="18" charset="0"/>
                          <a:cs typeface="Times New Roman" panose="02020603050405020304" pitchFamily="18" charset="0"/>
                        </a:rPr>
                        <a:t>Hypothesises</a:t>
                      </a:r>
                      <a:r>
                        <a:rPr lang="en-GB" sz="2000">
                          <a:effectLst/>
                          <a:latin typeface="Trebuchet MS" panose="020B0603020202020204" pitchFamily="34" charset="0"/>
                          <a:ea typeface="Times New Roman" panose="02020603050405020304" pitchFamily="18" charset="0"/>
                          <a:cs typeface="Times New Roman" panose="02020603050405020304" pitchFamily="18" charset="0"/>
                        </a:rPr>
                        <a:t> why something happened</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757556">
                <a:tc>
                  <a:txBody>
                    <a:bodyPr/>
                    <a:lstStyle/>
                    <a:p>
                      <a:pPr>
                        <a:lnSpc>
                          <a:spcPts val="1575"/>
                        </a:lnSpc>
                        <a:spcAft>
                          <a:spcPts val="0"/>
                        </a:spcAft>
                      </a:pPr>
                      <a:r>
                        <a:rPr lang="en-GB" sz="2000" b="1" dirty="0">
                          <a:effectLst/>
                          <a:latin typeface="Trebuchet MS" panose="020B0603020202020204" pitchFamily="34" charset="0"/>
                          <a:ea typeface="Times New Roman" panose="02020603050405020304" pitchFamily="18" charset="0"/>
                          <a:cs typeface="Times New Roman" panose="02020603050405020304" pitchFamily="18" charset="0"/>
                        </a:rPr>
                        <a:t>Outlines</a:t>
                      </a:r>
                      <a:r>
                        <a:rPr lang="en-GB" sz="2000" dirty="0">
                          <a:effectLst/>
                          <a:latin typeface="Trebuchet MS" panose="020B0603020202020204" pitchFamily="34" charset="0"/>
                          <a:ea typeface="Times New Roman" panose="02020603050405020304" pitchFamily="18" charset="0"/>
                          <a:cs typeface="Times New Roman" panose="02020603050405020304" pitchFamily="18" charset="0"/>
                        </a:rPr>
                        <a:t> what something is like</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nSpc>
                          <a:spcPts val="1575"/>
                        </a:lnSpc>
                        <a:spcAft>
                          <a:spcPts val="0"/>
                        </a:spcAft>
                      </a:pPr>
                      <a:r>
                        <a:rPr lang="en-GB" sz="2000" b="1">
                          <a:effectLst/>
                          <a:latin typeface="Trebuchet MS" panose="020B0603020202020204" pitchFamily="34" charset="0"/>
                          <a:ea typeface="Times New Roman" panose="02020603050405020304" pitchFamily="18" charset="0"/>
                          <a:cs typeface="Times New Roman" panose="02020603050405020304" pitchFamily="18" charset="0"/>
                        </a:rPr>
                        <a:t>Evaluates</a:t>
                      </a:r>
                      <a:r>
                        <a:rPr lang="en-GB" sz="2000">
                          <a:effectLst/>
                          <a:latin typeface="Trebuchet MS" panose="020B0603020202020204" pitchFamily="34" charset="0"/>
                          <a:ea typeface="Times New Roman" panose="02020603050405020304" pitchFamily="18" charset="0"/>
                          <a:cs typeface="Times New Roman" panose="02020603050405020304" pitchFamily="18" charset="0"/>
                        </a:rPr>
                        <a:t> the strengths and weaknesses of something</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499664">
                <a:tc>
                  <a:txBody>
                    <a:bodyPr/>
                    <a:lstStyle/>
                    <a:p>
                      <a:pPr>
                        <a:lnSpc>
                          <a:spcPts val="1575"/>
                        </a:lnSpc>
                        <a:spcAft>
                          <a:spcPts val="0"/>
                        </a:spcAft>
                      </a:pPr>
                      <a:r>
                        <a:rPr lang="en-GB" sz="2000" b="1" dirty="0">
                          <a:effectLst/>
                          <a:latin typeface="Trebuchet MS" panose="020B0603020202020204" pitchFamily="34" charset="0"/>
                          <a:ea typeface="Times New Roman" panose="02020603050405020304" pitchFamily="18" charset="0"/>
                          <a:cs typeface="Times New Roman" panose="02020603050405020304" pitchFamily="18" charset="0"/>
                        </a:rPr>
                        <a:t>States</a:t>
                      </a:r>
                      <a:r>
                        <a:rPr lang="en-GB" sz="2000" dirty="0">
                          <a:effectLst/>
                          <a:latin typeface="Trebuchet MS" panose="020B0603020202020204" pitchFamily="34" charset="0"/>
                          <a:ea typeface="Times New Roman" panose="02020603050405020304" pitchFamily="18" charset="0"/>
                          <a:cs typeface="Times New Roman" panose="02020603050405020304" pitchFamily="18" charset="0"/>
                        </a:rPr>
                        <a:t> evidence</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nSpc>
                          <a:spcPts val="1575"/>
                        </a:lnSpc>
                        <a:spcAft>
                          <a:spcPts val="0"/>
                        </a:spcAft>
                      </a:pPr>
                      <a:r>
                        <a:rPr lang="en-GB" sz="2000" b="1" dirty="0">
                          <a:effectLst/>
                          <a:latin typeface="Trebuchet MS" panose="020B0603020202020204" pitchFamily="34" charset="0"/>
                          <a:ea typeface="Times New Roman" panose="02020603050405020304" pitchFamily="18" charset="0"/>
                          <a:cs typeface="Times New Roman" panose="02020603050405020304" pitchFamily="18" charset="0"/>
                        </a:rPr>
                        <a:t>Argues</a:t>
                      </a:r>
                      <a:r>
                        <a:rPr lang="en-GB" sz="2000" dirty="0">
                          <a:effectLst/>
                          <a:latin typeface="Trebuchet MS" panose="020B0603020202020204" pitchFamily="34" charset="0"/>
                          <a:ea typeface="Times New Roman" panose="02020603050405020304" pitchFamily="18" charset="0"/>
                          <a:cs typeface="Times New Roman" panose="02020603050405020304" pitchFamily="18" charset="0"/>
                        </a:rPr>
                        <a:t>, using evidence</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6586562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References</a:t>
            </a:r>
            <a:endParaRPr lang="en-GB" dirty="0"/>
          </a:p>
        </p:txBody>
      </p:sp>
      <p:sp>
        <p:nvSpPr>
          <p:cNvPr id="3" name="Content Placeholder 2"/>
          <p:cNvSpPr>
            <a:spLocks noGrp="1"/>
          </p:cNvSpPr>
          <p:nvPr>
            <p:ph idx="1"/>
          </p:nvPr>
        </p:nvSpPr>
        <p:spPr/>
        <p:txBody>
          <a:bodyPr/>
          <a:lstStyle/>
          <a:p>
            <a:pPr marL="457200" indent="-457200">
              <a:buFont typeface="+mj-lt"/>
              <a:buAutoNum type="arabicPeriod"/>
            </a:pPr>
            <a:r>
              <a:rPr lang="en-GB" dirty="0" smtClean="0"/>
              <a:t>Chin, P.  et al.(2012), </a:t>
            </a:r>
            <a:r>
              <a:rPr lang="en-GB" b="1" i="1" dirty="0" smtClean="0"/>
              <a:t>Academic Writing Skills</a:t>
            </a:r>
            <a:r>
              <a:rPr lang="en-GB" dirty="0" smtClean="0"/>
              <a:t>. New York : Cambridge University.</a:t>
            </a:r>
          </a:p>
          <a:p>
            <a:pPr marL="457200" indent="-457200">
              <a:buFont typeface="+mj-lt"/>
              <a:buAutoNum type="arabicPeriod"/>
            </a:pPr>
            <a:r>
              <a:rPr lang="en-GB" dirty="0" smtClean="0"/>
              <a:t>Steven, C. &amp;, denQuaden ,P.H.(2018), </a:t>
            </a:r>
            <a:r>
              <a:rPr lang="en-GB" b="1" i="1" dirty="0" smtClean="0"/>
              <a:t>Academic writing </a:t>
            </a:r>
            <a:r>
              <a:rPr lang="en-GB" dirty="0" smtClean="0"/>
              <a:t>: The complete guide 3</a:t>
            </a:r>
            <a:r>
              <a:rPr lang="en-GB" baseline="30000" dirty="0" smtClean="0"/>
              <a:t>rd</a:t>
            </a:r>
            <a:r>
              <a:rPr lang="en-GB" dirty="0" smtClean="0"/>
              <a:t> Ed. Toronto: Canadian Scholars.</a:t>
            </a:r>
          </a:p>
          <a:p>
            <a:pPr marL="457200" indent="-457200">
              <a:buFont typeface="+mj-lt"/>
              <a:buAutoNum type="arabicPeriod"/>
            </a:pPr>
            <a:r>
              <a:rPr lang="en-GB" dirty="0" smtClean="0"/>
              <a:t>Types of </a:t>
            </a:r>
            <a:r>
              <a:rPr lang="en-GB" dirty="0"/>
              <a:t>Academic </a:t>
            </a:r>
            <a:r>
              <a:rPr lang="en-GB" dirty="0" smtClean="0"/>
              <a:t>writing. Availabe on </a:t>
            </a:r>
            <a:r>
              <a:rPr lang="en-GB" b="1" dirty="0" smtClean="0"/>
              <a:t>https://www.sydney.edu.au/students/writing/types-of-academic</a:t>
            </a:r>
            <a:r>
              <a:rPr lang="en-GB" dirty="0" smtClean="0"/>
              <a:t>.</a:t>
            </a:r>
            <a:endParaRPr lang="en-GB" dirty="0"/>
          </a:p>
        </p:txBody>
      </p:sp>
    </p:spTree>
    <p:extLst>
      <p:ext uri="{BB962C8B-B14F-4D97-AF65-F5344CB8AC3E}">
        <p14:creationId xmlns:p14="http://schemas.microsoft.com/office/powerpoint/2010/main" val="32197972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b="1" dirty="0">
                <a:solidFill>
                  <a:prstClr val="black">
                    <a:lumMod val="85000"/>
                    <a:lumOff val="15000"/>
                  </a:prstClr>
                </a:solidFill>
              </a:rPr>
              <a:t>SCIENTIFIC AND ACADEMIC WRITING</a:t>
            </a:r>
            <a:endParaRPr lang="en-GB" dirty="0"/>
          </a:p>
        </p:txBody>
      </p:sp>
      <p:sp>
        <p:nvSpPr>
          <p:cNvPr id="3" name="Content Placeholder 2"/>
          <p:cNvSpPr>
            <a:spLocks noGrp="1"/>
          </p:cNvSpPr>
          <p:nvPr>
            <p:ph idx="1"/>
          </p:nvPr>
        </p:nvSpPr>
        <p:spPr/>
        <p:txBody>
          <a:bodyPr/>
          <a:lstStyle/>
          <a:p>
            <a:pPr marL="0" indent="0">
              <a:buNone/>
            </a:pPr>
            <a:r>
              <a:rPr lang="en-GB" dirty="0" smtClean="0"/>
              <a:t> THE END</a:t>
            </a:r>
          </a:p>
          <a:p>
            <a:pPr marL="0" indent="0">
              <a:buNone/>
            </a:pPr>
            <a:r>
              <a:rPr lang="en-GB" dirty="0" smtClean="0"/>
              <a:t>THANK YOU</a:t>
            </a:r>
            <a:endParaRPr lang="en-GB" dirty="0"/>
          </a:p>
        </p:txBody>
      </p:sp>
    </p:spTree>
    <p:extLst>
      <p:ext uri="{BB962C8B-B14F-4D97-AF65-F5344CB8AC3E}">
        <p14:creationId xmlns:p14="http://schemas.microsoft.com/office/powerpoint/2010/main" val="379820410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AB946B"/>
      </a:accent1>
      <a:accent2>
        <a:srgbClr val="C04F32"/>
      </a:accent2>
      <a:accent3>
        <a:srgbClr val="DD8C3C"/>
      </a:accent3>
      <a:accent4>
        <a:srgbClr val="8E684C"/>
      </a:accent4>
      <a:accent5>
        <a:srgbClr val="CBAF62"/>
      </a:accent5>
      <a:accent6>
        <a:srgbClr val="803348"/>
      </a:accent6>
      <a:hlink>
        <a:srgbClr val="86724D"/>
      </a:hlink>
      <a:folHlink>
        <a:srgbClr val="B99E84"/>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A2BEDC8B-F191-493B-BA33-0F4F800A89D3}"/>
    </a:ext>
  </a:extLst>
</a:theme>
</file>

<file path=docProps/app.xml><?xml version="1.0" encoding="utf-8"?>
<Properties xmlns="http://schemas.openxmlformats.org/officeDocument/2006/extended-properties" xmlns:vt="http://schemas.openxmlformats.org/officeDocument/2006/docPropsVTypes">
  <Template>Organic</Template>
  <TotalTime>1030</TotalTime>
  <Words>2448</Words>
  <Application>Microsoft Office PowerPoint</Application>
  <PresentationFormat>Widescreen</PresentationFormat>
  <Paragraphs>201</Paragraphs>
  <Slides>49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49</vt:i4>
      </vt:variant>
    </vt:vector>
  </HeadingPairs>
  <TitlesOfParts>
    <vt:vector size="58" baseType="lpstr">
      <vt:lpstr>Arial</vt:lpstr>
      <vt:lpstr>Calibri</vt:lpstr>
      <vt:lpstr>Conv_Roboto-Regular</vt:lpstr>
      <vt:lpstr>Garamond</vt:lpstr>
      <vt:lpstr>sohne</vt:lpstr>
      <vt:lpstr>Source Sans Pro</vt:lpstr>
      <vt:lpstr>Times New Roman</vt:lpstr>
      <vt:lpstr>Trebuchet MS</vt:lpstr>
      <vt:lpstr>Organic</vt:lpstr>
      <vt:lpstr>SCIENTIFIC AND ACADEMIC WRITING</vt:lpstr>
      <vt:lpstr>Lecture Outline</vt:lpstr>
      <vt:lpstr>Learning Objectives</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PowerPoint Presentation</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SCIENTIFIC AND ACADEMIC WRITING</vt:lpstr>
      <vt:lpstr>References</vt:lpstr>
      <vt:lpstr>SCIENTIFIC AND ACADEMIC WRITING</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AND ACADEMIC WRITING</dc:title>
  <dc:creator>ashleybry11@hotmail.com</dc:creator>
  <cp:lastModifiedBy>Microsoft account</cp:lastModifiedBy>
  <cp:revision>182</cp:revision>
  <dcterms:created xsi:type="dcterms:W3CDTF">2023-02-07T07:16:41Z</dcterms:created>
  <dcterms:modified xsi:type="dcterms:W3CDTF">2024-03-10T05:49:35Z</dcterms:modified>
</cp:coreProperties>
</file>